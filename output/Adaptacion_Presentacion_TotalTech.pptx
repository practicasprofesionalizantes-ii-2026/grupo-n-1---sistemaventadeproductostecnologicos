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9" r:id="rId4"/>
    <p:sldId id="268" r:id="rId5"/>
    <p:sldId id="270" r:id="rId6"/>
    <p:sldId id="258" r:id="rId7"/>
    <p:sldId id="259" r:id="rId8"/>
    <p:sldId id="260" r:id="rId9"/>
    <p:sldId id="267" r:id="rId10"/>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910539F-8E40-421D-A72C-59378AB0A4EE}">
          <p14:sldIdLst>
            <p14:sldId id="256"/>
            <p14:sldId id="257"/>
            <p14:sldId id="269"/>
            <p14:sldId id="268"/>
            <p14:sldId id="270"/>
            <p14:sldId id="258"/>
            <p14:sldId id="259"/>
            <p14:sldId id="260"/>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cundo Mina" userId="8c20ad2773b4c14c" providerId="LiveId" clId="{A6D3D7B2-F8C8-4C8F-8026-C301FE9D2759}"/>
    <pc:docChg chg="undo custSel addSld delSld modSld sldOrd addSection delSection modSection">
      <pc:chgData name="Facundo Mina" userId="8c20ad2773b4c14c" providerId="LiveId" clId="{A6D3D7B2-F8C8-4C8F-8026-C301FE9D2759}" dt="2026-10-01T21:04:40.708" v="674"/>
      <pc:docMkLst>
        <pc:docMk/>
      </pc:docMkLst>
      <pc:sldChg chg="delSp modSp mod">
        <pc:chgData name="Facundo Mina" userId="8c20ad2773b4c14c" providerId="LiveId" clId="{A6D3D7B2-F8C8-4C8F-8026-C301FE9D2759}" dt="2026-09-29T13:27:01.302" v="20" actId="20577"/>
        <pc:sldMkLst>
          <pc:docMk/>
          <pc:sldMk cId="0" sldId="256"/>
        </pc:sldMkLst>
        <pc:spChg chg="mod">
          <ac:chgData name="Facundo Mina" userId="8c20ad2773b4c14c" providerId="LiveId" clId="{A6D3D7B2-F8C8-4C8F-8026-C301FE9D2759}" dt="2026-09-29T13:27:01.302" v="20" actId="20577"/>
          <ac:spMkLst>
            <pc:docMk/>
            <pc:sldMk cId="0" sldId="256"/>
            <ac:spMk id="5" creationId="{00000000-0000-0000-0000-000000000000}"/>
          </ac:spMkLst>
        </pc:spChg>
      </pc:sldChg>
      <pc:sldChg chg="addSp delSp modSp mod">
        <pc:chgData name="Facundo Mina" userId="8c20ad2773b4c14c" providerId="LiveId" clId="{A6D3D7B2-F8C8-4C8F-8026-C301FE9D2759}" dt="2026-10-01T20:40:38.414" v="449" actId="1076"/>
        <pc:sldMkLst>
          <pc:docMk/>
          <pc:sldMk cId="0" sldId="257"/>
        </pc:sldMkLst>
        <pc:spChg chg="mod">
          <ac:chgData name="Facundo Mina" userId="8c20ad2773b4c14c" providerId="LiveId" clId="{A6D3D7B2-F8C8-4C8F-8026-C301FE9D2759}" dt="2026-10-01T20:18:41.262" v="296" actId="20577"/>
          <ac:spMkLst>
            <pc:docMk/>
            <pc:sldMk cId="0" sldId="257"/>
            <ac:spMk id="2" creationId="{00000000-0000-0000-0000-000000000000}"/>
          </ac:spMkLst>
        </pc:spChg>
        <pc:spChg chg="mod">
          <ac:chgData name="Facundo Mina" userId="8c20ad2773b4c14c" providerId="LiveId" clId="{A6D3D7B2-F8C8-4C8F-8026-C301FE9D2759}" dt="2026-10-01T20:38:11.893" v="443" actId="14100"/>
          <ac:spMkLst>
            <pc:docMk/>
            <pc:sldMk cId="0" sldId="257"/>
            <ac:spMk id="3" creationId="{00000000-0000-0000-0000-000000000000}"/>
          </ac:spMkLst>
        </pc:spChg>
        <pc:spChg chg="add del mod">
          <ac:chgData name="Facundo Mina" userId="8c20ad2773b4c14c" providerId="LiveId" clId="{A6D3D7B2-F8C8-4C8F-8026-C301FE9D2759}" dt="2026-10-01T20:16:28.696" v="239" actId="21"/>
          <ac:spMkLst>
            <pc:docMk/>
            <pc:sldMk cId="0" sldId="257"/>
            <ac:spMk id="5" creationId="{00000000-0000-0000-0000-000000000000}"/>
          </ac:spMkLst>
        </pc:spChg>
        <pc:spChg chg="mod">
          <ac:chgData name="Facundo Mina" userId="8c20ad2773b4c14c" providerId="LiveId" clId="{A6D3D7B2-F8C8-4C8F-8026-C301FE9D2759}" dt="2026-10-01T20:10:11.759" v="117" actId="1036"/>
          <ac:spMkLst>
            <pc:docMk/>
            <pc:sldMk cId="0" sldId="257"/>
            <ac:spMk id="6" creationId="{00000000-0000-0000-0000-000000000000}"/>
          </ac:spMkLst>
        </pc:spChg>
        <pc:spChg chg="del mod">
          <ac:chgData name="Facundo Mina" userId="8c20ad2773b4c14c" providerId="LiveId" clId="{A6D3D7B2-F8C8-4C8F-8026-C301FE9D2759}" dt="2026-10-01T20:11:38.965" v="127" actId="478"/>
          <ac:spMkLst>
            <pc:docMk/>
            <pc:sldMk cId="0" sldId="257"/>
            <ac:spMk id="7" creationId="{00000000-0000-0000-0000-000000000000}"/>
          </ac:spMkLst>
        </pc:spChg>
        <pc:spChg chg="del">
          <ac:chgData name="Facundo Mina" userId="8c20ad2773b4c14c" providerId="LiveId" clId="{A6D3D7B2-F8C8-4C8F-8026-C301FE9D2759}" dt="2026-10-01T20:11:26.289" v="119" actId="478"/>
          <ac:spMkLst>
            <pc:docMk/>
            <pc:sldMk cId="0" sldId="257"/>
            <ac:spMk id="8" creationId="{00000000-0000-0000-0000-000000000000}"/>
          </ac:spMkLst>
        </pc:spChg>
        <pc:spChg chg="del">
          <ac:chgData name="Facundo Mina" userId="8c20ad2773b4c14c" providerId="LiveId" clId="{A6D3D7B2-F8C8-4C8F-8026-C301FE9D2759}" dt="2026-10-01T20:11:23.540" v="118" actId="478"/>
          <ac:spMkLst>
            <pc:docMk/>
            <pc:sldMk cId="0" sldId="257"/>
            <ac:spMk id="9" creationId="{00000000-0000-0000-0000-000000000000}"/>
          </ac:spMkLst>
        </pc:spChg>
        <pc:spChg chg="del mod">
          <ac:chgData name="Facundo Mina" userId="8c20ad2773b4c14c" providerId="LiveId" clId="{A6D3D7B2-F8C8-4C8F-8026-C301FE9D2759}" dt="2026-10-01T20:11:36.652" v="125" actId="478"/>
          <ac:spMkLst>
            <pc:docMk/>
            <pc:sldMk cId="0" sldId="257"/>
            <ac:spMk id="10" creationId="{00000000-0000-0000-0000-000000000000}"/>
          </ac:spMkLst>
        </pc:spChg>
        <pc:spChg chg="del">
          <ac:chgData name="Facundo Mina" userId="8c20ad2773b4c14c" providerId="LiveId" clId="{A6D3D7B2-F8C8-4C8F-8026-C301FE9D2759}" dt="2026-10-01T20:11:34.299" v="124" actId="478"/>
          <ac:spMkLst>
            <pc:docMk/>
            <pc:sldMk cId="0" sldId="257"/>
            <ac:spMk id="11" creationId="{00000000-0000-0000-0000-000000000000}"/>
          </ac:spMkLst>
        </pc:spChg>
        <pc:spChg chg="del">
          <ac:chgData name="Facundo Mina" userId="8c20ad2773b4c14c" providerId="LiveId" clId="{A6D3D7B2-F8C8-4C8F-8026-C301FE9D2759}" dt="2026-10-01T20:11:29.482" v="121" actId="478"/>
          <ac:spMkLst>
            <pc:docMk/>
            <pc:sldMk cId="0" sldId="257"/>
            <ac:spMk id="12" creationId="{00000000-0000-0000-0000-000000000000}"/>
          </ac:spMkLst>
        </pc:spChg>
        <pc:spChg chg="del mod">
          <ac:chgData name="Facundo Mina" userId="8c20ad2773b4c14c" providerId="LiveId" clId="{A6D3D7B2-F8C8-4C8F-8026-C301FE9D2759}" dt="2026-10-01T20:11:30.403" v="122" actId="478"/>
          <ac:spMkLst>
            <pc:docMk/>
            <pc:sldMk cId="0" sldId="257"/>
            <ac:spMk id="13" creationId="{00000000-0000-0000-0000-000000000000}"/>
          </ac:spMkLst>
        </pc:spChg>
        <pc:spChg chg="del mod">
          <ac:chgData name="Facundo Mina" userId="8c20ad2773b4c14c" providerId="LiveId" clId="{A6D3D7B2-F8C8-4C8F-8026-C301FE9D2759}" dt="2026-10-01T20:11:32.748" v="123" actId="478"/>
          <ac:spMkLst>
            <pc:docMk/>
            <pc:sldMk cId="0" sldId="257"/>
            <ac:spMk id="14" creationId="{00000000-0000-0000-0000-000000000000}"/>
          </ac:spMkLst>
        </pc:spChg>
        <pc:spChg chg="add mod">
          <ac:chgData name="Facundo Mina" userId="8c20ad2773b4c14c" providerId="LiveId" clId="{A6D3D7B2-F8C8-4C8F-8026-C301FE9D2759}" dt="2026-10-01T20:40:38.414" v="449" actId="1076"/>
          <ac:spMkLst>
            <pc:docMk/>
            <pc:sldMk cId="0" sldId="257"/>
            <ac:spMk id="16" creationId="{4EF344FE-B6A3-AA22-DFEC-F10547EF65BA}"/>
          </ac:spMkLst>
        </pc:spChg>
      </pc:sldChg>
      <pc:sldChg chg="addSp delSp modSp mod">
        <pc:chgData name="Facundo Mina" userId="8c20ad2773b4c14c" providerId="LiveId" clId="{A6D3D7B2-F8C8-4C8F-8026-C301FE9D2759}" dt="2026-10-01T20:50:29.904" v="672" actId="1076"/>
        <pc:sldMkLst>
          <pc:docMk/>
          <pc:sldMk cId="0" sldId="258"/>
        </pc:sldMkLst>
        <pc:spChg chg="mod">
          <ac:chgData name="Facundo Mina" userId="8c20ad2773b4c14c" providerId="LiveId" clId="{A6D3D7B2-F8C8-4C8F-8026-C301FE9D2759}" dt="2026-10-01T20:44:22.843" v="543" actId="20577"/>
          <ac:spMkLst>
            <pc:docMk/>
            <pc:sldMk cId="0" sldId="258"/>
            <ac:spMk id="2" creationId="{00000000-0000-0000-0000-000000000000}"/>
          </ac:spMkLst>
        </pc:spChg>
        <pc:spChg chg="mod">
          <ac:chgData name="Facundo Mina" userId="8c20ad2773b4c14c" providerId="LiveId" clId="{A6D3D7B2-F8C8-4C8F-8026-C301FE9D2759}" dt="2026-10-01T20:43:55.326" v="478" actId="14100"/>
          <ac:spMkLst>
            <pc:docMk/>
            <pc:sldMk cId="0" sldId="258"/>
            <ac:spMk id="3" creationId="{00000000-0000-0000-0000-000000000000}"/>
          </ac:spMkLst>
        </pc:spChg>
        <pc:spChg chg="mod">
          <ac:chgData name="Facundo Mina" userId="8c20ad2773b4c14c" providerId="LiveId" clId="{A6D3D7B2-F8C8-4C8F-8026-C301FE9D2759}" dt="2026-10-01T20:44:35.646" v="572" actId="20577"/>
          <ac:spMkLst>
            <pc:docMk/>
            <pc:sldMk cId="0" sldId="258"/>
            <ac:spMk id="5" creationId="{00000000-0000-0000-0000-000000000000}"/>
          </ac:spMkLst>
        </pc:spChg>
        <pc:spChg chg="mod">
          <ac:chgData name="Facundo Mina" userId="8c20ad2773b4c14c" providerId="LiveId" clId="{A6D3D7B2-F8C8-4C8F-8026-C301FE9D2759}" dt="2026-10-01T20:49:59.830" v="667" actId="12"/>
          <ac:spMkLst>
            <pc:docMk/>
            <pc:sldMk cId="0" sldId="258"/>
            <ac:spMk id="6" creationId="{00000000-0000-0000-0000-000000000000}"/>
          </ac:spMkLst>
        </pc:spChg>
        <pc:spChg chg="mod">
          <ac:chgData name="Facundo Mina" userId="8c20ad2773b4c14c" providerId="LiveId" clId="{A6D3D7B2-F8C8-4C8F-8026-C301FE9D2759}" dt="2026-10-01T20:44:00.902" v="480" actId="14100"/>
          <ac:spMkLst>
            <pc:docMk/>
            <pc:sldMk cId="0" sldId="258"/>
            <ac:spMk id="7" creationId="{00000000-0000-0000-0000-000000000000}"/>
          </ac:spMkLst>
        </pc:spChg>
        <pc:spChg chg="mod">
          <ac:chgData name="Facundo Mina" userId="8c20ad2773b4c14c" providerId="LiveId" clId="{A6D3D7B2-F8C8-4C8F-8026-C301FE9D2759}" dt="2026-10-01T20:43:35.701" v="475" actId="1076"/>
          <ac:spMkLst>
            <pc:docMk/>
            <pc:sldMk cId="0" sldId="258"/>
            <ac:spMk id="8" creationId="{00000000-0000-0000-0000-000000000000}"/>
          </ac:spMkLst>
        </pc:spChg>
        <pc:spChg chg="mod">
          <ac:chgData name="Facundo Mina" userId="8c20ad2773b4c14c" providerId="LiveId" clId="{A6D3D7B2-F8C8-4C8F-8026-C301FE9D2759}" dt="2026-10-01T20:44:46.627" v="587" actId="20577"/>
          <ac:spMkLst>
            <pc:docMk/>
            <pc:sldMk cId="0" sldId="258"/>
            <ac:spMk id="9" creationId="{00000000-0000-0000-0000-000000000000}"/>
          </ac:spMkLst>
        </pc:spChg>
        <pc:spChg chg="add del mod">
          <ac:chgData name="Facundo Mina" userId="8c20ad2773b4c14c" providerId="LiveId" clId="{A6D3D7B2-F8C8-4C8F-8026-C301FE9D2759}" dt="2026-10-01T20:50:06.476" v="669" actId="12"/>
          <ac:spMkLst>
            <pc:docMk/>
            <pc:sldMk cId="0" sldId="258"/>
            <ac:spMk id="10" creationId="{00000000-0000-0000-0000-000000000000}"/>
          </ac:spMkLst>
        </pc:spChg>
        <pc:spChg chg="del">
          <ac:chgData name="Facundo Mina" userId="8c20ad2773b4c14c" providerId="LiveId" clId="{A6D3D7B2-F8C8-4C8F-8026-C301FE9D2759}" dt="2026-10-01T20:42:25.855" v="459" actId="478"/>
          <ac:spMkLst>
            <pc:docMk/>
            <pc:sldMk cId="0" sldId="258"/>
            <ac:spMk id="11" creationId="{00000000-0000-0000-0000-000000000000}"/>
          </ac:spMkLst>
        </pc:spChg>
        <pc:spChg chg="del">
          <ac:chgData name="Facundo Mina" userId="8c20ad2773b4c14c" providerId="LiveId" clId="{A6D3D7B2-F8C8-4C8F-8026-C301FE9D2759}" dt="2026-10-01T20:42:24.570" v="458" actId="478"/>
          <ac:spMkLst>
            <pc:docMk/>
            <pc:sldMk cId="0" sldId="258"/>
            <ac:spMk id="12" creationId="{00000000-0000-0000-0000-000000000000}"/>
          </ac:spMkLst>
        </pc:spChg>
        <pc:spChg chg="del mod">
          <ac:chgData name="Facundo Mina" userId="8c20ad2773b4c14c" providerId="LiveId" clId="{A6D3D7B2-F8C8-4C8F-8026-C301FE9D2759}" dt="2026-10-01T20:42:23.214" v="457" actId="478"/>
          <ac:spMkLst>
            <pc:docMk/>
            <pc:sldMk cId="0" sldId="258"/>
            <ac:spMk id="13" creationId="{00000000-0000-0000-0000-000000000000}"/>
          </ac:spMkLst>
        </pc:spChg>
        <pc:spChg chg="del">
          <ac:chgData name="Facundo Mina" userId="8c20ad2773b4c14c" providerId="LiveId" clId="{A6D3D7B2-F8C8-4C8F-8026-C301FE9D2759}" dt="2026-10-01T20:42:20.431" v="455" actId="478"/>
          <ac:spMkLst>
            <pc:docMk/>
            <pc:sldMk cId="0" sldId="258"/>
            <ac:spMk id="14" creationId="{00000000-0000-0000-0000-000000000000}"/>
          </ac:spMkLst>
        </pc:spChg>
        <pc:spChg chg="mod">
          <ac:chgData name="Facundo Mina" userId="8c20ad2773b4c14c" providerId="LiveId" clId="{A6D3D7B2-F8C8-4C8F-8026-C301FE9D2759}" dt="2026-10-01T20:43:58.554" v="479" actId="14100"/>
          <ac:spMkLst>
            <pc:docMk/>
            <pc:sldMk cId="0" sldId="258"/>
            <ac:spMk id="15" creationId="{00000000-0000-0000-0000-000000000000}"/>
          </ac:spMkLst>
        </pc:spChg>
        <pc:spChg chg="mod">
          <ac:chgData name="Facundo Mina" userId="8c20ad2773b4c14c" providerId="LiveId" clId="{A6D3D7B2-F8C8-4C8F-8026-C301FE9D2759}" dt="2026-10-01T20:44:59.253" v="612" actId="20577"/>
          <ac:spMkLst>
            <pc:docMk/>
            <pc:sldMk cId="0" sldId="258"/>
            <ac:spMk id="17" creationId="{00000000-0000-0000-0000-000000000000}"/>
          </ac:spMkLst>
        </pc:spChg>
        <pc:spChg chg="mod">
          <ac:chgData name="Facundo Mina" userId="8c20ad2773b4c14c" providerId="LiveId" clId="{A6D3D7B2-F8C8-4C8F-8026-C301FE9D2759}" dt="2026-10-01T20:50:13.049" v="670" actId="12"/>
          <ac:spMkLst>
            <pc:docMk/>
            <pc:sldMk cId="0" sldId="258"/>
            <ac:spMk id="18" creationId="{00000000-0000-0000-0000-000000000000}"/>
          </ac:spMkLst>
        </pc:spChg>
        <pc:spChg chg="mod">
          <ac:chgData name="Facundo Mina" userId="8c20ad2773b4c14c" providerId="LiveId" clId="{A6D3D7B2-F8C8-4C8F-8026-C301FE9D2759}" dt="2026-10-01T20:44:03.129" v="481" actId="14100"/>
          <ac:spMkLst>
            <pc:docMk/>
            <pc:sldMk cId="0" sldId="258"/>
            <ac:spMk id="19" creationId="{00000000-0000-0000-0000-000000000000}"/>
          </ac:spMkLst>
        </pc:spChg>
        <pc:spChg chg="mod">
          <ac:chgData name="Facundo Mina" userId="8c20ad2773b4c14c" providerId="LiveId" clId="{A6D3D7B2-F8C8-4C8F-8026-C301FE9D2759}" dt="2026-10-01T20:43:32.677" v="474" actId="1076"/>
          <ac:spMkLst>
            <pc:docMk/>
            <pc:sldMk cId="0" sldId="258"/>
            <ac:spMk id="20" creationId="{00000000-0000-0000-0000-000000000000}"/>
          </ac:spMkLst>
        </pc:spChg>
        <pc:spChg chg="mod">
          <ac:chgData name="Facundo Mina" userId="8c20ad2773b4c14c" providerId="LiveId" clId="{A6D3D7B2-F8C8-4C8F-8026-C301FE9D2759}" dt="2026-10-01T20:45:16.686" v="639" actId="20577"/>
          <ac:spMkLst>
            <pc:docMk/>
            <pc:sldMk cId="0" sldId="258"/>
            <ac:spMk id="21" creationId="{00000000-0000-0000-0000-000000000000}"/>
          </ac:spMkLst>
        </pc:spChg>
        <pc:spChg chg="mod">
          <ac:chgData name="Facundo Mina" userId="8c20ad2773b4c14c" providerId="LiveId" clId="{A6D3D7B2-F8C8-4C8F-8026-C301FE9D2759}" dt="2026-10-01T20:50:29.904" v="672" actId="1076"/>
          <ac:spMkLst>
            <pc:docMk/>
            <pc:sldMk cId="0" sldId="258"/>
            <ac:spMk id="22" creationId="{00000000-0000-0000-0000-000000000000}"/>
          </ac:spMkLst>
        </pc:spChg>
        <pc:spChg chg="del">
          <ac:chgData name="Facundo Mina" userId="8c20ad2773b4c14c" providerId="LiveId" clId="{A6D3D7B2-F8C8-4C8F-8026-C301FE9D2759}" dt="2026-10-01T20:42:33.602" v="463" actId="478"/>
          <ac:spMkLst>
            <pc:docMk/>
            <pc:sldMk cId="0" sldId="258"/>
            <ac:spMk id="23" creationId="{00000000-0000-0000-0000-000000000000}"/>
          </ac:spMkLst>
        </pc:spChg>
        <pc:spChg chg="del">
          <ac:chgData name="Facundo Mina" userId="8c20ad2773b4c14c" providerId="LiveId" clId="{A6D3D7B2-F8C8-4C8F-8026-C301FE9D2759}" dt="2026-10-01T20:42:32.549" v="462" actId="478"/>
          <ac:spMkLst>
            <pc:docMk/>
            <pc:sldMk cId="0" sldId="258"/>
            <ac:spMk id="24" creationId="{00000000-0000-0000-0000-000000000000}"/>
          </ac:spMkLst>
        </pc:spChg>
        <pc:spChg chg="del">
          <ac:chgData name="Facundo Mina" userId="8c20ad2773b4c14c" providerId="LiveId" clId="{A6D3D7B2-F8C8-4C8F-8026-C301FE9D2759}" dt="2026-10-01T20:42:29.483" v="461" actId="478"/>
          <ac:spMkLst>
            <pc:docMk/>
            <pc:sldMk cId="0" sldId="258"/>
            <ac:spMk id="25" creationId="{00000000-0000-0000-0000-000000000000}"/>
          </ac:spMkLst>
        </pc:spChg>
        <pc:spChg chg="del">
          <ac:chgData name="Facundo Mina" userId="8c20ad2773b4c14c" providerId="LiveId" clId="{A6D3D7B2-F8C8-4C8F-8026-C301FE9D2759}" dt="2026-10-01T20:42:27.426" v="460" actId="478"/>
          <ac:spMkLst>
            <pc:docMk/>
            <pc:sldMk cId="0" sldId="258"/>
            <ac:spMk id="26" creationId="{00000000-0000-0000-0000-000000000000}"/>
          </ac:spMkLst>
        </pc:spChg>
      </pc:sldChg>
      <pc:sldChg chg="del">
        <pc:chgData name="Facundo Mina" userId="8c20ad2773b4c14c" providerId="LiveId" clId="{A6D3D7B2-F8C8-4C8F-8026-C301FE9D2759}" dt="2026-10-01T19:57:53.051" v="21" actId="2696"/>
        <pc:sldMkLst>
          <pc:docMk/>
          <pc:sldMk cId="0" sldId="261"/>
        </pc:sldMkLst>
      </pc:sldChg>
      <pc:sldChg chg="del">
        <pc:chgData name="Facundo Mina" userId="8c20ad2773b4c14c" providerId="LiveId" clId="{A6D3D7B2-F8C8-4C8F-8026-C301FE9D2759}" dt="2026-10-01T19:58:00.175" v="22" actId="2696"/>
        <pc:sldMkLst>
          <pc:docMk/>
          <pc:sldMk cId="0" sldId="262"/>
        </pc:sldMkLst>
      </pc:sldChg>
      <pc:sldChg chg="del">
        <pc:chgData name="Facundo Mina" userId="8c20ad2773b4c14c" providerId="LiveId" clId="{A6D3D7B2-F8C8-4C8F-8026-C301FE9D2759}" dt="2026-10-01T19:58:23.129" v="26" actId="2696"/>
        <pc:sldMkLst>
          <pc:docMk/>
          <pc:sldMk cId="0" sldId="263"/>
        </pc:sldMkLst>
      </pc:sldChg>
      <pc:sldChg chg="del">
        <pc:chgData name="Facundo Mina" userId="8c20ad2773b4c14c" providerId="LiveId" clId="{A6D3D7B2-F8C8-4C8F-8026-C301FE9D2759}" dt="2026-10-01T19:58:19.659" v="25" actId="2696"/>
        <pc:sldMkLst>
          <pc:docMk/>
          <pc:sldMk cId="0" sldId="264"/>
        </pc:sldMkLst>
      </pc:sldChg>
      <pc:sldChg chg="del">
        <pc:chgData name="Facundo Mina" userId="8c20ad2773b4c14c" providerId="LiveId" clId="{A6D3D7B2-F8C8-4C8F-8026-C301FE9D2759}" dt="2026-10-01T19:58:16.117" v="24" actId="2696"/>
        <pc:sldMkLst>
          <pc:docMk/>
          <pc:sldMk cId="0" sldId="265"/>
        </pc:sldMkLst>
      </pc:sldChg>
      <pc:sldChg chg="del">
        <pc:chgData name="Facundo Mina" userId="8c20ad2773b4c14c" providerId="LiveId" clId="{A6D3D7B2-F8C8-4C8F-8026-C301FE9D2759}" dt="2026-10-01T19:58:12.491" v="23" actId="2696"/>
        <pc:sldMkLst>
          <pc:docMk/>
          <pc:sldMk cId="0" sldId="266"/>
        </pc:sldMkLst>
      </pc:sldChg>
      <pc:sldChg chg="new del">
        <pc:chgData name="Facundo Mina" userId="8c20ad2773b4c14c" providerId="LiveId" clId="{A6D3D7B2-F8C8-4C8F-8026-C301FE9D2759}" dt="2026-10-01T20:01:42.673" v="30" actId="2696"/>
        <pc:sldMkLst>
          <pc:docMk/>
          <pc:sldMk cId="818033903" sldId="268"/>
        </pc:sldMkLst>
      </pc:sldChg>
      <pc:sldChg chg="add">
        <pc:chgData name="Facundo Mina" userId="8c20ad2773b4c14c" providerId="LiveId" clId="{A6D3D7B2-F8C8-4C8F-8026-C301FE9D2759}" dt="2026-10-01T20:03:12.220" v="31" actId="2890"/>
        <pc:sldMkLst>
          <pc:docMk/>
          <pc:sldMk cId="1294924452" sldId="268"/>
        </pc:sldMkLst>
      </pc:sldChg>
      <pc:sldChg chg="add">
        <pc:chgData name="Facundo Mina" userId="8c20ad2773b4c14c" providerId="LiveId" clId="{A6D3D7B2-F8C8-4C8F-8026-C301FE9D2759}" dt="2026-10-01T20:17:12.087" v="242" actId="2890"/>
        <pc:sldMkLst>
          <pc:docMk/>
          <pc:sldMk cId="2351518287" sldId="269"/>
        </pc:sldMkLst>
      </pc:sldChg>
      <pc:sldChg chg="add ord">
        <pc:chgData name="Facundo Mina" userId="8c20ad2773b4c14c" providerId="LiveId" clId="{A6D3D7B2-F8C8-4C8F-8026-C301FE9D2759}" dt="2026-10-01T21:04:40.708" v="674"/>
        <pc:sldMkLst>
          <pc:docMk/>
          <pc:sldMk cId="2713122508"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7217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0:30 | Acumulado: 0:00 - 0:30]</a:t>
            </a:r>
          </a:p>
          <a:p>
            <a:r>
              <a:t>PROPÓSITO DE LA DIAPOSITIVA:</a:t>
            </a:r>
          </a:p>
          <a:p>
            <a:r>
              <a:t>Presentar el nombre del sistema (TotalTech), su propuesta de valor resumida y la propuesta comercial central que guía toda la exposición.</a:t>
            </a:r>
          </a:p>
          <a:p/>
          <a:p>
            <a:r>
              <a:t>GUION Y PUNTOS CLAVE:</a:t>
            </a:r>
          </a:p>
          <a:p>
            <a:r>
              <a:t>- Buenos días/tardes. Presentamos TotalTech, una plataforma web desarrollada para la comercialización y gestión de productos tecnológicos.</a:t>
            </a:r>
          </a:p>
          <a:p>
            <a:r>
              <a:t>- Nuestra propuesta de valor se sintetiza en tres ejes: "Catálogo actualizado, clientes conectados y administración centralizada".</a:t>
            </a:r>
          </a:p>
          <a:p>
            <a:r>
              <a:t>- Como propuesta comercial concreta para el negocio: "TotalTech permite al comercio mantener su catálogo actualizado y al cliente encontrar productos y organizar su selección desde una misma plataforma".</a:t>
            </a:r>
          </a:p>
          <a:p>
            <a:r>
              <a:t>- La exposición durará 23 minutos en total: dedicaremos los primeros 14 minutos a recorrer el problema, los requerimientos, la trazabilidad al código y la arquitectura, y los últimos 9 minutos a una demostración continua en vivo sobre el navegador.</a:t>
            </a:r>
          </a:p>
          <a:p/>
          <a:p>
            <a:r>
              <a:t>REFERENCIA DOCUMENTAL:</a:t>
            </a:r>
          </a:p>
          <a:p>
            <a:r>
              <a:t>- Documentación - Grupo 1 - TotalTech.pdf (Portada y Sección 1.1 Propósito).</a:t>
            </a:r>
          </a:p>
          <a:p>
            <a:r>
              <a:t>- Casos de Uso - Totaltech.pdf (Portada: Tienda de Productos Tecnológicos - Grupo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1:00 | Acumulado: 0:30 - 1:30]</a:t>
            </a:r>
          </a:p>
          <a:p>
            <a:r>
              <a:t>PROPÓSITO DE LA DIAPOSITIVA:</a:t>
            </a:r>
          </a:p>
          <a:p>
            <a:r>
              <a:t>Explicar la motivación del proyecto a partir de la necesidad real de digitalizar la oferta de una tienda tecnológica y reducir la dispersión de información, eliminando cualquier estadística inventada del modelo de referencia.</a:t>
            </a:r>
          </a:p>
          <a:p/>
          <a:p>
            <a:r>
              <a:t>GUION Y PUNTOS CLAVE:</a:t>
            </a:r>
          </a:p>
          <a:p>
            <a:r>
              <a:t>- ¿Por qué elegimos desarrollar TotalTech? En una tienda de informática y tecnología —que comercializa notebooks, auriculares, teclados y periféricos—, el catálogo cambia constantemente en precios, modelos y disponibilidad.</a:t>
            </a:r>
          </a:p>
          <a:p>
            <a:r>
              <a:t>- Cuando un comercio no cuenta con una plataforma centralizada, la información sobre los productos se dispersa entre planillas manuales, publicaciones aisladas y consultas por mensajería. Eso hace que el cliente no sepa qué hay realmente en stock y que el comercio invierta demasiado tiempo respondiendo consultas repetitivas.</a:t>
            </a:r>
          </a:p>
          <a:p>
            <a:r>
              <a:t>- A diferencia de enfoques basados en estimaciones genéricas, acá no inventamos estadísticas de mercado: partimos directamente de las necesidades operativas documentadas en el proyecto y nos enfocamos en lo que el sistema resuelve y demuestra de forma verificable.</a:t>
            </a:r>
          </a:p>
          <a:p/>
          <a:p>
            <a:r>
              <a:t>REFERENCIA DOCUMENTAL:</a:t>
            </a:r>
          </a:p>
          <a:p>
            <a:r>
              <a:t>- Documentación - Grupo 1 - TotalTech.pdf, Sección 1.1 (Situación actual o Propósito) y Sección 3 (Contexto del negocio).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9FF4F-BC5C-34C3-AD45-39D815357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CB247-2684-5907-7BA9-EB498B31FEC1}"/>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1CA3A8A3-F28A-4B7C-93BE-E65D126F8971}"/>
              </a:ext>
            </a:extLst>
          </p:cNvPr>
          <p:cNvSpPr>
            <a:spLocks noGrp="1"/>
          </p:cNvSpPr>
          <p:nvPr>
            <p:ph type="body" idx="1"/>
          </p:nvPr>
        </p:nvSpPr>
        <p:spPr/>
        <p:txBody>
          <a:bodyPr/>
          <a:lstStyle/>
          <a:p>
            <a:r>
              <a:t>[TIEMPO: 0:45 | Acumulado: 1:30 - 2:15]</a:t>
            </a:r>
          </a:p>
          <a:p>
            <a:r>
              <a:t>PROPÓSITO DE LA DIAPOSITIVA:</a:t>
            </a:r>
          </a:p>
          <a:p>
            <a:r>
              <a:t>Definir con claridad el objetivo operativo de TotalTech desde ambos lados del mostrador: facilitar la consulta del cliente y otorgar al comercio control directo sobre productos, imágenes, precios y stock.</a:t>
            </a:r>
          </a:p>
          <a:p/>
          <a:p>
            <a:r>
              <a:t>GUION Y PUNTOS CLAVE:</a:t>
            </a:r>
          </a:p>
          <a:p>
            <a:r>
              <a:t>- El propósito del sistema se resume en conectar dos necesidades complementarias dentro de la misma plataforma.</a:t>
            </a:r>
          </a:p>
          <a:p>
            <a:r>
              <a:t>- Por el lado del cliente, facilitar la búsqueda y consulta de productos tecnológicos con datos claros de imagen, descripción, precio y stock real, permitiéndole organizar su selección en un carrito propio.</a:t>
            </a:r>
          </a:p>
          <a:p>
            <a:r>
              <a:t>- Por el lado del comercio, brindar un entorno administrativo seguro donde dar de alta productos, actualizar precios o existencias, asociar categorías y proveedores, y gestionar imágenes locales.</a:t>
            </a:r>
          </a:p>
          <a:p>
            <a:r>
              <a:t>- Así materializamos nuestra propuesta comercial: que el comercio mantenga su catálogo al día y el cliente encuentre y organice lo que busca en un único lugar.</a:t>
            </a:r>
          </a:p>
          <a:p/>
          <a:p>
            <a:r>
              <a:t>REFERENCIA DOCUMENTAL Y CÓDIGO:</a:t>
            </a:r>
          </a:p>
          <a:p>
            <a:r>
              <a:t>- Documentación - Grupo 1 - TotalTech.pdf, Sección 1.1 y Sección 2 (Visión de la solución).</a:t>
            </a:r>
          </a:p>
          <a:p>
            <a:r>
              <a:t>- Módulos principales: `ProductosController`, `CarritoController`, `HomeController` (Frontend) y `ProductosEndpoints`, `CarritosEndpoints`, `AuthEndpoints` (Backend API).</a:t>
            </a:r>
          </a:p>
        </p:txBody>
      </p:sp>
      <p:sp>
        <p:nvSpPr>
          <p:cNvPr id="4" name="Slide Number Placeholder 3">
            <a:extLst>
              <a:ext uri="{FF2B5EF4-FFF2-40B4-BE49-F238E27FC236}">
                <a16:creationId xmlns:a16="http://schemas.microsoft.com/office/drawing/2014/main" id="{BA4A0FC9-29B2-FC0F-6858-08B4F10C6B6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03863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E9F4E-BE7F-0D9C-77D9-BE6E5691E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6E7B0-B499-CC01-509A-0DE0E2EF04B7}"/>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C70AF9AA-FE0A-9181-F102-8D2F27643F19}"/>
              </a:ext>
            </a:extLst>
          </p:cNvPr>
          <p:cNvSpPr>
            <a:spLocks noGrp="1"/>
          </p:cNvSpPr>
          <p:nvPr>
            <p:ph type="body" idx="1"/>
          </p:nvPr>
        </p:nvSpPr>
        <p:spPr/>
        <p:txBody>
          <a:bodyPr/>
          <a:lstStyle/>
          <a:p>
            <a:r>
              <a:t>[TIEMPO: 1:00 | Acumulado: 2:15 - 3:15]</a:t>
            </a:r>
          </a:p>
          <a:p>
            <a:r>
              <a:t>PROPÓSITO DE LA DIAPOSITIVA:</a:t>
            </a:r>
          </a:p>
          <a:p>
            <a:r>
              <a:t>Conservar la estructura tripartita de la diapositiva 4 de referencia (Situación actual / Oportunidad / Aspectos clave) relacionando directamente los tres problemas del comercio con las capacidades implementadas en TotalTech.</a:t>
            </a:r>
          </a:p>
          <a:p/>
          <a:p>
            <a:r>
              <a:t>GUION Y PUNTOS CLAVE:</a:t>
            </a:r>
          </a:p>
          <a:p>
            <a:r>
              <a:t>- Si observamos el problema operativo, encontramos tres puntos críticos: información desactualizada sobre precios y stock, dificultad del cliente para buscar y comparar equipos, y un mantenimiento manual propenso a inconsistencias.</a:t>
            </a:r>
          </a:p>
          <a:p>
            <a:r>
              <a:t>- La oportunidad está en ofrecer una plataforma especializada que ordene esa oferta y profesionalice la atención digital del comercio.</a:t>
            </a:r>
          </a:p>
          <a:p>
            <a:r>
              <a:t>- En el bloque inferior vemos cómo cada problema tiene una respuesta concreta en TotalTech:</a:t>
            </a:r>
          </a:p>
          <a:p>
            <a:r>
              <a:t>  1) Contra la desactualización: un ABM administrativo que impacta en tiempo real sobre el catálogo.</a:t>
            </a:r>
          </a:p>
          <a:p>
            <a:r>
              <a:t>  2) Contra la búsqueda dificultosa: un buscador paginado que combina texto, categoría, rango de precios y disponibilidad.</a:t>
            </a:r>
          </a:p>
          <a:p>
            <a:r>
              <a:t>  3) Contra la dispersión del pedido: un carrito asociado a la cuenta del cliente que valida stock y calcula subtotales e importes automáticamente.</a:t>
            </a:r>
          </a:p>
          <a:p/>
          <a:p>
            <a:r>
              <a:t>REFERENCIA DOCUMENTAL:</a:t>
            </a:r>
          </a:p>
          <a:p>
            <a:r>
              <a:t>- Documentación - Grupo 1 - TotalTech.pdf, Secciones 1.1, 1.2 (Oportunidad del negocio) y 2.1 (Funciones principales).</a:t>
            </a:r>
          </a:p>
        </p:txBody>
      </p:sp>
      <p:sp>
        <p:nvSpPr>
          <p:cNvPr id="4" name="Slide Number Placeholder 3">
            <a:extLst>
              <a:ext uri="{FF2B5EF4-FFF2-40B4-BE49-F238E27FC236}">
                <a16:creationId xmlns:a16="http://schemas.microsoft.com/office/drawing/2014/main" id="{A9E6E4E9-7D7A-466F-D7BA-D2FE1ACB2B4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425794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BA291-B386-AEE7-E7EB-F6781A087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75EBA-C546-2BF8-ADBC-0EB33A3B1E1D}"/>
              </a:ext>
            </a:extLst>
          </p:cNvPr>
          <p:cNvSpPr>
            <a:spLocks noGrp="1" noRot="1" noChangeAspect="1"/>
          </p:cNvSpPr>
          <p:nvPr>
            <p:ph type="sldImg"/>
          </p:nvPr>
        </p:nvSpPr>
        <p:spPr/>
        <p:txBody>
          <a:bodyPr/>
          <a:lstStyle/>
          <a:p>
            <a:endParaRPr lang="es-AR"/>
          </a:p>
        </p:txBody>
      </p:sp>
      <p:sp>
        <p:nvSpPr>
          <p:cNvPr id="3" name="Notes Placeholder 2">
            <a:extLst>
              <a:ext uri="{FF2B5EF4-FFF2-40B4-BE49-F238E27FC236}">
                <a16:creationId xmlns:a16="http://schemas.microsoft.com/office/drawing/2014/main" id="{6623C9BC-B24B-4302-B548-4C13EAB11AD5}"/>
              </a:ext>
            </a:extLst>
          </p:cNvPr>
          <p:cNvSpPr>
            <a:spLocks noGrp="1"/>
          </p:cNvSpPr>
          <p:nvPr>
            <p:ph type="body" idx="1"/>
          </p:nvPr>
        </p:nvSpPr>
        <p:spPr/>
        <p:txBody>
          <a:bodyPr/>
          <a:lstStyle/>
          <a:p>
            <a:r>
              <a:t>[TIEMPO: 1:00 | Acumulado: 3:15 - 4:15]</a:t>
            </a:r>
          </a:p>
          <a:p>
            <a:r>
              <a:t>PROPÓSITO DE LA DIAPOSITIVA:</a:t>
            </a:r>
          </a:p>
          <a:p>
            <a:r>
              <a:t>Fusionar las diapositivas "La solución: funciones principales" e "Interesados" de la presentación de referencia en dos perspectivas claras y simétricas: el cliente que consulta y organiza su selección, y el administrador que mantiene la oferta.</a:t>
            </a:r>
          </a:p>
          <a:p/>
          <a:p>
            <a:r>
              <a:t>GUION Y PUNTOS CLAVE:</a:t>
            </a:r>
          </a:p>
          <a:p>
            <a:r>
              <a:t>- En esta diapositiva integramos las funciones principales de la solución con el perfil de sus usuarios.</a:t>
            </a:r>
          </a:p>
          <a:p>
            <a:r>
              <a:t>- Desde la perspectiva del Cliente (tanto visitante como usuario autenticado), el sistema ofrece navegación abierta del catálogo, filtros combinables, vista de detalle y, una vez iniciada la sesión, un carrito activo para organizar su selección y controlar subtotales.</a:t>
            </a:r>
          </a:p>
          <a:p>
            <a:r>
              <a:t>- Desde la perspectiva del Administrador del comercio, el sistema provee un panel protegido por rol que permite crear, editar y eliminar productos, actualizar precios y stock, subir imágenes locales validadas y mantener categorías y proveedores.</a:t>
            </a:r>
          </a:p>
          <a:p>
            <a:r>
              <a:t>- Nota sobre interesados: la documentación general identifica seis perfiles (Ejecutivos, Clientes, Equipo de desarrollo, Proveedores, Atención al cliente y Socios logísticos). En el alcance implementado, la operación diaria se articula mediante los dos roles del sistema (`RolUsuario.Cliente = 0` y `RolUsuario.Administrador = 1`).</a:t>
            </a:r>
          </a:p>
          <a:p/>
          <a:p>
            <a:r>
              <a:t>REFERENCIA DOCUMENTAL Y CÓDIGO:</a:t>
            </a:r>
          </a:p>
          <a:p>
            <a:r>
              <a:t>- Documentación - Grupo 1 - TotalTech.pdf, Sección 2.1 (Funciones principales) y Sección 3.1 (Perfil de los interesados).</a:t>
            </a:r>
          </a:p>
          <a:p>
            <a:r>
              <a:t>- `Totaltech/Entidades/Usuario.cs` (`RolUsuario`), `Totaltech/Seguridad/Autorizacion.cs` y `Frontend/Controllers/HomeController.cs`.</a:t>
            </a:r>
          </a:p>
        </p:txBody>
      </p:sp>
      <p:sp>
        <p:nvSpPr>
          <p:cNvPr id="4" name="Slide Number Placeholder 3">
            <a:extLst>
              <a:ext uri="{FF2B5EF4-FFF2-40B4-BE49-F238E27FC236}">
                <a16:creationId xmlns:a16="http://schemas.microsoft.com/office/drawing/2014/main" id="{774FE358-F76D-2682-7B9B-1FA98CBD1BA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75271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1:15 | Acumulado: 4:15 - 5:30]</a:t>
            </a:r>
          </a:p>
          <a:p>
            <a:r>
              <a:t>PROPÓSITO DE LA DIAPOSITIVA:</a:t>
            </a:r>
          </a:p>
          <a:p>
            <a:r>
              <a:t>Presentar el listado completo de los cinco requerimientos funcionales implementados, su origen exacto en el documento funcional y la evidencia observable que se comprobará en la demostración final.</a:t>
            </a:r>
          </a:p>
          <a:p/>
          <a:p>
            <a:r>
              <a:t>GUION Y PUNTOS CLAVE:</a:t>
            </a:r>
          </a:p>
          <a:p>
            <a:r>
              <a:t>- Es importante hacer una precisión metodológica de entrada: el documento funcional agrupa los requerimientos en siete bloques temáticos (Sección 5.1). Aquí acreditamos cinco requerimientos funcionales concretos derivados de esos grupos documentales, y no los grupos completos.</a:t>
            </a:r>
          </a:p>
          <a:p>
            <a:r>
              <a:t>- 1) Registrar usuarios (derivado del Grupo 5, Gestión de usuarios): permite crear una cuenta validando nombre, apellido, email, teléfono y contraseña mínima de 8 caracteres.</a:t>
            </a:r>
          </a:p>
          <a:p>
            <a:r>
              <a:t>- 2) Autenticar usuarios (también del Grupo 5): valida credenciales contra la API, emite el token JWT y construye la sesión MVC diferenciando los roles Cliente y Administrador.</a:t>
            </a:r>
          </a:p>
          <a:p>
            <a:r>
              <a:t>- 3) Consultar y buscar productos (derivado del Grupo 2, Catálogo): permite listar productos paginados, buscar por palabra clave, filtrar por categoría, rango de precio y disponibilidad, y abrir la ficha detallada.</a:t>
            </a:r>
          </a:p>
          <a:p>
            <a:r>
              <a:t>- 4) Administrar el carrito (derivado del Grupo 3, Carrito de compras): permite al cliente autenticado agregar productos, actualizar cantidades validando stock, eliminar líneas y ver el resumen de unidades y subtotal/total.</a:t>
            </a:r>
          </a:p>
          <a:p>
            <a:r>
              <a:t>- 5) Gestionar productos (derivado del Grupo 1, Gestión de productos): permite al administrador crear un producto nuevo, editar sus datos o imagen, y eliminarlo cuando no tiene relaciones activas.</a:t>
            </a:r>
          </a:p>
          <a:p/>
          <a:p>
            <a:r>
              <a:t>REFERENCIA DOCUMENTAL:</a:t>
            </a:r>
          </a:p>
          <a:p>
            <a:r>
              <a:t>- Documentación - Grupo 1 - TotalTech.pdf, Sección 5.1 (pág. 8): Grupos 1, 2, 3 y 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1:15 | Acumulado: 5:30 - 6:45]</a:t>
            </a:r>
          </a:p>
          <a:p>
            <a:r>
              <a:t>PROPÓSITO DE LA DIAPOSITIVA:</a:t>
            </a:r>
          </a:p>
          <a:p>
            <a:r>
              <a:t>Exponer los cinco casos de uso seleccionados del catálogo formal (`UC-01`, `UC-02`, `UC-08`, `UC-09` y `UC-19`), indicando su actor, el resultado esperado y su conexión real con el código, además de explicar con transparencia por qué la demostración del carrito no se etiqueta como `UC-10`.</a:t>
            </a:r>
          </a:p>
          <a:p/>
          <a:p>
            <a:r>
              <a:t>GUION Y PUNTOS CLAVE:</a:t>
            </a:r>
          </a:p>
          <a:p>
            <a:r>
              <a:t>- Del catálogo de casos de uso seleccionamos cinco casos completamente trazables de punta a punta:</a:t>
            </a:r>
          </a:p>
          <a:p>
            <a:r>
              <a:t>  1) UC-01 Registrarse (Actor: Visitante): desde `HomeController.Register` invoca `POST /auth/registro` y ejecuta `UsuariosLogica.RegistrarAsync`, forzando rol Cliente y aplicando hash a la contraseña.</a:t>
            </a:r>
          </a:p>
          <a:p>
            <a:r>
              <a:t>  2) UC-02 Iniciar sesión (Actor: Usuario registrado): valida credenciales en `POST /auth/login`, recibe el JWT firmado y construye la cookie de autenticación MVC con sus claims de rol.</a:t>
            </a:r>
          </a:p>
          <a:p>
            <a:r>
              <a:t>  3) UC-08 Filtrar y buscar productos (Actor: Cliente): conecta `ProductosController.Index` con `GET /productos/catalogo` y `ProductosRepositorio.ObtenerCatalogoAsync`.</a:t>
            </a:r>
          </a:p>
          <a:p>
            <a:r>
              <a:t>  4) UC-09 Ver detalle de producto (Actor: Cliente): recupera la ficha individual mediante `ProductosController.Detalle` y `GET /productos/{id}`, mostrando imagen, categoría, descripción, precio y disponibilidad.</a:t>
            </a:r>
          </a:p>
          <a:p>
            <a:r>
              <a:t>  5) UC-19 ABM de productos (Actor: Administrador): ejecuta las acciones `Crear`, `Editar` y `Eliminar` protegidas por `[Authorize(Roles = "Admin")]` hacia la API de productos.</a:t>
            </a:r>
          </a:p>
          <a:p>
            <a:r>
              <a:t>- Aclaración fundamental sobre el carrito: durante la demostración también probaremos el carrito de compras para acreditar el cuarto requerimiento funcional. Sin embargo, no lo rotulamos como UC-10 porque las notas de modelado del PDF de Casos de Uso (pág. 2 y pág. 5) definen UC-10 como un "checkout directo sin carrito". Mantener esta distinción evita forzar la trazabilidad documental.</a:t>
            </a:r>
          </a:p>
          <a:p/>
          <a:p>
            <a:r>
              <a:t>REFERENCIA DOCUMENTAL:</a:t>
            </a:r>
          </a:p>
          <a:p>
            <a:r>
              <a:t>- Casos de Uso - Totaltech.pdf, páginas 2, 3 y 5 (Notas de modelado sobre UC-10/11/12).</a:t>
            </a:r>
          </a:p>
          <a:p>
            <a:r>
              <a:t>- Documentación de API.pdf, Secciones 05 (Autenticación, Productos, Carritos) y 09.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1:30 | Acumulado: 6:45 - 8:15]</a:t>
            </a:r>
          </a:p>
          <a:p>
            <a:r>
              <a:t>PROPÓSITO DE LA DIAPOSITIVA:</a:t>
            </a:r>
          </a:p>
          <a:p>
            <a:r>
              <a:t>Explicar los cinco requerimientos no funcionales contemplados (Rendimiento, Usabilidad, Compatibilidad, Seguridad y Mantenibilidad), vinculando cada uno con su evidencia concreta y declarando expresamente el límite de cada afirmación.</a:t>
            </a:r>
          </a:p>
          <a:p/>
          <a:p>
            <a:r>
              <a:t>GUION Y PUNTOS CLAVE:</a:t>
            </a:r>
          </a:p>
          <a:p>
            <a:r>
              <a:t>- En cuanto a los requerimientos no funcionales (Sección 5.2 de la documentación), adoptamos un criterio estricto: acompañar cada atributo de calidad con evidencia verificable y precisar hasta dónde llega nuestra afirmación.</a:t>
            </a:r>
          </a:p>
          <a:p>
            <a:r>
              <a:t>- 1) Rendimiento: en código lo respaldamos con paginación en base de datos (`Skip/Take` de 12 o 24 ítems), lectura sin tracking (`AsNoTracking`) y ejecución en paralelo de categorías y catálogo (`Task.WhenAll` en `ProductosController.Index`). Límite: el documento fija un objetivo de hasta 3 segundos; nuestra medición en entorno local demuestra fluidez en el ensayo, pero no equivale a una prueba de carga en producción.</a:t>
            </a:r>
          </a:p>
          <a:p>
            <a:r>
              <a:t>- 2) Usabilidad: se evidencia en formularios con etiquetas e indicaciones claras, mensajes de validación comprensibles y estados vacíos con acción directa para limpiar filtros. Límite: mostramos decisiones concretas de diseño en pantalla, sin invocar estudios con usuarios que no se realizaron.</a:t>
            </a:r>
          </a:p>
          <a:p>
            <a:r>
              <a:t>- 3) Compatibilidad: durante la demo mostraremos cómo el catálogo y el menú se adaptan de escritorio a ancho móvil. Límite: distinguimos la adaptación responsiva en el navegador de una certificación completa multi-navegador en Chrome, Firefox y Edge.</a:t>
            </a:r>
          </a:p>
          <a:p>
            <a:r>
              <a:t>- 4) Seguridad: implementamos hash de contraseñas con `PasswordHasher&lt;Usuario&gt;`, tokens JWT firmados con HS256, autorización por rol (`Admin` / `Cliente`), cookies `HttpOnly` y `[ValidateAntiForgeryToken]` en formularios mutantes. Límite: son controles técnicos concretos, pero no los presentamos como cumplimiento total de normativas de privacidad o cifrado integral.</a:t>
            </a:r>
          </a:p>
          <a:p>
            <a:r>
              <a:t>- 5) Mantenibilidad: se acredita en la arquitectura por capas y en la claridad del código —como veremos en la siguiente diapositiva—, porque es una cualidad interna del software más que un botón en la interfaz.</a:t>
            </a:r>
          </a:p>
          <a:p/>
          <a:p>
            <a:r>
              <a:t>REFERENCIA DOCUMENTAL Y CÓDIGO:</a:t>
            </a:r>
          </a:p>
          <a:p>
            <a:r>
              <a:t>- Documentación - Grupo 1 - TotalTech.pdf, Sección 5.2 (pág. 9).</a:t>
            </a:r>
          </a:p>
          <a:p>
            <a:r>
              <a:t>- `ProductosController.Index`, `ProductosRepositorio.ObtenerCatalogoAsync`, `UsuariosLogica.CrearAsync`, `JwtTokenService.Crear`.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2:00 | Acumulado: 8:15 - 10:15]</a:t>
            </a:r>
          </a:p>
          <a:p>
            <a:r>
              <a:t>PROPÓSITO DE LA DIAPOSITIVA:</a:t>
            </a:r>
          </a:p>
          <a:p>
            <a:r>
              <a:t>Conectar de forma explícita la documentación con el código real mediante una matriz breve (Requisito → Caso de uso → Código → Pantalla) y explicar con mayor detenimiento el recorrido completo de `UC-08 · Filtrar y buscar productos`.</a:t>
            </a:r>
          </a:p>
          <a:p/>
          <a:p>
            <a:r>
              <a:t>GUION Y PUNTOS CLAVE:</a:t>
            </a:r>
          </a:p>
          <a:p>
            <a:r>
              <a:t>- En esta diapositiva mostramos cómo cada requerimiento y caso de uso deja de ser un enunciado en un PDF y se convierte en componentes concretos del repositorio.</a:t>
            </a:r>
          </a:p>
          <a:p>
            <a:r>
              <a:t>- En la tabla izquierda vemos las cinco correspondencias principales junto con el carrito:</a:t>
            </a:r>
          </a:p>
          <a:p>
            <a:r>
              <a:t>  • UC-01 Registrarse: vista `/Home/Register` → `HomeController.Register` → `POST /auth/registro` → `UsuariosLogica.RegistrarAsync` → `UsuariosRepositorio.CrearAsync`.</a:t>
            </a:r>
          </a:p>
          <a:p>
            <a:r>
              <a:t>  • UC-02 Iniciar sesión: vista `/Home/Login` → `HomeController.Login` → `POST /auth/login` → `UsuariosLogica.LoginAsync` + `JwtTokenService.Crear` → cookie MVC `Totaltech.Auth`.</a:t>
            </a:r>
          </a:p>
          <a:p>
            <a:r>
              <a:t>  • UC-08 Filtrar y buscar productos: vista `/Productos` → `ProductosController.Index` → `ProductosApiService.ObtenerCatalogoAsync` → `GET /productos/catalogo` → `ProductosLogica.ObtenerCatalogoAsync` → `ProductosRepositorio.ObtenerCatalogoAsync`.</a:t>
            </a:r>
          </a:p>
          <a:p>
            <a:r>
              <a:t>  • UC-09 Ver detalle de producto: vista `/Productos/Detalle/{id}` → `ProductosController.Detalle` → `ProductosApiService.ObtenerPorIdAsync` → `GET /productos/{id}`.</a:t>
            </a:r>
          </a:p>
          <a:p>
            <a:r>
              <a:t>  • UC-19 ABM de productos: acciones `Crear`, `Editar` y `Eliminar` en `ProductosController` (con `[Authorize(Roles = "Admin")]`) → `POST /productos`, `PUT /productos/{id}` y `DELETE /productos/{id}` → `ProductosLogica` y `ProductosRepositorio`.</a:t>
            </a:r>
          </a:p>
          <a:p>
            <a:r>
              <a:t>  • RF Administrar carrito: vista `/Carrito` → `CarritoController` (`Index`, `Agregar`, `ActualizarCantidad`, `Eliminar`) → `CarritosApiService` → `GET/POST/PATCH/DELETE /carritos/actual/productos` → `CarritosLogica`.</a:t>
            </a:r>
          </a:p>
          <a:p>
            <a:r>
              <a:t>- Detalle del recorrido de UC-08 (panel derecho):</a:t>
            </a:r>
          </a:p>
          <a:p>
            <a:r>
              <a:t>  1) Cuando el usuario envía el formulario GET en `Views/Productos/Index.cshtml`, `ProductosController.Index` lanza en paralelo (`await Task.WhenAll`) la consulta de categorías y la del catálogo paginado.</a:t>
            </a:r>
          </a:p>
          <a:p>
            <a:r>
              <a:t>  2) `ProductosApiService.ObtenerCatalogoAsync` arma el query string hacia `GET /productos/catalogo`.</a:t>
            </a:r>
          </a:p>
          <a:p>
            <a:r>
              <a:t>  3) `ProductosLogica.ObtenerCatalogoAsync` recorta el texto (`Trim`), valida que no supere 100 caracteres, que `pagina &gt;= 1`, `tamanoPagina` esté entre 1 y 48 y que `precioMin &lt;= precioMax`.</a:t>
            </a:r>
          </a:p>
          <a:p>
            <a:r>
              <a:t>  4) Finalmente, `ProductosRepositorio.ObtenerCatalogoAsync` construye una única consulta `IQueryable` con `AsNoTracking()`, encadena los predicados opcionales (`Texto`, `IdCategoria`, `PrecioMin`, `PrecioMax`, `SoloDisponibles`), calcula `CountAsync` para el total de resultados y aplica ordenamiento determinista (`OrderBy(p =&gt; p.Nombre).ThenBy(p =&gt; p.IdProducto)`), `Skip`, `Take` y proyección a `ProductoCatalogoResponse`.</a:t>
            </a:r>
          </a:p>
          <a:p/>
          <a:p>
            <a:r>
              <a:t>REFERENCIAS DE RESPALDO EN EL REPOSITORIO:</a:t>
            </a:r>
          </a:p>
          <a:p>
            <a:r>
              <a:t>- `Frontend/Controllers/ProductosController.cs` (líneas 35-70).</a:t>
            </a:r>
          </a:p>
          <a:p>
            <a:r>
              <a:t>- `Frontend/Services/ProductosApiService.cs` (líneas 129-157).</a:t>
            </a:r>
          </a:p>
          <a:p>
            <a:r>
              <a:t>- `Totaltech/Endpoints/ProductosEndpoints.cs` (líneas 14-30).</a:t>
            </a:r>
          </a:p>
          <a:p>
            <a:r>
              <a:t>- `Totaltech/Logica/ProductosLogica.cs` (líneas 97-111).</a:t>
            </a:r>
          </a:p>
          <a:p>
            <a:r>
              <a:t>- `Totaltech/Repositorios/ProductosRepositorio.cs` (líneas 82-135).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1:15 | Acumulado: 10:15 - 11:30]</a:t>
            </a:r>
          </a:p>
          <a:p>
            <a:r>
              <a:t>PROPÓSITO DE LA DIAPOSITIVA:</a:t>
            </a:r>
          </a:p>
          <a:p>
            <a:r>
              <a:t>Explicar la arquitectura real en 7 eslabones (Vista Razor → Controlador MVC → Servicio HTTP → API → Lógica → Repositorio → SQL Server) y relacionar esta separación de responsabilidades con el requerimiento no funcional de mantenibilidad.</a:t>
            </a:r>
          </a:p>
          <a:p/>
          <a:p>
            <a:r>
              <a:t>GUION Y PUNTOS CLAVE:</a:t>
            </a:r>
          </a:p>
          <a:p>
            <a:r>
              <a:t>- A diferencia del modelo conceptual del taller, aquí mostramos la cadena exacta de ejecución implementada en la solución .NET 10 de TotalTech:</a:t>
            </a:r>
          </a:p>
          <a:p>
            <a:r>
              <a:t>  1) Vista Razor (`Views/*.cshtml`): presenta la interfaz al usuario y captura la entrada en formularios con token antiforgery.</a:t>
            </a:r>
          </a:p>
          <a:p>
            <a:r>
              <a:t>  2) Controlador MVC (`Controllers/*Controller.cs`): recibe la acción del navegador, administra la cookie de sesión y construye el ViewModel.</a:t>
            </a:r>
          </a:p>
          <a:p>
            <a:r>
              <a:t>  3) Servicio HTTP (`Services/*ApiService.cs` + `ApiBearerTokenHandler`): se comunica con el backend vía `HttpClient` y adjunta automáticamente la cabecera `Authorization: Bearer &lt;token&gt;` si el usuario inició sesión.</a:t>
            </a:r>
          </a:p>
          <a:p>
            <a:r>
              <a:t>  4) Minimal API (`Endpoints/*Endpoints.cs`): publica las 81 operaciones HTTP en 14 módulos y verifica las políticas (`AllowAnonymous`, usuario autenticado o `PoliticaAdministrador`).</a:t>
            </a:r>
          </a:p>
          <a:p>
            <a:r>
              <a:t>  5) Capa de Lógica (`Logica/*Logica.cs`): aplica las validaciones de dominio, cálculo de subtotales, verificación de stock y hashing de contraseñas.</a:t>
            </a:r>
          </a:p>
          <a:p>
            <a:r>
              <a:t>  6) Repositorio (`Repositorios/*Repositorio.cs`): traduce las operaciones a consultas EF Core (`IQueryable`, paginación y transacciones relacionales).</a:t>
            </a:r>
          </a:p>
          <a:p>
            <a:r>
              <a:t>  7) SQL Server (`TotaltechDbContext`): garantiza la persistencia y la integridad referencial.</a:t>
            </a:r>
          </a:p>
          <a:p>
            <a:r>
              <a:t>- ¿Por qué esto acredita la mantenibilidad? Porque cada responsabilidad vive en un único lugar: el Frontend no contiene SQL ni lógica de negocio, y el Backend no depende de cómo se dibuja la pantalla.</a:t>
            </a:r>
          </a:p>
          <a:p/>
          <a:p>
            <a:r>
              <a:t>REFERENCIA DOCUMENTAL Y CÓDIGO:</a:t>
            </a:r>
          </a:p>
          <a:p>
            <a:r>
              <a:t>- Documentación de API.pdf, Secciones 02, 03 y 10 (Trazabilidad y mantenimiento).</a:t>
            </a:r>
          </a:p>
          <a:p>
            <a:r>
              <a:t>- `Frontend/Program.cs`, `Frontend/Services/ApiBearerTokenHandler.cs` y `Totaltech/Program.cs`.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1:00 | Acumulado: 11:30 - 12:30]</a:t>
            </a:r>
          </a:p>
          <a:p>
            <a:r>
              <a:t>PROPÓSITO DE LA DIAPOSITIVA:</a:t>
            </a:r>
          </a:p>
          <a:p>
            <a:r>
              <a:t>Adaptar en una sola vista las secciones de prioridades (Requeridos/Deseables), alcance, riesgos y hoja de ruta del modelo de referencia, manteniendo total transparencia sobre las diferencias entre el alcance documentado inicialmente y la implementación actual.</a:t>
            </a:r>
          </a:p>
          <a:p/>
          <a:p>
            <a:r>
              <a:t>GUION Y PUNTOS CLAVE:</a:t>
            </a:r>
          </a:p>
          <a:p>
            <a:r>
              <a:t>- En esta diapositiva contrastamos con claridad qué está operativo hoy, qué diferencias existen respecto de los documentos iniciales y cuál es la próxima etapa de evolución:</a:t>
            </a:r>
          </a:p>
          <a:p>
            <a:r>
              <a:t>- 1) Capacidades disponibles hoy (columna izquierda): registro y autenticación con roles, catálogo público paginado con filtros de texto, categoría, precio y stock, ficha de producto, carrito activo del cliente y ABM administrativo de productos, categorías y proveedores.</a:t>
            </a:r>
          </a:p>
          <a:p>
            <a:r>
              <a:t>- 2) Diferencias visibles con la documentación inicial (columna central):</a:t>
            </a:r>
          </a:p>
          <a:p>
            <a:r>
              <a:t>  • Checkout web pendiente: aunque la API backend ya cuenta con confirmación transaccional (`POST /carritos/{id}/confirmar`) y registro de pagos, en el Frontend MVC `CheckoutController` es una estructura reservada y aún no se integró MercadoPago.</a:t>
            </a:r>
          </a:p>
          <a:p>
            <a:r>
              <a:t>  • Filtros de marca no demostrados: el PDF funcional menciona marca y destacados, pero la entidad `Producto` actual modela categoría y proveedor, por lo que marca queda diferida para no simular datos inexistentes.</a:t>
            </a:r>
          </a:p>
          <a:p>
            <a:r>
              <a:t>  • Eliminación sujeta a relaciones: el PDF de casos de uso menciona baja lógica, pero la implementación actual en `DELETE /productos/{id}` realiza eliminación física en base de datos y devuelve `409 Conflict` si el producto tiene carritos o pedidos asociados. Por eso en la demo usaremos un producto de prueba dedicado que no se agrega a ningún carrito.</a:t>
            </a:r>
          </a:p>
          <a:p>
            <a:r>
              <a:t>- 3) Riesgos y hoja de ruta (columna derecha): los principales riesgos técnicos son la integración con medios de pago externos y la gestión de relaciones históricas; por eso la próxima etapa prioriza cerrar el checkout MVC con direcciones propias e incorporar el indicador de baja lógica.</a:t>
            </a:r>
          </a:p>
          <a:p/>
          <a:p>
            <a:r>
              <a:t>REFERENCIA DOCUMENTAL Y CÓDIGO:</a:t>
            </a:r>
          </a:p>
          <a:p>
            <a:r>
              <a:t>- Documentación - Grupo 1 - TotalTech.pdf, Secciones 1.3 (Riesgos) y 4 (Alcance y limitaciones).</a:t>
            </a:r>
          </a:p>
          <a:p>
            <a:r>
              <a:t>- Documentación de API.pdf, Secciones 05, 09 y 10.</a:t>
            </a:r>
          </a:p>
          <a:p>
            <a:r>
              <a:t>- `Frontend/Controllers/CheckoutController.cs` y `Totaltech/Endpoints/ProductosEndpoints.cs` (manejo de `DbUpdateException` -&gt; `409 Conflict`).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1:00 | Acumulado: 12:30 - 13:30]</a:t>
            </a:r>
          </a:p>
          <a:p>
            <a:r>
              <a:t>PROPÓSITO DE LA DIAPOSITIVA:</a:t>
            </a:r>
          </a:p>
          <a:p>
            <a:r>
              <a:t>Sintetizar el valor comercial de TotalTech recuperando los tres beneficios centrales (catálogo consultable, selección organizada y administración centralizada) y formular una propuesta concreta de piloto para el comercio.</a:t>
            </a:r>
          </a:p>
          <a:p/>
          <a:p>
            <a:r>
              <a:t>GUION Y PUNTOS CLAVE:</a:t>
            </a:r>
          </a:p>
          <a:p>
            <a:r>
              <a:t>- Desde la mirada del negocio, lo que hoy está construido ya aporta tres beneficios inmediatos para una tienda tecnológica:</a:t>
            </a:r>
          </a:p>
          <a:p>
            <a:r>
              <a:t>  1) Un catálogo consultable en todo momento, donde el cliente encuentra productos por categoría o presupuesto y verifica si hay stock.</a:t>
            </a:r>
          </a:p>
          <a:p>
            <a:r>
              <a:t>  2) Una selección organizada a través del carrito, que ordena la intención de compra del cliente con precios y subtotales calculados por el servidor.</a:t>
            </a:r>
          </a:p>
          <a:p>
            <a:r>
              <a:t>  3) Una administración centralizada, para que el comercio actualice su oferta desde un único panel sin depender de planillas dispersas.</a:t>
            </a:r>
          </a:p>
          <a:p>
            <a:r>
              <a:t>- ¿Cuál es nuestra propuesta concreta de implementación para el comercio? Poner en marcha un piloto controlado cargando su línea principal de productos tecnológicos reales. Esto permite publicar el catálogo actualizado y recibir selecciones organizadas de clientes desde el primer día, mientras en paralelo se completa la integración del checkout web.</a:t>
            </a:r>
          </a:p>
          <a:p/>
          <a:p>
            <a:r>
              <a:t>REFERENCIA DOCUMENTAL:</a:t>
            </a:r>
          </a:p>
          <a:p>
            <a:r>
              <a:t>- Propuesta comercial definida en la adaptación: "TotalTech permite al comercio mantener su catálogo actualizado y al cliente encontrar productos y organizar su selección desde una misma plataforma".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t>[TIEMPO: 0:30 de introducción en diapositiva + 9:00 de demostración en navegador | Acumulado: 13:30 - 23:00]</a:t>
            </a:r>
          </a:p>
          <a:p>
            <a:r>
              <a:t>PROPÓSITO DE LA DIAPOSITIVA:</a:t>
            </a:r>
          </a:p>
          <a:p>
            <a:r>
              <a:t>Presentar en 30 segundos la hoja de ruta de la demostración y pasar de inmediato al navegador. Toda la demostración transcurre en vivo sobre la aplicación web y cierra la exposición sin regresar a otro bloque teórico.</a:t>
            </a:r>
          </a:p>
          <a:p/>
          <a:p>
            <a:r>
              <a:t>PREPARACIÓN PREVIA OBLIGATORIA:</a:t>
            </a:r>
          </a:p>
          <a:p>
            <a:r>
              <a:t>1) Dos ventanas o perfiles de navegador abiertos por separado:</a:t>
            </a:r>
          </a:p>
          <a:p>
            <a:r>
              <a:t>   - Ventana A (Cliente / Visitante): en `/Home/Register` lista para el Paso 1.</a:t>
            </a:r>
          </a:p>
          <a:p>
            <a:r>
              <a:t>   - Ventana B (Administrador): con sesión ya iniciada como `Administrador TotalTech` en `/Productos` (o `/Administracion`) para no perder tiempo cambiando de cuenta en el Paso 6.</a:t>
            </a:r>
          </a:p>
          <a:p>
            <a:r>
              <a:t>2) El producto para el ABM en el Paso 6 se llamará exactamente "Producto de demostración TotalTech" y NO debe agregarse a ningún carrito ni pedido para que `DELETE /productos/{id}` devuelva `204 No Content` y permita su eliminación limpia sin conflicto `409`.</a:t>
            </a:r>
          </a:p>
          <a:p>
            <a:r>
              <a:t>3) Contar con grabación de respaldo del recorrido completo; si por alguna contingencia del entorno local se recurre a la grabación, identificarla explícitamente como grabación de respaldo y nunca presentarla como ejecución en vivo.</a:t>
            </a:r>
          </a:p>
          <a:p/>
          <a:p>
            <a:r>
              <a:t>SECUENCIA CRONOMETRADA EN EL NAVEGADOR (9:00 MINUTOS):</a:t>
            </a:r>
          </a:p>
          <a:p>
            <a:r>
              <a:t>- Paso 1 (1:15 | 14:00-15:15): En `/Home/Register`, intentar enviar o ingresar una contraseña corta (&lt;8 caracteres) para evidenciar la validación (Usabilidad + Seguridad). Completar los datos de una cuenta ficticia (ej. Martina Gómez) y registrar la cuenta (`UC-01` / RF registro).</a:t>
            </a:r>
          </a:p>
          <a:p>
            <a:r>
              <a:t>- Paso 2 (0:45 | 15:15-16:00): En `/Home/Login`, iniciar sesión con la cuenta recién creada (`UC-02` / RF autenticación). Mostrar el mensaje de bienvenida y la barra de navegación de cliente (sin botón de Administración ni acciones de edición).</a:t>
            </a:r>
          </a:p>
          <a:p>
            <a:r>
              <a:t>- Paso 3 (1:15 | 16:00-17:15): Ir a `/Productos`. Buscar `"Notebook"`, filtrar por categoría `Notebooks`, rango de precio y `"Sólo disponibles"` (`UC-08` / RF catálogo). Luego ingresar un término inexistente (ej. `"ImpresoraLaserXYZ"`) para mostrar el estado vacío amigable y hacer clic en `"Limpiar filtros"` para recuperar el catálogo (RNF Usabilidad + Rendimiento).</a:t>
            </a:r>
          </a:p>
          <a:p>
            <a:r>
              <a:t>- Paso 4 (0:45 | 17:15-18:00): Abrir la ficha de una notebook (ej. `"Notebook Lenovo Yoga 7 2 en 1"` o `"Notebook ASUS TUF Gaming A16"` en `/Productos/Detalle/{id}`) y señalar su imagen, categoría, descripción, precio y stock disponible (`UC-09` / RF catálogo).</a:t>
            </a:r>
          </a:p>
          <a:p>
            <a:r>
              <a:t>- Paso 5 (1:15 | 18:00-19:15): Hacer clic en `"Agregar al carrito"`. En `/Carrito`, cambiar la cantidad a 2 y pulsar `"Actualizar"` para verificar el recálculo de subtotal y total; luego pulsar `"Eliminar"` para dejar el carrito limpio (RF carrito).</a:t>
            </a:r>
          </a:p>
          <a:p>
            <a:r>
              <a:t>- Paso 6 (2:30 | 19:15-21:45): Cambiar a la ventana con sesión administrativa preparada. Ir a `"Nuevo producto"` (`/Productos/Crear`), dar de alta `"Producto de demostración TotalTech"` con precio, stock, categoría `Notebooks` y proveedor activo. Luego entrar a `"Editar"` (`/Productos/Editar/{id}`), modificar su precio/stock (y opcionalmente previsualizar imagen), guardar y comprobar el cambio en el catálogo. Finalmente, pulsar `"Eliminar"` y verificar que desaparece del listado (`UC-19` / RF productos).</a:t>
            </a:r>
          </a:p>
          <a:p>
            <a:r>
              <a:t>- Paso 7 (1:15 | 21:45-23:00): Redimensionar la ventana o usar la vista móvil del navegador para mostrar la adaptación responsiva del catálogo (RNF Compatibilidad), contrastar las vistas de Cliente y Administrador (RNF Seguridad), recapitular las evidencias de calidad y cerrar oralmente sobre el sistema abierto con la frase comercial:</a:t>
            </a:r>
          </a:p>
          <a:p>
            <a:r>
              <a:t>  "Con TotalTech, el comercio mantiene su oferta y el cliente puede encontrar y organizar los productos que le interesan".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5143500"/>
          </a:xfrm>
          <a:prstGeom prst="rect">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594360" y="2487168"/>
            <a:ext cx="8001000" cy="1143000"/>
          </a:xfrm>
          <a:prstGeom prst="roundRect">
            <a:avLst>
              <a:gd name="adj" fmla="val 4000"/>
            </a:avLst>
          </a:prstGeom>
          <a:solidFill>
            <a:srgbClr val="102A4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Oval 3"/>
          <p:cNvSpPr/>
          <p:nvPr/>
        </p:nvSpPr>
        <p:spPr>
          <a:xfrm>
            <a:off x="722376" y="2624328"/>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Picture 4" descr="logo_card.png"/>
          <p:cNvPicPr>
            <a:picLocks noChangeAspect="1"/>
          </p:cNvPicPr>
          <p:nvPr/>
        </p:nvPicPr>
        <p:blipFill>
          <a:blip r:embed="rId3"/>
          <a:stretch>
            <a:fillRect/>
          </a:stretch>
        </p:blipFill>
        <p:spPr>
          <a:xfrm>
            <a:off x="7086600" y="502920"/>
            <a:ext cx="1508760" cy="1508760"/>
          </a:xfrm>
          <a:prstGeom prst="rect">
            <a:avLst/>
          </a:prstGeom>
          <a:ln>
            <a:noFill/>
          </a:ln>
          <a:effectLst/>
        </p:spPr>
      </p:pic>
      <p:sp>
        <p:nvSpPr>
          <p:cNvPr id="6" name="TextBox 5"/>
          <p:cNvSpPr txBox="1"/>
          <p:nvPr/>
        </p:nvSpPr>
        <p:spPr>
          <a:xfrm>
            <a:off x="594360" y="548640"/>
            <a:ext cx="6217920" cy="320040"/>
          </a:xfrm>
          <a:prstGeom prst="rect">
            <a:avLst/>
          </a:prstGeom>
          <a:noFill/>
        </p:spPr>
        <p:txBody>
          <a:bodyPr wrap="square" anchor="t" lIns="0" rIns="0" tIns="0" bIns="0">
            <a:spAutoFit/>
          </a:bodyPr>
          <a:lstStyle/>
          <a:p>
            <a:r>
              <a:rPr sz="1150" b="1" i="0">
                <a:solidFill>
                  <a:srgbClr val="90CAF9"/>
                </a:solidFill>
                <a:latin typeface="Calibri"/>
              </a:rPr>
              <a:t>PLATAFORMA WEB DE COMERCIO TECNOLÓGICO</a:t>
            </a:r>
          </a:p>
        </p:txBody>
      </p:sp>
      <p:sp>
        <p:nvSpPr>
          <p:cNvPr id="7" name="TextBox 6"/>
          <p:cNvSpPr txBox="1"/>
          <p:nvPr/>
        </p:nvSpPr>
        <p:spPr>
          <a:xfrm>
            <a:off x="594360" y="914400"/>
            <a:ext cx="6217920" cy="777240"/>
          </a:xfrm>
          <a:prstGeom prst="rect">
            <a:avLst/>
          </a:prstGeom>
          <a:noFill/>
        </p:spPr>
        <p:txBody>
          <a:bodyPr wrap="square" anchor="t" lIns="0" rIns="0" tIns="0" bIns="0">
            <a:spAutoFit/>
          </a:bodyPr>
          <a:lstStyle/>
          <a:p>
            <a:r>
              <a:rPr sz="4400" b="1" i="0">
                <a:solidFill>
                  <a:srgbClr val="FFFFFF"/>
                </a:solidFill>
                <a:latin typeface="Cambria"/>
              </a:rPr>
              <a:t>TotalTech</a:t>
            </a:r>
          </a:p>
        </p:txBody>
      </p:sp>
      <p:sp>
        <p:nvSpPr>
          <p:cNvPr id="8" name="TextBox 7"/>
          <p:cNvSpPr txBox="1"/>
          <p:nvPr/>
        </p:nvSpPr>
        <p:spPr>
          <a:xfrm>
            <a:off x="594360" y="1755648"/>
            <a:ext cx="6309360" cy="594360"/>
          </a:xfrm>
          <a:prstGeom prst="rect">
            <a:avLst/>
          </a:prstGeom>
          <a:noFill/>
        </p:spPr>
        <p:txBody>
          <a:bodyPr wrap="square" anchor="t" lIns="0" rIns="0" tIns="0" bIns="0">
            <a:spAutoFit/>
          </a:bodyPr>
          <a:lstStyle/>
          <a:p>
            <a:r>
              <a:rPr sz="1550" b="1" i="0">
                <a:solidFill>
                  <a:srgbClr val="90CAF9"/>
                </a:solidFill>
                <a:latin typeface="Calibri"/>
              </a:rPr>
              <a:t>“Catálogo actualizado, clientes conectados y administración centralizada”</a:t>
            </a:r>
          </a:p>
        </p:txBody>
      </p:sp>
      <p:sp>
        <p:nvSpPr>
          <p:cNvPr id="9" name="TextBox 8"/>
          <p:cNvSpPr txBox="1"/>
          <p:nvPr/>
        </p:nvSpPr>
        <p:spPr>
          <a:xfrm>
            <a:off x="914400" y="2596896"/>
            <a:ext cx="7498079" cy="256032"/>
          </a:xfrm>
          <a:prstGeom prst="rect">
            <a:avLst/>
          </a:prstGeom>
          <a:noFill/>
        </p:spPr>
        <p:txBody>
          <a:bodyPr wrap="square" anchor="t" lIns="0" rIns="0" tIns="0" bIns="0">
            <a:spAutoFit/>
          </a:bodyPr>
          <a:lstStyle/>
          <a:p>
            <a:r>
              <a:rPr sz="1200" b="1" i="0">
                <a:solidFill>
                  <a:srgbClr val="90CAF9"/>
                </a:solidFill>
                <a:latin typeface="Calibri"/>
              </a:rPr>
              <a:t>Propuesta comercial</a:t>
            </a:r>
          </a:p>
        </p:txBody>
      </p:sp>
      <p:sp>
        <p:nvSpPr>
          <p:cNvPr id="10" name="TextBox 9"/>
          <p:cNvSpPr txBox="1"/>
          <p:nvPr/>
        </p:nvSpPr>
        <p:spPr>
          <a:xfrm>
            <a:off x="777240" y="2889504"/>
            <a:ext cx="7635240" cy="640080"/>
          </a:xfrm>
          <a:prstGeom prst="rect">
            <a:avLst/>
          </a:prstGeom>
          <a:noFill/>
        </p:spPr>
        <p:txBody>
          <a:bodyPr wrap="square" anchor="t" lIns="0" rIns="0" tIns="0" bIns="0">
            <a:spAutoFit/>
          </a:bodyPr>
          <a:lstStyle/>
          <a:p>
            <a:r>
              <a:rPr sz="1250" b="0" i="1">
                <a:solidFill>
                  <a:srgbClr val="FFFFFF"/>
                </a:solidFill>
                <a:latin typeface="Calibri"/>
              </a:rPr>
              <a:t>“TotalTech permite al comercio mantener su catálogo actualizado y al cliente encontrar productos y organizar su selección desde una misma plataforma”.</a:t>
            </a:r>
          </a:p>
        </p:txBody>
      </p:sp>
      <p:sp>
        <p:nvSpPr>
          <p:cNvPr id="11" name="TextBox 10"/>
          <p:cNvSpPr txBox="1"/>
          <p:nvPr/>
        </p:nvSpPr>
        <p:spPr>
          <a:xfrm>
            <a:off x="594360" y="3931920"/>
            <a:ext cx="8001000" cy="822960"/>
          </a:xfrm>
          <a:prstGeom prst="rect">
            <a:avLst/>
          </a:prstGeom>
          <a:noFill/>
        </p:spPr>
        <p:txBody>
          <a:bodyPr wrap="square" anchor="t" lIns="0" rIns="0" tIns="0" bIns="0">
            <a:spAutoFit/>
          </a:bodyPr>
          <a:lstStyle/>
          <a:p>
            <a:pPr>
              <a:spcAft>
                <a:spcPts val="400"/>
              </a:spcAft>
            </a:pPr>
            <a:r>
              <a:rPr sz="1250" b="1" i="0">
                <a:solidFill>
                  <a:srgbClr val="FFFFFF"/>
                </a:solidFill>
                <a:latin typeface="Calibri"/>
              </a:rPr>
              <a:t>Integrantes: Daiana Chinellato, Rocío Condori y Facundo Sola  ·  Grupo 1</a:t>
            </a:r>
          </a:p>
          <a:p>
            <a:r>
              <a:rPr sz="1100" b="0" i="0">
                <a:solidFill>
                  <a:srgbClr val="D8E6F8"/>
                </a:solidFill>
                <a:latin typeface="Calibri"/>
              </a:rPr>
              <a:t>ICES (Instituto Cooperativo de Enseñanza Superior)  ·  Técnico Superior en Desarrollo de Software  ·  Exposición: 23 min (14' + 9' demo)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A"/>
        </a:solidFill>
        <a:effectLst/>
      </p:bgPr>
    </p:bg>
    <p:spTree>
      <p:nvGrpSpPr>
        <p:cNvPr id="1" name=""/>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Por qué elegimos este proyecto</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01 · Elección (1:00) · 2/13</a:t>
            </a:r>
          </a:p>
        </p:txBody>
      </p:sp>
      <p:sp>
        <p:nvSpPr>
          <p:cNvPr id="5" name="Rounded Rectangle 4"/>
          <p:cNvSpPr/>
          <p:nvPr/>
        </p:nvSpPr>
        <p:spPr>
          <a:xfrm>
            <a:off x="411480" y="822960"/>
            <a:ext cx="4041648" cy="196596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Oferta tecnológica dinámica</a:t>
            </a:r>
          </a:p>
        </p:txBody>
      </p:sp>
      <p:sp>
        <p:nvSpPr>
          <p:cNvPr id="8" name="TextBox 7"/>
          <p:cNvSpPr txBox="1"/>
          <p:nvPr/>
        </p:nvSpPr>
        <p:spPr>
          <a:xfrm>
            <a:off x="557784" y="1243584"/>
            <a:ext cx="3767328" cy="1490472"/>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Rubro con cambios frecuentes: </a:t>
            </a:r>
            <a:r>
              <a:rPr sz="1080" b="0" i="0">
                <a:solidFill>
                  <a:srgbClr val="1E293B"/>
                </a:solidFill>
                <a:latin typeface="Calibri"/>
              </a:rPr>
              <a:t>un comercio tecnológico administra notebooks, periféricos y componentes cuyas especificaciones, precios y stock varían constantemente.</a:t>
            </a:r>
          </a:p>
          <a:p>
            <a:pPr algn="l" marL="137160" indent="-137160">
              <a:spcAft>
                <a:spcPts val="500"/>
              </a:spcAft>
              <a:buFont typeface="Arial"/>
              <a:buChar char="•"/>
            </a:pPr>
            <a:r>
              <a:rPr sz="1080" b="1" i="0">
                <a:solidFill>
                  <a:srgbClr val="0F294A"/>
                </a:solidFill>
                <a:latin typeface="Calibri"/>
              </a:rPr>
              <a:t>Necesidad de vidriera digital: </a:t>
            </a:r>
            <a:r>
              <a:rPr sz="1080" b="0" i="0">
                <a:solidFill>
                  <a:srgbClr val="1E293B"/>
                </a:solidFill>
                <a:latin typeface="Calibri"/>
              </a:rPr>
              <a:t>mostrar información técnica clara e imágenes confiables es indispensable para que el comprador evalúe cada equipo antes de decidir.</a:t>
            </a:r>
          </a:p>
        </p:txBody>
      </p:sp>
      <p:sp>
        <p:nvSpPr>
          <p:cNvPr id="9" name="Rounded Rectangle 8"/>
          <p:cNvSpPr/>
          <p:nvPr/>
        </p:nvSpPr>
        <p:spPr>
          <a:xfrm>
            <a:off x="4690872" y="822960"/>
            <a:ext cx="4041648" cy="196596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4818888"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01768"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Dispersión de la información</a:t>
            </a:r>
          </a:p>
        </p:txBody>
      </p:sp>
      <p:sp>
        <p:nvSpPr>
          <p:cNvPr id="12" name="TextBox 11"/>
          <p:cNvSpPr txBox="1"/>
          <p:nvPr/>
        </p:nvSpPr>
        <p:spPr>
          <a:xfrm>
            <a:off x="4837176" y="1243584"/>
            <a:ext cx="3767328" cy="1490472"/>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Canales fragmentados: </a:t>
            </a:r>
            <a:r>
              <a:rPr sz="1080" b="0" i="0">
                <a:solidFill>
                  <a:srgbClr val="1E293B"/>
                </a:solidFill>
                <a:latin typeface="Calibri"/>
              </a:rPr>
              <a:t>cuando el comercio opera con planillas sueltas, mensajes individuales o listas estáticas, el cliente recibe datos incompletos o desactualizados.</a:t>
            </a:r>
          </a:p>
          <a:p>
            <a:pPr algn="l" marL="137160" indent="-137160">
              <a:spcAft>
                <a:spcPts val="500"/>
              </a:spcAft>
              <a:buFont typeface="Arial"/>
              <a:buChar char="•"/>
            </a:pPr>
            <a:r>
              <a:rPr sz="1080" b="1" i="0">
                <a:solidFill>
                  <a:srgbClr val="0F294A"/>
                </a:solidFill>
                <a:latin typeface="Calibri"/>
              </a:rPr>
              <a:t>Fricción operativa: </a:t>
            </a:r>
            <a:r>
              <a:rPr sz="1080" b="0" i="0">
                <a:solidFill>
                  <a:srgbClr val="1E293B"/>
                </a:solidFill>
                <a:latin typeface="Calibri"/>
              </a:rPr>
              <a:t>responder manualmente cada consulta sobre disponibilidad o precio consume tiempo del personal y genera errores en el control de stock.</a:t>
            </a:r>
          </a:p>
        </p:txBody>
      </p:sp>
      <p:sp>
        <p:nvSpPr>
          <p:cNvPr id="13" name="Rounded Rectangle 12"/>
          <p:cNvSpPr/>
          <p:nvPr/>
        </p:nvSpPr>
        <p:spPr>
          <a:xfrm>
            <a:off x="411480" y="2944368"/>
            <a:ext cx="8321040" cy="1847088"/>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39496" y="3081528"/>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22376" y="3035808"/>
            <a:ext cx="7918704" cy="274320"/>
          </a:xfrm>
          <a:prstGeom prst="rect">
            <a:avLst/>
          </a:prstGeom>
          <a:noFill/>
        </p:spPr>
        <p:txBody>
          <a:bodyPr wrap="square" anchor="t" lIns="0" rIns="0" tIns="0" bIns="0">
            <a:spAutoFit/>
          </a:bodyPr>
          <a:lstStyle/>
          <a:p>
            <a:pPr algn="l"/>
            <a:r>
              <a:rPr sz="1300" b="1" i="0">
                <a:solidFill>
                  <a:srgbClr val="0F294A"/>
                </a:solidFill>
                <a:latin typeface="Calibri"/>
              </a:rPr>
              <a:t>Criterio de diseño: resolver un problema concreto sin estadísticas inventadas</a:t>
            </a:r>
          </a:p>
        </p:txBody>
      </p:sp>
      <p:sp>
        <p:nvSpPr>
          <p:cNvPr id="16" name="TextBox 15"/>
          <p:cNvSpPr txBox="1"/>
          <p:nvPr/>
        </p:nvSpPr>
        <p:spPr>
          <a:xfrm>
            <a:off x="557784" y="3364992"/>
            <a:ext cx="8046719" cy="1371600"/>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Diagnóstico directo del dominio: </a:t>
            </a:r>
            <a:r>
              <a:rPr sz="1080" b="0" i="0">
                <a:solidFill>
                  <a:srgbClr val="1E293B"/>
                </a:solidFill>
                <a:latin typeface="Calibri"/>
              </a:rPr>
              <a:t>elegimos este proyecto a partir de la problemática operativa real descrita en el relevamiento del negocio, evitando porcentajes o estadísticas de mercado ficticias.</a:t>
            </a:r>
          </a:p>
          <a:p>
            <a:pPr algn="l" marL="137160" indent="-137160">
              <a:spcAft>
                <a:spcPts val="500"/>
              </a:spcAft>
              <a:buFont typeface="Arial"/>
              <a:buChar char="•"/>
            </a:pPr>
            <a:r>
              <a:rPr sz="1080" b="1" i="0">
                <a:solidFill>
                  <a:srgbClr val="0F294A"/>
                </a:solidFill>
                <a:latin typeface="Calibri"/>
              </a:rPr>
              <a:t>Foco en resultados observables: </a:t>
            </a:r>
            <a:r>
              <a:rPr sz="1080" b="0" i="0">
                <a:solidFill>
                  <a:srgbClr val="1E293B"/>
                </a:solidFill>
                <a:latin typeface="Calibri"/>
              </a:rPr>
              <a:t>priorizamos construir una plataforma donde cada afirmación —desde la consulta pública del catálogo hasta el alta y edición administrativa— pueda comprobarse en el código y en el navegador.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a:extLst>
            <a:ext uri="{FF2B5EF4-FFF2-40B4-BE49-F238E27FC236}">
              <a16:creationId xmlns:a16="http://schemas.microsoft.com/office/drawing/2014/main" id="{E6DE00A0-3AEC-AD72-72B5-9DF810A65A70}"/>
            </a:ext>
          </a:extLst>
        </p:cNvPr>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Propósito del sistema</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02 · Propósito (0:45) · 3/13</a:t>
            </a:r>
          </a:p>
        </p:txBody>
      </p:sp>
      <p:sp>
        <p:nvSpPr>
          <p:cNvPr id="5" name="Rounded Rectangle 4"/>
          <p:cNvSpPr/>
          <p:nvPr/>
        </p:nvSpPr>
        <p:spPr>
          <a:xfrm>
            <a:off x="411480" y="822960"/>
            <a:ext cx="4041648" cy="202996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Para el cliente: consulta ágil y selección</a:t>
            </a:r>
          </a:p>
        </p:txBody>
      </p:sp>
      <p:sp>
        <p:nvSpPr>
          <p:cNvPr id="8" name="TextBox 7"/>
          <p:cNvSpPr txBox="1"/>
          <p:nvPr/>
        </p:nvSpPr>
        <p:spPr>
          <a:xfrm>
            <a:off x="557784" y="1243584"/>
            <a:ext cx="3767328" cy="1554480"/>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Exploración autónoma: </a:t>
            </a:r>
            <a:r>
              <a:rPr sz="1080" b="0" i="0">
                <a:solidFill>
                  <a:srgbClr val="1E293B"/>
                </a:solidFill>
                <a:latin typeface="Calibri"/>
              </a:rPr>
              <a:t>permitir al visitante recorrer el catálogo paginado, buscar por palabra clave y filtrar por categoría, rango de precios y disponibilidad.</a:t>
            </a:r>
          </a:p>
          <a:p>
            <a:pPr algn="l" marL="137160" indent="-137160">
              <a:spcAft>
                <a:spcPts val="500"/>
              </a:spcAft>
              <a:buFont typeface="Arial"/>
              <a:buChar char="•"/>
            </a:pPr>
            <a:r>
              <a:rPr sz="1080" b="1" i="0">
                <a:solidFill>
                  <a:srgbClr val="0F294A"/>
                </a:solidFill>
                <a:latin typeface="Calibri"/>
              </a:rPr>
              <a:t>Información transparente: </a:t>
            </a:r>
            <a:r>
              <a:rPr sz="1080" b="0" i="0">
                <a:solidFill>
                  <a:srgbClr val="1E293B"/>
                </a:solidFill>
                <a:latin typeface="Calibri"/>
              </a:rPr>
              <a:t>consultar en cada ficha la imagen del producto, su descripción técnica, el precio vigente y las unidades disponibles antes de armar su carrito.</a:t>
            </a:r>
          </a:p>
        </p:txBody>
      </p:sp>
      <p:sp>
        <p:nvSpPr>
          <p:cNvPr id="9" name="Rounded Rectangle 8"/>
          <p:cNvSpPr/>
          <p:nvPr/>
        </p:nvSpPr>
        <p:spPr>
          <a:xfrm>
            <a:off x="4690872" y="822960"/>
            <a:ext cx="4041648" cy="202996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4818888"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01768"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Para el comercio: control sobre la oferta</a:t>
            </a:r>
          </a:p>
        </p:txBody>
      </p:sp>
      <p:sp>
        <p:nvSpPr>
          <p:cNvPr id="12" name="TextBox 11"/>
          <p:cNvSpPr txBox="1"/>
          <p:nvPr/>
        </p:nvSpPr>
        <p:spPr>
          <a:xfrm>
            <a:off x="4837176" y="1243584"/>
            <a:ext cx="3767328" cy="1554480"/>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Gestión centralizada: </a:t>
            </a:r>
            <a:r>
              <a:rPr sz="1080" b="0" i="0">
                <a:solidFill>
                  <a:srgbClr val="1E293B"/>
                </a:solidFill>
                <a:latin typeface="Calibri"/>
              </a:rPr>
              <a:t>dar al administrador control directo sobre el alta, la edición y la depuración de productos, categorías y proveedores desde un panel protegido.</a:t>
            </a:r>
          </a:p>
          <a:p>
            <a:pPr algn="l" marL="137160" indent="-137160">
              <a:spcAft>
                <a:spcPts val="500"/>
              </a:spcAft>
              <a:buFont typeface="Arial"/>
              <a:buChar char="•"/>
            </a:pPr>
            <a:r>
              <a:rPr sz="1080" b="1" i="0">
                <a:solidFill>
                  <a:srgbClr val="0F294A"/>
                </a:solidFill>
                <a:latin typeface="Calibri"/>
              </a:rPr>
              <a:t>Consistencia de datos: </a:t>
            </a:r>
            <a:r>
              <a:rPr sz="1080" b="0" i="0">
                <a:solidFill>
                  <a:srgbClr val="1E293B"/>
                </a:solidFill>
                <a:latin typeface="Calibri"/>
              </a:rPr>
              <a:t>mantener actualizados los precios, el stock y las imágenes locales validadas, evitando diferencias entre lo administrado y lo publicado.</a:t>
            </a:r>
          </a:p>
        </p:txBody>
      </p:sp>
      <p:sp>
        <p:nvSpPr>
          <p:cNvPr id="13" name="Rounded Rectangle 12"/>
          <p:cNvSpPr/>
          <p:nvPr/>
        </p:nvSpPr>
        <p:spPr>
          <a:xfrm>
            <a:off x="411480" y="3017520"/>
            <a:ext cx="8321040" cy="1773936"/>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39496" y="3154679"/>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22376" y="3108960"/>
            <a:ext cx="7918704" cy="274320"/>
          </a:xfrm>
          <a:prstGeom prst="rect">
            <a:avLst/>
          </a:prstGeom>
          <a:noFill/>
        </p:spPr>
        <p:txBody>
          <a:bodyPr wrap="square" anchor="t" lIns="0" rIns="0" tIns="0" bIns="0">
            <a:spAutoFit/>
          </a:bodyPr>
          <a:lstStyle/>
          <a:p>
            <a:pPr algn="l"/>
            <a:r>
              <a:rPr sz="1300" b="1" i="0">
                <a:solidFill>
                  <a:srgbClr val="0F294A"/>
                </a:solidFill>
                <a:latin typeface="Calibri"/>
              </a:rPr>
              <a:t>Propuesta comercial unificada</a:t>
            </a:r>
          </a:p>
        </p:txBody>
      </p:sp>
      <p:sp>
        <p:nvSpPr>
          <p:cNvPr id="16" name="TextBox 15"/>
          <p:cNvSpPr txBox="1"/>
          <p:nvPr/>
        </p:nvSpPr>
        <p:spPr>
          <a:xfrm>
            <a:off x="557784" y="3438144"/>
            <a:ext cx="8046719" cy="1298448"/>
          </a:xfrm>
          <a:prstGeom prst="rect">
            <a:avLst/>
          </a:prstGeom>
          <a:noFill/>
        </p:spPr>
        <p:txBody>
          <a:bodyPr wrap="square" anchor="t" lIns="0" rIns="0" tIns="0" bIns="0">
            <a:spAutoFit/>
          </a:bodyPr>
          <a:lstStyle/>
          <a:p>
            <a:pPr algn="l" marL="137160" indent="-137160">
              <a:spcAft>
                <a:spcPts val="500"/>
              </a:spcAft>
              <a:buFont typeface="Arial"/>
              <a:buChar char="•"/>
            </a:pPr>
            <a:r>
              <a:rPr sz="1100" b="1" i="0">
                <a:solidFill>
                  <a:srgbClr val="0F294A"/>
                </a:solidFill>
                <a:latin typeface="Calibri"/>
              </a:rPr>
              <a:t>Definición comercial: </a:t>
            </a:r>
            <a:r>
              <a:rPr sz="1100" b="0" i="0">
                <a:solidFill>
                  <a:srgbClr val="1E293B"/>
                </a:solidFill>
                <a:latin typeface="Calibri"/>
              </a:rPr>
              <a:t>“TotalTech permite al comercio mantener su catálogo actualizado y al cliente encontrar productos y organizar su selección desde una misma plataforma”.</a:t>
            </a:r>
          </a:p>
          <a:p>
            <a:pPr algn="l" marL="137160" indent="-137160">
              <a:spcAft>
                <a:spcPts val="500"/>
              </a:spcAft>
              <a:buFont typeface="Arial"/>
              <a:buChar char="•"/>
            </a:pPr>
            <a:r>
              <a:rPr sz="1100" b="1" i="0">
                <a:solidFill>
                  <a:srgbClr val="0F294A"/>
                </a:solidFill>
                <a:latin typeface="Calibri"/>
              </a:rPr>
              <a:t>Criterio rector: </a:t>
            </a:r>
            <a:r>
              <a:rPr sz="1100" b="0" i="0">
                <a:solidFill>
                  <a:srgbClr val="1E293B"/>
                </a:solidFill>
                <a:latin typeface="Calibri"/>
              </a:rPr>
              <a:t>integrar en una sola aplicación web la vidriera pública de consulta y el mantenimiento administrativo respaldado por API y base de datos relacional.</a:t>
            </a:r>
          </a:p>
        </p:txBody>
      </p:sp>
    </p:spTree>
    <p:extLst>
      <p:ext uri="{BB962C8B-B14F-4D97-AF65-F5344CB8AC3E}">
        <p14:creationId xmlns:p14="http://schemas.microsoft.com/office/powerpoint/2010/main" val="235151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a:extLst>
            <a:ext uri="{FF2B5EF4-FFF2-40B4-BE49-F238E27FC236}">
              <a16:creationId xmlns:a16="http://schemas.microsoft.com/office/drawing/2014/main" id="{08B381A3-B37B-3A27-FAFF-40BA154248CB}"/>
            </a:ext>
          </a:extLst>
        </p:cNvPr>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El problema y la oportunidad</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03 · Problema (1:00) · 4/13</a:t>
            </a:r>
          </a:p>
        </p:txBody>
      </p:sp>
      <p:sp>
        <p:nvSpPr>
          <p:cNvPr id="5" name="Rounded Rectangle 4"/>
          <p:cNvSpPr/>
          <p:nvPr/>
        </p:nvSpPr>
        <p:spPr>
          <a:xfrm>
            <a:off x="411480" y="822960"/>
            <a:ext cx="4041648" cy="1874519"/>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Situación actual (El problema)</a:t>
            </a:r>
          </a:p>
        </p:txBody>
      </p:sp>
      <p:sp>
        <p:nvSpPr>
          <p:cNvPr id="8" name="TextBox 7"/>
          <p:cNvSpPr txBox="1"/>
          <p:nvPr/>
        </p:nvSpPr>
        <p:spPr>
          <a:xfrm>
            <a:off x="557784" y="1243584"/>
            <a:ext cx="3767328" cy="1399031"/>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Información desactualizada: </a:t>
            </a:r>
            <a:r>
              <a:rPr sz="1080" b="0" i="0">
                <a:solidFill>
                  <a:srgbClr val="1E293B"/>
                </a:solidFill>
                <a:latin typeface="Calibri"/>
              </a:rPr>
              <a:t>precios y existencias que quedan desfasados cuando se administran en archivos separados.</a:t>
            </a:r>
          </a:p>
          <a:p>
            <a:pPr algn="l" marL="137160" indent="-137160">
              <a:spcAft>
                <a:spcPts val="400"/>
              </a:spcAft>
              <a:buFont typeface="Arial"/>
              <a:buChar char="•"/>
            </a:pPr>
            <a:r>
              <a:rPr sz="1080" b="1" i="0">
                <a:solidFill>
                  <a:srgbClr val="0F294A"/>
                </a:solidFill>
                <a:latin typeface="Calibri"/>
              </a:rPr>
              <a:t>Búsqueda dificultosa: </a:t>
            </a:r>
            <a:r>
              <a:rPr sz="1080" b="0" i="0">
                <a:solidFill>
                  <a:srgbClr val="1E293B"/>
                </a:solidFill>
                <a:latin typeface="Calibri"/>
              </a:rPr>
              <a:t>el comprador no puede filtrar rápido por presupuesto, categoría o stock real.</a:t>
            </a:r>
          </a:p>
          <a:p>
            <a:pPr algn="l" marL="137160" indent="-137160">
              <a:spcAft>
                <a:spcPts val="400"/>
              </a:spcAft>
              <a:buFont typeface="Arial"/>
              <a:buChar char="•"/>
            </a:pPr>
            <a:r>
              <a:rPr sz="1080" b="1" i="0">
                <a:solidFill>
                  <a:srgbClr val="0F294A"/>
                </a:solidFill>
                <a:latin typeface="Calibri"/>
              </a:rPr>
              <a:t>Mantenimiento manual: </a:t>
            </a:r>
            <a:r>
              <a:rPr sz="1080" b="0" i="0">
                <a:solidFill>
                  <a:srgbClr val="1E293B"/>
                </a:solidFill>
                <a:latin typeface="Calibri"/>
              </a:rPr>
              <a:t>alta propensión a errores al actualizar el catálogo sin validaciones.</a:t>
            </a:r>
          </a:p>
        </p:txBody>
      </p:sp>
      <p:sp>
        <p:nvSpPr>
          <p:cNvPr id="9" name="Rounded Rectangle 8"/>
          <p:cNvSpPr/>
          <p:nvPr/>
        </p:nvSpPr>
        <p:spPr>
          <a:xfrm>
            <a:off x="4690872" y="822960"/>
            <a:ext cx="4041648" cy="1874519"/>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4818888"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01768"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Oportunidad comercial</a:t>
            </a:r>
          </a:p>
        </p:txBody>
      </p:sp>
      <p:sp>
        <p:nvSpPr>
          <p:cNvPr id="12" name="TextBox 11"/>
          <p:cNvSpPr txBox="1"/>
          <p:nvPr/>
        </p:nvSpPr>
        <p:spPr>
          <a:xfrm>
            <a:off x="4837176" y="1243584"/>
            <a:ext cx="3767328" cy="1399031"/>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Digitalización especializada: </a:t>
            </a:r>
            <a:r>
              <a:rPr sz="1080" b="0" i="0">
                <a:solidFill>
                  <a:srgbClr val="1E293B"/>
                </a:solidFill>
                <a:latin typeface="Calibri"/>
              </a:rPr>
              <a:t>contar con una tienda web pensada para tecnología, con fichas claras y categorías.</a:t>
            </a:r>
          </a:p>
          <a:p>
            <a:pPr algn="l" marL="137160" indent="-137160">
              <a:spcAft>
                <a:spcPts val="400"/>
              </a:spcAft>
              <a:buFont typeface="Arial"/>
              <a:buChar char="•"/>
            </a:pPr>
            <a:r>
              <a:rPr sz="1080" b="1" i="0">
                <a:solidFill>
                  <a:srgbClr val="0F294A"/>
                </a:solidFill>
                <a:latin typeface="Calibri"/>
              </a:rPr>
              <a:t>Autogestión del cliente: </a:t>
            </a:r>
            <a:r>
              <a:rPr sz="1080" b="0" i="0">
                <a:solidFill>
                  <a:srgbClr val="1E293B"/>
                </a:solidFill>
                <a:latin typeface="Calibri"/>
              </a:rPr>
              <a:t>permitir que el usuario filtre opciones y arme su selección sin esperar atención manual.</a:t>
            </a:r>
          </a:p>
          <a:p>
            <a:pPr algn="l" marL="137160" indent="-137160">
              <a:spcAft>
                <a:spcPts val="400"/>
              </a:spcAft>
              <a:buFont typeface="Arial"/>
              <a:buChar char="•"/>
            </a:pPr>
            <a:r>
              <a:rPr sz="1080" b="1" i="0">
                <a:solidFill>
                  <a:srgbClr val="0F294A"/>
                </a:solidFill>
                <a:latin typeface="Calibri"/>
              </a:rPr>
              <a:t>Base escalable: </a:t>
            </a:r>
            <a:r>
              <a:rPr sz="1080" b="0" i="0">
                <a:solidFill>
                  <a:srgbClr val="1E293B"/>
                </a:solidFill>
                <a:latin typeface="Calibri"/>
              </a:rPr>
              <a:t>ordenar primero el catálogo y el carrito sobre una arquitectura en capas lista para crecer.</a:t>
            </a:r>
          </a:p>
        </p:txBody>
      </p:sp>
      <p:sp>
        <p:nvSpPr>
          <p:cNvPr id="13" name="Rounded Rectangle 12"/>
          <p:cNvSpPr/>
          <p:nvPr/>
        </p:nvSpPr>
        <p:spPr>
          <a:xfrm>
            <a:off x="411480" y="2852928"/>
            <a:ext cx="8321040" cy="1938528"/>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39496" y="2990088"/>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22376" y="2944368"/>
            <a:ext cx="7918704" cy="274320"/>
          </a:xfrm>
          <a:prstGeom prst="rect">
            <a:avLst/>
          </a:prstGeom>
          <a:noFill/>
        </p:spPr>
        <p:txBody>
          <a:bodyPr wrap="square" anchor="t" lIns="0" rIns="0" tIns="0" bIns="0">
            <a:spAutoFit/>
          </a:bodyPr>
          <a:lstStyle/>
          <a:p>
            <a:pPr algn="l"/>
            <a:r>
              <a:rPr sz="1300" b="1" i="0">
                <a:solidFill>
                  <a:srgbClr val="0F294A"/>
                </a:solidFill>
                <a:latin typeface="Calibri"/>
              </a:rPr>
              <a:t>Cómo responde TotalTech a cada dolor identificado</a:t>
            </a:r>
          </a:p>
        </p:txBody>
      </p:sp>
      <p:sp>
        <p:nvSpPr>
          <p:cNvPr id="16" name="TextBox 15"/>
          <p:cNvSpPr txBox="1"/>
          <p:nvPr/>
        </p:nvSpPr>
        <p:spPr>
          <a:xfrm>
            <a:off x="557784" y="3273552"/>
            <a:ext cx="8046719" cy="1463040"/>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Frente a la información desactualizada → ABM administrativo directo: </a:t>
            </a:r>
            <a:r>
              <a:rPr sz="1080" b="0" i="0">
                <a:solidFill>
                  <a:srgbClr val="1E293B"/>
                </a:solidFill>
                <a:latin typeface="Calibri"/>
              </a:rPr>
              <a:t>los cambios de precio, descripción, imagen o stock impactan de inmediato en SQL Server y en el catálogo público.</a:t>
            </a:r>
          </a:p>
          <a:p>
            <a:pPr algn="l" marL="137160" indent="-137160">
              <a:spcAft>
                <a:spcPts val="400"/>
              </a:spcAft>
              <a:buFont typeface="Arial"/>
              <a:buChar char="•"/>
            </a:pPr>
            <a:r>
              <a:rPr sz="1080" b="1" i="0">
                <a:solidFill>
                  <a:srgbClr val="0F294A"/>
                </a:solidFill>
                <a:latin typeface="Calibri"/>
              </a:rPr>
              <a:t>Frente a la búsqueda dificultosa → Catálogo paginado con filtros combinables: </a:t>
            </a:r>
            <a:r>
              <a:rPr sz="1080" b="0" i="0">
                <a:solidFill>
                  <a:srgbClr val="1E293B"/>
                </a:solidFill>
                <a:latin typeface="Calibri"/>
              </a:rPr>
              <a:t>consulta por texto libre, categoría, precio mínimo/máximo y opción 'Sólo disponibles', con recuperación ante búsquedas vacías.</a:t>
            </a:r>
          </a:p>
          <a:p>
            <a:pPr algn="l" marL="137160" indent="-137160">
              <a:spcAft>
                <a:spcPts val="400"/>
              </a:spcAft>
              <a:buFont typeface="Arial"/>
              <a:buChar char="•"/>
            </a:pPr>
            <a:r>
              <a:rPr sz="1080" b="1" i="0">
                <a:solidFill>
                  <a:srgbClr val="0F294A"/>
                </a:solidFill>
                <a:latin typeface="Calibri"/>
              </a:rPr>
              <a:t>Frente a la selección desordenada → Carrito activo por usuario: </a:t>
            </a:r>
            <a:r>
              <a:rPr sz="1080" b="0" i="0">
                <a:solidFill>
                  <a:srgbClr val="1E293B"/>
                </a:solidFill>
                <a:latin typeface="Calibri"/>
              </a:rPr>
              <a:t>el cliente autenticado reúne productos, ajusta cantidades con control de stock y consulta su total actualizado.</a:t>
            </a:r>
          </a:p>
        </p:txBody>
      </p:sp>
    </p:spTree>
    <p:extLst>
      <p:ext uri="{BB962C8B-B14F-4D97-AF65-F5344CB8AC3E}">
        <p14:creationId xmlns:p14="http://schemas.microsoft.com/office/powerpoint/2010/main" val="1294924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A"/>
        </a:solidFill>
        <a:effectLst/>
      </p:bgPr>
    </p:bg>
    <p:spTree>
      <p:nvGrpSpPr>
        <p:cNvPr id="1" name="">
          <a:extLst>
            <a:ext uri="{FF2B5EF4-FFF2-40B4-BE49-F238E27FC236}">
              <a16:creationId xmlns:a16="http://schemas.microsoft.com/office/drawing/2014/main" id="{1413EB88-42CB-E133-F5C4-223DF7596D61}"/>
            </a:ext>
          </a:extLst>
        </p:cNvPr>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La solución y sus usuarios</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04 · Usuarios (1:00) · 5/13</a:t>
            </a:r>
          </a:p>
        </p:txBody>
      </p:sp>
      <p:sp>
        <p:nvSpPr>
          <p:cNvPr id="5" name="Rounded Rectangle 4"/>
          <p:cNvSpPr/>
          <p:nvPr/>
        </p:nvSpPr>
        <p:spPr>
          <a:xfrm>
            <a:off x="411480" y="822960"/>
            <a:ext cx="4041648" cy="285292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Perspectiva del Cliente</a:t>
            </a:r>
          </a:p>
        </p:txBody>
      </p:sp>
      <p:sp>
        <p:nvSpPr>
          <p:cNvPr id="8" name="TextBox 7"/>
          <p:cNvSpPr txBox="1"/>
          <p:nvPr/>
        </p:nvSpPr>
        <p:spPr>
          <a:xfrm>
            <a:off x="557784" y="1243584"/>
            <a:ext cx="3767328" cy="2377440"/>
          </a:xfrm>
          <a:prstGeom prst="rect">
            <a:avLst/>
          </a:prstGeom>
          <a:noFill/>
        </p:spPr>
        <p:txBody>
          <a:bodyPr wrap="square" anchor="t" lIns="0" rIns="0" tIns="0" bIns="0">
            <a:spAutoFit/>
          </a:bodyPr>
          <a:lstStyle/>
          <a:p>
            <a:pPr algn="l" marL="137160" indent="-137160">
              <a:spcAft>
                <a:spcPts val="400"/>
              </a:spcAft>
              <a:buFont typeface="Arial"/>
              <a:buChar char="•"/>
            </a:pPr>
            <a:r>
              <a:rPr sz="1060" b="1" i="0">
                <a:solidFill>
                  <a:srgbClr val="0F294A"/>
                </a:solidFill>
                <a:latin typeface="Calibri"/>
              </a:rPr>
              <a:t>Perfil e interés: </a:t>
            </a:r>
            <a:r>
              <a:rPr sz="1060" b="0" i="0">
                <a:solidFill>
                  <a:srgbClr val="1E293B"/>
                </a:solidFill>
                <a:latin typeface="Calibri"/>
              </a:rPr>
              <a:t>visitante o usuario registrado que busca encontrar tecnología rápido, verificar stock real y organizar su compra desde escritorio o móvil.</a:t>
            </a:r>
          </a:p>
          <a:p>
            <a:pPr algn="l" marL="137160" indent="-137160">
              <a:spcAft>
                <a:spcPts val="400"/>
              </a:spcAft>
              <a:buFont typeface="Arial"/>
              <a:buChar char="•"/>
            </a:pPr>
            <a:r>
              <a:rPr sz="1060" b="1" i="0">
                <a:solidFill>
                  <a:srgbClr val="0F294A"/>
                </a:solidFill>
                <a:latin typeface="Calibri"/>
              </a:rPr>
              <a:t>Explorar y filtrar: </a:t>
            </a:r>
            <a:r>
              <a:rPr sz="1060" b="0" i="0">
                <a:solidFill>
                  <a:srgbClr val="1E293B"/>
                </a:solidFill>
                <a:latin typeface="Calibri"/>
              </a:rPr>
              <a:t>acceso público al catálogo paginado, búsqueda por texto, filtros por categoría y rango de precios.</a:t>
            </a:r>
          </a:p>
          <a:p>
            <a:pPr algn="l" marL="137160" indent="-137160">
              <a:spcAft>
                <a:spcPts val="400"/>
              </a:spcAft>
              <a:buFont typeface="Arial"/>
              <a:buChar char="•"/>
            </a:pPr>
            <a:r>
              <a:rPr sz="1060" b="1" i="0">
                <a:solidFill>
                  <a:srgbClr val="0F294A"/>
                </a:solidFill>
                <a:latin typeface="Calibri"/>
              </a:rPr>
              <a:t>Consultar ficha: </a:t>
            </a:r>
            <a:r>
              <a:rPr sz="1060" b="0" i="0">
                <a:solidFill>
                  <a:srgbClr val="1E293B"/>
                </a:solidFill>
                <a:latin typeface="Calibri"/>
              </a:rPr>
              <a:t>revisión de imagen, descripción, categoría, precio unitario y disponibilidad del producto.</a:t>
            </a:r>
          </a:p>
          <a:p>
            <a:pPr algn="l" marL="137160" indent="-137160">
              <a:spcAft>
                <a:spcPts val="400"/>
              </a:spcAft>
              <a:buFont typeface="Arial"/>
              <a:buChar char="•"/>
            </a:pPr>
            <a:r>
              <a:rPr sz="1060" b="1" i="0">
                <a:solidFill>
                  <a:srgbClr val="0F294A"/>
                </a:solidFill>
                <a:latin typeface="Calibri"/>
              </a:rPr>
              <a:t>Organizar selección: </a:t>
            </a:r>
            <a:r>
              <a:rPr sz="1060" b="0" i="0">
                <a:solidFill>
                  <a:srgbClr val="1E293B"/>
                </a:solidFill>
                <a:latin typeface="Calibri"/>
              </a:rPr>
              <a:t>registro e inicio de sesión para agregar ítems al carrito, cambiar cantidades y ver totales.</a:t>
            </a:r>
          </a:p>
        </p:txBody>
      </p:sp>
      <p:sp>
        <p:nvSpPr>
          <p:cNvPr id="9" name="Rounded Rectangle 8"/>
          <p:cNvSpPr/>
          <p:nvPr/>
        </p:nvSpPr>
        <p:spPr>
          <a:xfrm>
            <a:off x="4690872" y="822960"/>
            <a:ext cx="4041648" cy="2852928"/>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4818888"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001768" y="914400"/>
            <a:ext cx="3639312" cy="274320"/>
          </a:xfrm>
          <a:prstGeom prst="rect">
            <a:avLst/>
          </a:prstGeom>
          <a:noFill/>
        </p:spPr>
        <p:txBody>
          <a:bodyPr wrap="square" anchor="t" lIns="0" rIns="0" tIns="0" bIns="0">
            <a:spAutoFit/>
          </a:bodyPr>
          <a:lstStyle/>
          <a:p>
            <a:pPr algn="l"/>
            <a:r>
              <a:rPr sz="1300" b="1" i="0">
                <a:solidFill>
                  <a:srgbClr val="0F294A"/>
                </a:solidFill>
                <a:latin typeface="Calibri"/>
              </a:rPr>
              <a:t>Perspectiva del Administrador</a:t>
            </a:r>
          </a:p>
        </p:txBody>
      </p:sp>
      <p:sp>
        <p:nvSpPr>
          <p:cNvPr id="12" name="TextBox 11"/>
          <p:cNvSpPr txBox="1"/>
          <p:nvPr/>
        </p:nvSpPr>
        <p:spPr>
          <a:xfrm>
            <a:off x="4837176" y="1243584"/>
            <a:ext cx="3767328" cy="2377440"/>
          </a:xfrm>
          <a:prstGeom prst="rect">
            <a:avLst/>
          </a:prstGeom>
          <a:noFill/>
        </p:spPr>
        <p:txBody>
          <a:bodyPr wrap="square" anchor="t" lIns="0" rIns="0" tIns="0" bIns="0">
            <a:spAutoFit/>
          </a:bodyPr>
          <a:lstStyle/>
          <a:p>
            <a:pPr algn="l" marL="137160" indent="-137160">
              <a:spcAft>
                <a:spcPts val="400"/>
              </a:spcAft>
              <a:buFont typeface="Arial"/>
              <a:buChar char="•"/>
            </a:pPr>
            <a:r>
              <a:rPr sz="1060" b="1" i="0">
                <a:solidFill>
                  <a:srgbClr val="0F294A"/>
                </a:solidFill>
                <a:latin typeface="Calibri"/>
              </a:rPr>
              <a:t>Perfil e interés: </a:t>
            </a:r>
            <a:r>
              <a:rPr sz="1060" b="0" i="0">
                <a:solidFill>
                  <a:srgbClr val="1E293B"/>
                </a:solidFill>
                <a:latin typeface="Calibri"/>
              </a:rPr>
              <a:t>responsable del comercio que necesita centralizar el mantenimiento de la oferta, cuidar la integridad y separar permisos.</a:t>
            </a:r>
          </a:p>
          <a:p>
            <a:pPr algn="l" marL="137160" indent="-137160">
              <a:spcAft>
                <a:spcPts val="400"/>
              </a:spcAft>
              <a:buFont typeface="Arial"/>
              <a:buChar char="•"/>
            </a:pPr>
            <a:r>
              <a:rPr sz="1060" b="1" i="0">
                <a:solidFill>
                  <a:srgbClr val="0F294A"/>
                </a:solidFill>
                <a:latin typeface="Calibri"/>
              </a:rPr>
              <a:t>Mantener el catálogo: </a:t>
            </a:r>
            <a:r>
              <a:rPr sz="1060" b="0" i="0">
                <a:solidFill>
                  <a:srgbClr val="1E293B"/>
                </a:solidFill>
                <a:latin typeface="Calibri"/>
              </a:rPr>
              <a:t>creación, edición y eliminación permitida de productos desde /Productos con rol Admin.</a:t>
            </a:r>
          </a:p>
          <a:p>
            <a:pPr algn="l" marL="137160" indent="-137160">
              <a:spcAft>
                <a:spcPts val="400"/>
              </a:spcAft>
              <a:buFont typeface="Arial"/>
              <a:buChar char="•"/>
            </a:pPr>
            <a:r>
              <a:rPr sz="1060" b="1" i="0">
                <a:solidFill>
                  <a:srgbClr val="0F294A"/>
                </a:solidFill>
                <a:latin typeface="Calibri"/>
              </a:rPr>
              <a:t>Administrar imágenes y stock: </a:t>
            </a:r>
            <a:r>
              <a:rPr sz="1060" b="0" i="0">
                <a:solidFill>
                  <a:srgbClr val="1E293B"/>
                </a:solidFill>
                <a:latin typeface="Calibri"/>
              </a:rPr>
              <a:t>actualización de precio, existencias e imagen local validada (JPG, PNG o WebP hasta 5 MB).</a:t>
            </a:r>
          </a:p>
          <a:p>
            <a:pPr algn="l" marL="137160" indent="-137160">
              <a:spcAft>
                <a:spcPts val="400"/>
              </a:spcAft>
              <a:buFont typeface="Arial"/>
              <a:buChar char="•"/>
            </a:pPr>
            <a:r>
              <a:rPr sz="1060" b="1" i="0">
                <a:solidFill>
                  <a:srgbClr val="0F294A"/>
                </a:solidFill>
                <a:latin typeface="Calibri"/>
              </a:rPr>
              <a:t>Gestionar catálogos base: </a:t>
            </a:r>
            <a:r>
              <a:rPr sz="1060" b="0" i="0">
                <a:solidFill>
                  <a:srgbClr val="1E293B"/>
                </a:solidFill>
                <a:latin typeface="Calibri"/>
              </a:rPr>
              <a:t>administración de categorías y proveedores activos requeridos para publicar cada producto.</a:t>
            </a:r>
          </a:p>
        </p:txBody>
      </p:sp>
      <p:sp>
        <p:nvSpPr>
          <p:cNvPr id="13" name="Rounded Rectangle 12"/>
          <p:cNvSpPr/>
          <p:nvPr/>
        </p:nvSpPr>
        <p:spPr>
          <a:xfrm>
            <a:off x="411480" y="3822191"/>
            <a:ext cx="8321040" cy="987552"/>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39496" y="3959352"/>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22376" y="3913631"/>
            <a:ext cx="7918704" cy="274320"/>
          </a:xfrm>
          <a:prstGeom prst="rect">
            <a:avLst/>
          </a:prstGeom>
          <a:noFill/>
        </p:spPr>
        <p:txBody>
          <a:bodyPr wrap="square" anchor="t" lIns="0" rIns="0" tIns="0" bIns="0">
            <a:spAutoFit/>
          </a:bodyPr>
          <a:lstStyle/>
          <a:p>
            <a:pPr algn="l"/>
            <a:r>
              <a:rPr sz="1250" b="1" i="0">
                <a:solidFill>
                  <a:srgbClr val="0F294A"/>
                </a:solidFill>
                <a:latin typeface="Calibri"/>
              </a:rPr>
              <a:t>Fusión de Funciones principales e Interesados (Stakeholders)</a:t>
            </a:r>
          </a:p>
        </p:txBody>
      </p:sp>
      <p:sp>
        <p:nvSpPr>
          <p:cNvPr id="16" name="TextBox 15"/>
          <p:cNvSpPr txBox="1"/>
          <p:nvPr/>
        </p:nvSpPr>
        <p:spPr>
          <a:xfrm>
            <a:off x="557784" y="4242816"/>
            <a:ext cx="8046719" cy="512064"/>
          </a:xfrm>
          <a:prstGeom prst="rect">
            <a:avLst/>
          </a:prstGeom>
          <a:noFill/>
        </p:spPr>
        <p:txBody>
          <a:bodyPr wrap="square" anchor="t" lIns="0" rIns="0" tIns="0" bIns="0">
            <a:spAutoFit/>
          </a:bodyPr>
          <a:lstStyle/>
          <a:p>
            <a:pPr algn="l">
              <a:spcAft>
                <a:spcPts val="200"/>
              </a:spcAft>
            </a:pPr>
            <a:r>
              <a:rPr sz="1060" b="1" i="0">
                <a:solidFill>
                  <a:srgbClr val="0F294A"/>
                </a:solidFill>
                <a:latin typeface="Calibri"/>
              </a:rPr>
              <a:t>Convergencia operativa: </a:t>
            </a:r>
            <a:r>
              <a:rPr sz="1060" b="0" i="0">
                <a:solidFill>
                  <a:srgbClr val="1E293B"/>
                </a:solidFill>
                <a:latin typeface="Calibri"/>
              </a:rPr>
              <a:t>el relevamiento contempla además a Fundador/Ejecutivos, Proveedores, Atención al cliente, Socios logísticos y Equipo de desarrollo; en la plataforma actual sus flujos operativos convergen en las vistas y permisos de Cliente y Administrador.</a:t>
            </a:r>
          </a:p>
        </p:txBody>
      </p:sp>
    </p:spTree>
    <p:extLst>
      <p:ext uri="{BB962C8B-B14F-4D97-AF65-F5344CB8AC3E}">
        <p14:creationId xmlns:p14="http://schemas.microsoft.com/office/powerpoint/2010/main" val="271312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0F5FA"/>
        </a:solidFill>
        <a:effectLst/>
      </p:bgPr>
    </p:bg>
    <p:spTree>
      <p:nvGrpSpPr>
        <p:cNvPr id="1" name=""/>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050" b="1" i="0">
                <a:solidFill>
                  <a:srgbClr val="0F294A"/>
                </a:solidFill>
                <a:latin typeface="Cambria"/>
              </a:rPr>
              <a:t>Cinco requerimientos funcionales implementados</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05 · 5 RF (1:15) · 6/13</a:t>
            </a:r>
          </a:p>
        </p:txBody>
      </p:sp>
      <p:sp>
        <p:nvSpPr>
          <p:cNvPr id="5" name="Rounded Rectangle 4"/>
          <p:cNvSpPr/>
          <p:nvPr/>
        </p:nvSpPr>
        <p:spPr>
          <a:xfrm>
            <a:off x="411480" y="786384"/>
            <a:ext cx="8321040" cy="548640"/>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23544"/>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31520" y="859536"/>
            <a:ext cx="7863840" cy="402336"/>
          </a:xfrm>
          <a:prstGeom prst="rect">
            <a:avLst/>
          </a:prstGeom>
          <a:noFill/>
        </p:spPr>
        <p:txBody>
          <a:bodyPr wrap="square" anchor="t" lIns="0" rIns="0" tIns="0" bIns="0">
            <a:spAutoFit/>
          </a:bodyPr>
          <a:lstStyle/>
          <a:p>
            <a:r>
              <a:rPr sz="1080" b="1" i="0">
                <a:solidFill>
                  <a:srgbClr val="0F294A"/>
                </a:solidFill>
                <a:latin typeface="Calibri"/>
              </a:rPr>
              <a:t>Alcance de la selección: </a:t>
            </a:r>
            <a:r>
              <a:rPr sz="1080" b="0" i="0">
                <a:solidFill>
                  <a:srgbClr val="1E293B"/>
                </a:solidFill>
                <a:latin typeface="Calibri"/>
              </a:rPr>
              <a:t>son cinco requerimientos funcionales concretos derivados de los grupos documentales originales (Sección 5.1), no cinco grupos completos implementados.</a:t>
            </a:r>
          </a:p>
        </p:txBody>
      </p:sp>
      <p:graphicFrame>
        <p:nvGraphicFramePr>
          <p:cNvPr id="8" name="Table 7"/>
          <p:cNvGraphicFramePr>
            <a:graphicFrameLocks noGrp="1"/>
          </p:cNvGraphicFramePr>
          <p:nvPr/>
        </p:nvGraphicFramePr>
        <p:xfrm>
          <a:off x="411480" y="1463040"/>
          <a:ext cx="8321040" cy="3236976"/>
        </p:xfrm>
        <a:graphic>
          <a:graphicData uri="http://schemas.openxmlformats.org/drawingml/2006/table">
            <a:tbl>
              <a:tblPr firstRow="1" bandRow="1">
                <a:tableStyleId>{5C22544A-7EE6-4342-B048-85BDC9FD1C3A}</a:tableStyleId>
              </a:tblPr>
              <a:tblGrid>
                <a:gridCol w="2240280"/>
                <a:gridCol w="2148840"/>
                <a:gridCol w="3931920"/>
              </a:tblGrid>
              <a:tr h="402336">
                <a:tc>
                  <a:txBody>
                    <a:bodyPr wrap="square"/>
                    <a:lstStyle/>
                    <a:p>
                      <a:pPr algn="l"/>
                      <a:r>
                        <a:rPr sz="1100" b="1" i="0">
                          <a:solidFill>
                            <a:srgbClr val="FFFFFF"/>
                          </a:solidFill>
                          <a:latin typeface="Calibri"/>
                        </a:rPr>
                        <a:t>Requerimiento funcional</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Origen documental (Sección 5.1)</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Evidencia prevista en demostración y código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66928">
                <a:tc>
                  <a:txBody>
                    <a:bodyPr wrap="square"/>
                    <a:lstStyle/>
                    <a:p>
                      <a:pPr algn="l"/>
                      <a:r>
                        <a:rPr sz="1080" b="1" i="0">
                          <a:solidFill>
                            <a:srgbClr val="0F294A"/>
                          </a:solidFill>
                          <a:latin typeface="Calibri"/>
                        </a:rPr>
                        <a:t>1. Registrar usuarios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Grupo 5: Gestión de usuarios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Registro con validación de campos obligatorios y creación de cuenta Cliente.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66928">
                <a:tc>
                  <a:txBody>
                    <a:bodyPr wrap="square"/>
                    <a:lstStyle/>
                    <a:p>
                      <a:pPr algn="l"/>
                      <a:r>
                        <a:rPr sz="1080" b="1" i="0">
                          <a:solidFill>
                            <a:srgbClr val="0F294A"/>
                          </a:solidFill>
                          <a:latin typeface="Calibri"/>
                        </a:rPr>
                        <a:t>2. Autenticar usuarios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Grupo 5: Gestión de usuarios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Inicio de sesión con credenciales, emisión de JWT/cookie y acceso según rol.</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66928">
                <a:tc>
                  <a:txBody>
                    <a:bodyPr wrap="square"/>
                    <a:lstStyle/>
                    <a:p>
                      <a:pPr algn="l"/>
                      <a:r>
                        <a:rPr sz="1080" b="1" i="0">
                          <a:solidFill>
                            <a:srgbClr val="0F294A"/>
                          </a:solidFill>
                          <a:latin typeface="Calibri"/>
                        </a:rPr>
                        <a:t>3. Consultar y buscar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Grupo 2: Catálogo de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Búsqueda por palabra clave, filtros combinables, paginación y ficha del producto.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66928">
                <a:tc>
                  <a:txBody>
                    <a:bodyPr wrap="square"/>
                    <a:lstStyle/>
                    <a:p>
                      <a:pPr algn="l"/>
                      <a:r>
                        <a:rPr sz="1080" b="1" i="0">
                          <a:solidFill>
                            <a:srgbClr val="0F294A"/>
                          </a:solidFill>
                          <a:latin typeface="Calibri"/>
                        </a:rPr>
                        <a:t>4. Administrar el carrito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Grupo 3: Carrito de compras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Agregar productos, modificar cantidades, eliminar ítems y consultar totales.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66928">
                <a:tc>
                  <a:txBody>
                    <a:bodyPr wrap="square"/>
                    <a:lstStyle/>
                    <a:p>
                      <a:pPr algn="l"/>
                      <a:r>
                        <a:rPr sz="1080" b="1" i="0">
                          <a:solidFill>
                            <a:srgbClr val="0F294A"/>
                          </a:solidFill>
                          <a:latin typeface="Calibri"/>
                        </a:rPr>
                        <a:t>5. Gestionar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Grupo 1: Gestión de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Alta, edición y eliminación permitida de productos desde administración.</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0F5FA"/>
        </a:solidFill>
        <a:effectLst/>
      </p:bgPr>
    </p:bg>
    <p:spTree>
      <p:nvGrpSpPr>
        <p:cNvPr id="1" name=""/>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Cinco casos de uso seleccionados</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06 · 5 UC (1:15) · 7/13</a:t>
            </a:r>
          </a:p>
        </p:txBody>
      </p:sp>
      <p:graphicFrame>
        <p:nvGraphicFramePr>
          <p:cNvPr id="5" name="Table 4"/>
          <p:cNvGraphicFramePr>
            <a:graphicFrameLocks noGrp="1"/>
          </p:cNvGraphicFramePr>
          <p:nvPr/>
        </p:nvGraphicFramePr>
        <p:xfrm>
          <a:off x="411480" y="804672"/>
          <a:ext cx="8321040" cy="3099816"/>
        </p:xfrm>
        <a:graphic>
          <a:graphicData uri="http://schemas.openxmlformats.org/drawingml/2006/table">
            <a:tbl>
              <a:tblPr firstRow="1" bandRow="1">
                <a:tableStyleId>{5C22544A-7EE6-4342-B048-85BDC9FD1C3A}</a:tableStyleId>
              </a:tblPr>
              <a:tblGrid>
                <a:gridCol w="2240280"/>
                <a:gridCol w="1417320"/>
                <a:gridCol w="4663440"/>
              </a:tblGrid>
              <a:tr h="402336">
                <a:tc>
                  <a:txBody>
                    <a:bodyPr wrap="square"/>
                    <a:lstStyle/>
                    <a:p>
                      <a:pPr algn="l"/>
                      <a:r>
                        <a:rPr sz="1100" b="1" i="0">
                          <a:solidFill>
                            <a:srgbClr val="FFFFFF"/>
                          </a:solidFill>
                          <a:latin typeface="Calibri"/>
                        </a:rPr>
                        <a:t>Caso de uso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Actor</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Resultado esperado y conexión con la implementación</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39496">
                <a:tc>
                  <a:txBody>
                    <a:bodyPr wrap="square"/>
                    <a:lstStyle/>
                    <a:p>
                      <a:pPr algn="l"/>
                      <a:r>
                        <a:rPr sz="1080" b="1" i="0">
                          <a:solidFill>
                            <a:srgbClr val="0F294A"/>
                          </a:solidFill>
                          <a:latin typeface="Calibri"/>
                        </a:rPr>
                        <a:t>UC-01 · Registrarse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Visitante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HomeController.Register → POST /auth/registro → UsuariosLogica.RegistrarAsync (crea cuenta Cliente).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39496">
                <a:tc>
                  <a:txBody>
                    <a:bodyPr wrap="square"/>
                    <a:lstStyle/>
                    <a:p>
                      <a:pPr algn="l"/>
                      <a:r>
                        <a:rPr sz="1080" b="1" i="0">
                          <a:solidFill>
                            <a:srgbClr val="0F294A"/>
                          </a:solidFill>
                          <a:latin typeface="Calibri"/>
                        </a:rPr>
                        <a:t>UC-02 · Iniciar sesión</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Usuario registrado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Formulario de acceso → POST /auth/login → sesión cookie MVC, JWT y permisos según rol.</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39496">
                <a:tc>
                  <a:txBody>
                    <a:bodyPr wrap="square"/>
                    <a:lstStyle/>
                    <a:p>
                      <a:pPr algn="l"/>
                      <a:r>
                        <a:rPr sz="1080" b="1" i="0">
                          <a:solidFill>
                            <a:srgbClr val="0F294A"/>
                          </a:solidFill>
                          <a:latin typeface="Calibri"/>
                        </a:rPr>
                        <a:t>UC-08 · Filtrar y buscar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Cliente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ProductosController.Index → GET /productos/catalogo → ProductosRepositorio.ObtenerCatalogoAsync.</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39496">
                <a:tc>
                  <a:txBody>
                    <a:bodyPr wrap="square"/>
                    <a:lstStyle/>
                    <a:p>
                      <a:pPr algn="l"/>
                      <a:r>
                        <a:rPr sz="1080" b="1" i="0">
                          <a:solidFill>
                            <a:srgbClr val="0F294A"/>
                          </a:solidFill>
                          <a:latin typeface="Calibri"/>
                        </a:rPr>
                        <a:t>UC-09 · Ver detalle de producto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Cliente</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ProductosController.Detalle → GET /productos/{id} → ficha con imagen, descripción, precio y stock.</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39496">
                <a:tc>
                  <a:txBody>
                    <a:bodyPr wrap="square"/>
                    <a:lstStyle/>
                    <a:p>
                      <a:pPr algn="l"/>
                      <a:r>
                        <a:rPr sz="1080" b="1" i="0">
                          <a:solidFill>
                            <a:srgbClr val="0F294A"/>
                          </a:solidFill>
                          <a:latin typeface="Calibri"/>
                        </a:rPr>
                        <a:t>UC-19 · ABM de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Administrador</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80" b="0" i="0">
                          <a:solidFill>
                            <a:srgbClr val="1E293B"/>
                          </a:solidFill>
                          <a:latin typeface="Calibri"/>
                        </a:rPr>
                        <a:t>Acciones Crear / Editar / Eliminar → API /productos → ProductosLogica y persistencia SQL.</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bl>
          </a:graphicData>
        </a:graphic>
      </p:graphicFrame>
      <p:sp>
        <p:nvSpPr>
          <p:cNvPr id="6" name="Rounded Rectangle 5"/>
          <p:cNvSpPr/>
          <p:nvPr/>
        </p:nvSpPr>
        <p:spPr>
          <a:xfrm>
            <a:off x="411480" y="4041648"/>
            <a:ext cx="8321040" cy="768096"/>
          </a:xfrm>
          <a:prstGeom prst="roundRect">
            <a:avLst>
              <a:gd name="adj" fmla="val 4000"/>
            </a:avLst>
          </a:prstGeom>
          <a:solidFill>
            <a:srgbClr val="FFF8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539496" y="4178808"/>
            <a:ext cx="118872" cy="118872"/>
          </a:xfrm>
          <a:prstGeom prst="ellipse">
            <a:avLst/>
          </a:prstGeom>
          <a:solidFill>
            <a:srgbClr val="D9770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31520" y="4114800"/>
            <a:ext cx="7863840" cy="621792"/>
          </a:xfrm>
          <a:prstGeom prst="rect">
            <a:avLst/>
          </a:prstGeom>
          <a:noFill/>
        </p:spPr>
        <p:txBody>
          <a:bodyPr wrap="square" anchor="t" lIns="0" rIns="0" tIns="0" bIns="0">
            <a:spAutoFit/>
          </a:bodyPr>
          <a:lstStyle/>
          <a:p>
            <a:r>
              <a:rPr sz="1080" b="1" i="0">
                <a:solidFill>
                  <a:srgbClr val="0F294A"/>
                </a:solidFill>
                <a:latin typeface="Calibri"/>
              </a:rPr>
              <a:t>Criterio de trazabilidad sobre el carrito: </a:t>
            </a:r>
            <a:r>
              <a:rPr sz="1060" b="0" i="0">
                <a:solidFill>
                  <a:srgbClr val="1E293B"/>
                </a:solidFill>
                <a:latin typeface="Calibri"/>
              </a:rPr>
              <a:t>el carrito acredita su requerimiento funcional (Grupo 3) como demostración adicional en vivo. No se lo identifica como UC-10, porque el documento de casos de uso define UC-10 como selección para compra directa sin carrito.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0F5FA"/>
        </a:solidFill>
        <a:effectLst/>
      </p:bgPr>
    </p:bg>
    <p:spTree>
      <p:nvGrpSpPr>
        <p:cNvPr id="1" name=""/>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050" b="1" i="0">
                <a:solidFill>
                  <a:srgbClr val="0F294A"/>
                </a:solidFill>
                <a:latin typeface="Cambria"/>
              </a:rPr>
              <a:t>Cinco requerimientos no funcionales contemplados</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07 · 5 RNF (1:30) · 8/13</a:t>
            </a:r>
          </a:p>
        </p:txBody>
      </p:sp>
      <p:graphicFrame>
        <p:nvGraphicFramePr>
          <p:cNvPr id="5" name="Table 4"/>
          <p:cNvGraphicFramePr>
            <a:graphicFrameLocks noGrp="1"/>
          </p:cNvGraphicFramePr>
          <p:nvPr/>
        </p:nvGraphicFramePr>
        <p:xfrm>
          <a:off x="411480" y="822960"/>
          <a:ext cx="8321040" cy="3922776"/>
        </p:xfrm>
        <a:graphic>
          <a:graphicData uri="http://schemas.openxmlformats.org/drawingml/2006/table">
            <a:tbl>
              <a:tblPr firstRow="1" bandRow="1">
                <a:tableStyleId>{5C22544A-7EE6-4342-B048-85BDC9FD1C3A}</a:tableStyleId>
              </a:tblPr>
              <a:tblGrid>
                <a:gridCol w="1691640"/>
                <a:gridCol w="3337560"/>
                <a:gridCol w="3291840"/>
              </a:tblGrid>
              <a:tr h="402336">
                <a:tc>
                  <a:txBody>
                    <a:bodyPr wrap="square"/>
                    <a:lstStyle/>
                    <a:p>
                      <a:pPr algn="l"/>
                      <a:r>
                        <a:rPr sz="1100" b="1" i="0">
                          <a:solidFill>
                            <a:srgbClr val="FFFFFF"/>
                          </a:solidFill>
                          <a:latin typeface="Calibri"/>
                        </a:rPr>
                        <a:t>RNF (Sección 5.2)</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Evidencia que se presentará</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100" b="1" i="0">
                          <a:solidFill>
                            <a:srgbClr val="FFFFFF"/>
                          </a:solidFill>
                          <a:latin typeface="Calibri"/>
                        </a:rPr>
                        <a:t>Límite de la afirmación (Alcance honesto)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704088">
                <a:tc>
                  <a:txBody>
                    <a:bodyPr wrap="square"/>
                    <a:lstStyle/>
                    <a:p>
                      <a:pPr algn="l"/>
                      <a:r>
                        <a:rPr sz="1050" b="1" i="0">
                          <a:solidFill>
                            <a:srgbClr val="0F294A"/>
                          </a:solidFill>
                          <a:latin typeface="Calibri"/>
                        </a:rPr>
                        <a:t>1. Rendimiento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Paginación (Skip/Take) y consultas paralelas (Task.WhenAll) del catálogo; tiempo observado en ensayo.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Los 3 segundos son el objetivo documental; una medición local no prueba rendimiento en producción.</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704088">
                <a:tc>
                  <a:txBody>
                    <a:bodyPr wrap="square"/>
                    <a:lstStyle/>
                    <a:p>
                      <a:pPr algn="l"/>
                      <a:r>
                        <a:rPr sz="1050" b="1" i="0">
                          <a:solidFill>
                            <a:srgbClr val="0F294A"/>
                          </a:solidFill>
                          <a:latin typeface="Calibri"/>
                        </a:rPr>
                        <a:t>2. Usabilidad</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Formularios claros, validaciones y recuperación de búsquedas sin resultados ('Limpiar filtros').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Muestra comportamientos concretos de interfaz, sin afirmar estudios de usuarios inexistentes.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704088">
                <a:tc>
                  <a:txBody>
                    <a:bodyPr wrap="square"/>
                    <a:lstStyle/>
                    <a:p>
                      <a:pPr algn="l"/>
                      <a:r>
                        <a:rPr sz="1050" b="1" i="0">
                          <a:solidFill>
                            <a:srgbClr val="0F294A"/>
                          </a:solidFill>
                          <a:latin typeface="Calibri"/>
                        </a:rPr>
                        <a:t>3. Compatibilidad</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Visualización del catálogo y navegación en vista de escritorio y en ancho móvil.</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Distingue la adaptación visual responsiva de pruebas efectivas en Chrome, Firefox y Edge.</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704088">
                <a:tc>
                  <a:txBody>
                    <a:bodyPr wrap="square"/>
                    <a:lstStyle/>
                    <a:p>
                      <a:pPr algn="l"/>
                      <a:r>
                        <a:rPr sz="1050" b="1" i="0">
                          <a:solidFill>
                            <a:srgbClr val="0F294A"/>
                          </a:solidFill>
                          <a:latin typeface="Calibri"/>
                        </a:rPr>
                        <a:t>4. Seguridad</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Contraseñas con hash (PasswordHasher), permisos por rol (JWT/Cookie) y protección antiforgery.</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No presenta estos controles como cumplimiento integral del requisito de cifrado y privacidad.</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704088">
                <a:tc>
                  <a:txBody>
                    <a:bodyPr wrap="square"/>
                    <a:lstStyle/>
                    <a:p>
                      <a:pPr algn="l"/>
                      <a:r>
                        <a:rPr sz="1050" b="1" i="0">
                          <a:solidFill>
                            <a:srgbClr val="0F294A"/>
                          </a:solidFill>
                          <a:latin typeface="Calibri"/>
                        </a:rPr>
                        <a:t>5. Mantenibilidad</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Separación de capas (MVC, servicios HTTP, API, lógica, repositorio) y ejemplo de búsqueda en código.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Se acredita principalmente mediante la estructura de implementación, no por una acción de pantalla.</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0F5FA"/>
        </a:solidFill>
        <a:effectLst/>
      </p:bgPr>
    </p:bg>
    <p:spTree>
      <p:nvGrpSpPr>
        <p:cNvPr id="1" name=""/>
        <p:cNvGrpSpPr/>
        <p:nvPr/>
      </p:nvGrpSpPr>
      <p:grpSpPr>
        <a:xfrm>
          <a:off x="0" y="0"/>
          <a:ext cx="0" cy="0"/>
          <a:chOff x="0" y="0"/>
          <a:chExt cx="0" cy="0"/>
        </a:xfrm>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050" b="1" i="0">
                <a:solidFill>
                  <a:srgbClr val="0F294A"/>
                </a:solidFill>
                <a:latin typeface="Cambria"/>
              </a:rPr>
              <a:t>La documentación y su implementación</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08 · Trazabilidad (2:00) · 9/13</a:t>
            </a:r>
          </a:p>
        </p:txBody>
      </p:sp>
      <p:sp>
        <p:nvSpPr>
          <p:cNvPr id="5" name="Rounded Rectangle 4"/>
          <p:cNvSpPr/>
          <p:nvPr/>
        </p:nvSpPr>
        <p:spPr>
          <a:xfrm>
            <a:off x="411480" y="4224528"/>
            <a:ext cx="4663440" cy="585216"/>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4361688"/>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212080" y="804672"/>
            <a:ext cx="3520440" cy="4005072"/>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340096" y="941832"/>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5340096" y="1865376"/>
            <a:ext cx="3264408" cy="2816352"/>
          </a:xfrm>
          <a:prstGeom prst="roundRect">
            <a:avLst>
              <a:gd name="adj" fmla="val 4000"/>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411480" y="804672"/>
          <a:ext cx="4663439" cy="3273552"/>
        </p:xfrm>
        <a:graphic>
          <a:graphicData uri="http://schemas.openxmlformats.org/drawingml/2006/table">
            <a:tbl>
              <a:tblPr firstRow="1" bandRow="1">
                <a:tableStyleId>{5C22544A-7EE6-4342-B048-85BDC9FD1C3A}</a:tableStyleId>
              </a:tblPr>
              <a:tblGrid>
                <a:gridCol w="1143000"/>
                <a:gridCol w="621792"/>
                <a:gridCol w="1892807"/>
                <a:gridCol w="1005840"/>
              </a:tblGrid>
              <a:tr h="347472">
                <a:tc>
                  <a:txBody>
                    <a:bodyPr wrap="square"/>
                    <a:lstStyle/>
                    <a:p>
                      <a:pPr algn="l"/>
                      <a:r>
                        <a:rPr sz="1050" b="1" i="0">
                          <a:solidFill>
                            <a:srgbClr val="FFFFFF"/>
                          </a:solidFill>
                          <a:latin typeface="Calibri"/>
                        </a:rPr>
                        <a:t>Requisito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Caso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Código principal</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Pantalla</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85216">
                <a:tc>
                  <a:txBody>
                    <a:bodyPr wrap="square"/>
                    <a:lstStyle/>
                    <a:p>
                      <a:pPr algn="l"/>
                      <a:r>
                        <a:rPr sz="1050" b="1" i="0">
                          <a:solidFill>
                            <a:srgbClr val="0F294A"/>
                          </a:solidFill>
                          <a:latin typeface="Calibri"/>
                        </a:rPr>
                        <a:t>Registrar usuarios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UC-01</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HomeController.Register
UsuariosLogica.RegistrarAsync</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/Home/Register</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85216">
                <a:tc>
                  <a:txBody>
                    <a:bodyPr wrap="square"/>
                    <a:lstStyle/>
                    <a:p>
                      <a:pPr algn="l"/>
                      <a:r>
                        <a:rPr sz="1050" b="1" i="0">
                          <a:solidFill>
                            <a:srgbClr val="0F294A"/>
                          </a:solidFill>
                          <a:latin typeface="Calibri"/>
                        </a:rPr>
                        <a:t>Autenticar usuarios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UC-02</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HomeController.Login
POST /auth/login (JwtTokenService)</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/Home/Login</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85216">
                <a:tc>
                  <a:txBody>
                    <a:bodyPr wrap="square"/>
                    <a:lstStyle/>
                    <a:p>
                      <a:pPr algn="l"/>
                      <a:r>
                        <a:rPr sz="1050" b="1" i="0">
                          <a:solidFill>
                            <a:srgbClr val="0F294A"/>
                          </a:solidFill>
                          <a:latin typeface="Calibri"/>
                        </a:rPr>
                        <a:t>Consultar y buscar</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UC-08</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ProductosController.Index
ObtenerCatalogoAsync (API/Repo)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85216">
                <a:tc>
                  <a:txBody>
                    <a:bodyPr wrap="square"/>
                    <a:lstStyle/>
                    <a:p>
                      <a:pPr algn="l"/>
                      <a:r>
                        <a:rPr sz="1050" b="1" i="0">
                          <a:solidFill>
                            <a:srgbClr val="0F294A"/>
                          </a:solidFill>
                          <a:latin typeface="Calibri"/>
                        </a:rPr>
                        <a:t>Ver detalle (Catálogo)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UC-09</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ProductosController.Detalle
GET /productos/{id}</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/Productos/Detalle/{id}</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585216">
                <a:tc>
                  <a:txBody>
                    <a:bodyPr wrap="square"/>
                    <a:lstStyle/>
                    <a:p>
                      <a:pPr algn="l"/>
                      <a:r>
                        <a:rPr sz="1050" b="1" i="0">
                          <a:solidFill>
                            <a:srgbClr val="0F294A"/>
                          </a:solidFill>
                          <a:latin typeface="Calibri"/>
                        </a:rPr>
                        <a:t>Gestionar productos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UC-19</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ProductosController (Crear/Editar/Eliminar)
ProductosLogica</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/Productos (Admin)</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bl>
          </a:graphicData>
        </a:graphic>
      </p:graphicFrame>
      <p:sp>
        <p:nvSpPr>
          <p:cNvPr id="11" name="TextBox 10"/>
          <p:cNvSpPr txBox="1"/>
          <p:nvPr/>
        </p:nvSpPr>
        <p:spPr>
          <a:xfrm>
            <a:off x="713232" y="4279392"/>
            <a:ext cx="4251960" cy="475488"/>
          </a:xfrm>
          <a:prstGeom prst="rect">
            <a:avLst/>
          </a:prstGeom>
          <a:noFill/>
        </p:spPr>
        <p:txBody>
          <a:bodyPr wrap="square" anchor="t" lIns="0" rIns="0" tIns="0" bIns="0">
            <a:spAutoFit/>
          </a:bodyPr>
          <a:lstStyle/>
          <a:p>
            <a:r>
              <a:rPr sz="1050" b="1" i="0">
                <a:solidFill>
                  <a:srgbClr val="0F294A"/>
                </a:solidFill>
                <a:latin typeface="Calibri"/>
              </a:rPr>
              <a:t>RF Carrito (adicional): </a:t>
            </a:r>
            <a:r>
              <a:rPr sz="1050" b="0" i="0">
                <a:solidFill>
                  <a:srgbClr val="1E293B"/>
                </a:solidFill>
                <a:latin typeface="Calibri"/>
              </a:rPr>
              <a:t>CarritoController → /carritos/actual → CarritosLogica → /Carrito.</a:t>
            </a:r>
          </a:p>
        </p:txBody>
      </p:sp>
      <p:sp>
        <p:nvSpPr>
          <p:cNvPr id="12" name="TextBox 11"/>
          <p:cNvSpPr txBox="1"/>
          <p:nvPr/>
        </p:nvSpPr>
        <p:spPr>
          <a:xfrm>
            <a:off x="5522976" y="896112"/>
            <a:ext cx="3108960" cy="256032"/>
          </a:xfrm>
          <a:prstGeom prst="rect">
            <a:avLst/>
          </a:prstGeom>
          <a:noFill/>
        </p:spPr>
        <p:txBody>
          <a:bodyPr wrap="square" anchor="t" lIns="0" rIns="0" tIns="0" bIns="0">
            <a:spAutoFit/>
          </a:bodyPr>
          <a:lstStyle/>
          <a:p>
            <a:r>
              <a:rPr sz="1200" b="1" i="0">
                <a:solidFill>
                  <a:srgbClr val="0F294A"/>
                </a:solidFill>
                <a:latin typeface="Calibri"/>
              </a:rPr>
              <a:t>Zoom en UC-08: Búsqueda de productos</a:t>
            </a:r>
          </a:p>
        </p:txBody>
      </p:sp>
      <p:sp>
        <p:nvSpPr>
          <p:cNvPr id="13" name="TextBox 12"/>
          <p:cNvSpPr txBox="1"/>
          <p:nvPr/>
        </p:nvSpPr>
        <p:spPr>
          <a:xfrm>
            <a:off x="5340096" y="1207008"/>
            <a:ext cx="3264408" cy="585216"/>
          </a:xfrm>
          <a:prstGeom prst="rect">
            <a:avLst/>
          </a:prstGeom>
          <a:noFill/>
        </p:spPr>
        <p:txBody>
          <a:bodyPr wrap="square" anchor="t" lIns="0" rIns="0" tIns="0" bIns="0">
            <a:spAutoFit/>
          </a:bodyPr>
          <a:lstStyle/>
          <a:p>
            <a:r>
              <a:rPr sz="1050" b="1" i="0">
                <a:solidFill>
                  <a:srgbClr val="2474EE"/>
                </a:solidFill>
                <a:latin typeface="Calibri"/>
              </a:rPr>
              <a:t>Recorrido: </a:t>
            </a:r>
            <a:r>
              <a:rPr sz="1050" b="0" i="0">
                <a:solidFill>
                  <a:srgbClr val="1E293B"/>
                </a:solidFill>
                <a:latin typeface="Calibri"/>
              </a:rPr>
              <a:t>Index.cshtml → ProductosController.Index → GET /productos/catalogo → ObtenerCatalogoAsync:</a:t>
            </a:r>
          </a:p>
        </p:txBody>
      </p:sp>
      <p:sp>
        <p:nvSpPr>
          <p:cNvPr id="14" name="TextBox 13"/>
          <p:cNvSpPr txBox="1"/>
          <p:nvPr/>
        </p:nvSpPr>
        <p:spPr>
          <a:xfrm>
            <a:off x="5413248" y="1920240"/>
            <a:ext cx="3127248" cy="2706624"/>
          </a:xfrm>
          <a:prstGeom prst="rect">
            <a:avLst/>
          </a:prstGeom>
          <a:noFill/>
        </p:spPr>
        <p:txBody>
          <a:bodyPr wrap="square" anchor="t" lIns="0" rIns="0" tIns="0" bIns="0">
            <a:spAutoFit/>
          </a:bodyPr>
          <a:lstStyle/>
          <a:p>
            <a:pPr>
              <a:spcAft>
                <a:spcPts val="100"/>
              </a:spcAft>
            </a:pPr>
            <a:r>
              <a:rPr sz="1050" b="1" i="0">
                <a:solidFill>
                  <a:srgbClr val="2474EE"/>
                </a:solidFill>
                <a:latin typeface="Calibri"/>
              </a:rPr>
              <a:t>// ProductosRepositorio.ObtenerCatalogoAsync</a:t>
            </a:r>
          </a:p>
          <a:p>
            <a:pPr>
              <a:spcAft>
                <a:spcPts val="100"/>
              </a:spcAft>
            </a:pPr>
            <a:r>
              <a:rPr sz="1050" b="0" i="0">
                <a:solidFill>
                  <a:srgbClr val="1E293B"/>
                </a:solidFill>
                <a:latin typeface="Calibri"/>
              </a:rPr>
              <a:t>var q = _context.Productos.AsNoTracking();</a:t>
            </a:r>
          </a:p>
          <a:p>
            <a:pPr>
              <a:spcAft>
                <a:spcPts val="100"/>
              </a:spcAft>
            </a:pPr>
            <a:r>
              <a:rPr sz="1050" b="0" i="0">
                <a:solidFill>
                  <a:srgbClr val="1E293B"/>
                </a:solidFill>
                <a:latin typeface="Calibri"/>
              </a:rPr>
              <a:t>if (!string.IsNullOrWhiteSpace(filtro.Texto))</a:t>
            </a:r>
          </a:p>
          <a:p>
            <a:pPr>
              <a:spcAft>
                <a:spcPts val="100"/>
              </a:spcAft>
            </a:pPr>
            <a:r>
              <a:rPr sz="1050" b="0" i="0">
                <a:solidFill>
                  <a:srgbClr val="1E293B"/>
                </a:solidFill>
                <a:latin typeface="Calibri"/>
              </a:rPr>
              <a:t>  q = q.Where(p =&gt; p.Nombre.Contains(filtro.Texto)</a:t>
            </a:r>
          </a:p>
          <a:p>
            <a:pPr>
              <a:spcAft>
                <a:spcPts val="100"/>
              </a:spcAft>
            </a:pPr>
            <a:r>
              <a:rPr sz="1050" b="0" i="0">
                <a:solidFill>
                  <a:srgbClr val="1E293B"/>
                </a:solidFill>
                <a:latin typeface="Calibri"/>
              </a:rPr>
              <a:t>    || p.Descripcion.Contains(filtro.Texto));</a:t>
            </a:r>
          </a:p>
          <a:p>
            <a:pPr>
              <a:spcAft>
                <a:spcPts val="100"/>
              </a:spcAft>
            </a:pPr>
            <a:r>
              <a:rPr sz="1050" b="0" i="0">
                <a:solidFill>
                  <a:srgbClr val="1E293B"/>
                </a:solidFill>
                <a:latin typeface="Calibri"/>
              </a:rPr>
              <a:t>if (filtro.IdCategoria.HasValue)</a:t>
            </a:r>
          </a:p>
          <a:p>
            <a:pPr>
              <a:spcAft>
                <a:spcPts val="100"/>
              </a:spcAft>
            </a:pPr>
            <a:r>
              <a:rPr sz="1050" b="0" i="0">
                <a:solidFill>
                  <a:srgbClr val="1E293B"/>
                </a:solidFill>
                <a:latin typeface="Calibri"/>
              </a:rPr>
              <a:t>  q = q.Where(p =&gt; p.IdCategoria == idCat);</a:t>
            </a:r>
          </a:p>
          <a:p>
            <a:pPr>
              <a:spcAft>
                <a:spcPts val="100"/>
              </a:spcAft>
            </a:pPr>
            <a:r>
              <a:rPr sz="1050" b="0" i="0">
                <a:solidFill>
                  <a:srgbClr val="2474EE"/>
                </a:solidFill>
                <a:latin typeface="Calibri"/>
              </a:rPr>
              <a:t>// + PrecioMin, PrecioMax y SoloDisponibles</a:t>
            </a:r>
          </a:p>
          <a:p>
            <a:pPr>
              <a:spcAft>
                <a:spcPts val="100"/>
              </a:spcAft>
            </a:pPr>
            <a:r>
              <a:rPr sz="1050" b="0" i="0">
                <a:solidFill>
                  <a:srgbClr val="1E293B"/>
                </a:solidFill>
                <a:latin typeface="Calibri"/>
              </a:rPr>
              <a:t>var total = await q.CountAsync(ct);</a:t>
            </a:r>
          </a:p>
          <a:p>
            <a:pPr>
              <a:spcAft>
                <a:spcPts val="100"/>
              </a:spcAft>
            </a:pPr>
            <a:r>
              <a:rPr sz="1050" b="0" i="0">
                <a:solidFill>
                  <a:srgbClr val="1E293B"/>
                </a:solidFill>
                <a:latin typeface="Calibri"/>
              </a:rPr>
              <a:t>var items = await q.OrderBy(p =&gt; p.Nombre)</a:t>
            </a:r>
          </a:p>
          <a:p>
            <a:pPr>
              <a:spcAft>
                <a:spcPts val="100"/>
              </a:spcAft>
            </a:pPr>
            <a:r>
              <a:rPr sz="1050" b="0" i="0">
                <a:solidFill>
                  <a:srgbClr val="1E293B"/>
                </a:solidFill>
                <a:latin typeface="Calibri"/>
              </a:rPr>
              <a:t>  .Skip((filtro.Pagina - 1) * filtro.TamanoPagina)</a:t>
            </a:r>
          </a:p>
          <a:p>
            <a:pPr>
              <a:spcAft>
                <a:spcPts val="100"/>
              </a:spcAft>
            </a:pPr>
            <a:r>
              <a:rPr sz="1050" b="0" i="0">
                <a:solidFill>
                  <a:srgbClr val="1E293B"/>
                </a:solidFill>
                <a:latin typeface="Calibri"/>
              </a:rPr>
              <a:t>  .Take(filtro.TamanoPagina).ToListAsync(ct);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Arquitectura del sistema</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09 · Arquitectura (1:15) · 10/13</a:t>
            </a:r>
          </a:p>
        </p:txBody>
      </p:sp>
      <p:sp>
        <p:nvSpPr>
          <p:cNvPr id="5" name="Rounded Rectangle 4"/>
          <p:cNvSpPr/>
          <p:nvPr/>
        </p:nvSpPr>
        <p:spPr>
          <a:xfrm>
            <a:off x="411480" y="822960"/>
            <a:ext cx="1106424" cy="190195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84632" y="1207008"/>
            <a:ext cx="960120" cy="310896"/>
          </a:xfrm>
          <a:prstGeom prst="rect">
            <a:avLst/>
          </a:prstGeom>
          <a:noFill/>
        </p:spPr>
        <p:txBody>
          <a:bodyPr wrap="square" anchor="t" lIns="0" rIns="0" tIns="0" bIns="0">
            <a:spAutoFit/>
          </a:bodyPr>
          <a:lstStyle/>
          <a:p>
            <a:r>
              <a:rPr sz="1050" b="1" i="0">
                <a:solidFill>
                  <a:srgbClr val="0F294A"/>
                </a:solidFill>
                <a:latin typeface="Calibri"/>
              </a:rPr>
              <a:t>1. Vista Razor</a:t>
            </a:r>
          </a:p>
        </p:txBody>
      </p:sp>
      <p:sp>
        <p:nvSpPr>
          <p:cNvPr id="8" name="TextBox 7"/>
          <p:cNvSpPr txBox="1"/>
          <p:nvPr/>
        </p:nvSpPr>
        <p:spPr>
          <a:xfrm>
            <a:off x="484632" y="1572768"/>
            <a:ext cx="960120" cy="1078992"/>
          </a:xfrm>
          <a:prstGeom prst="rect">
            <a:avLst/>
          </a:prstGeom>
          <a:noFill/>
        </p:spPr>
        <p:txBody>
          <a:bodyPr wrap="square" anchor="t" lIns="0" rIns="0" tIns="0" bIns="0">
            <a:spAutoFit/>
          </a:bodyPr>
          <a:lstStyle/>
          <a:p>
            <a:r>
              <a:rPr sz="1050" b="0" i="0">
                <a:solidFill>
                  <a:srgbClr val="1E293B"/>
                </a:solidFill>
                <a:latin typeface="Calibri"/>
              </a:rPr>
              <a:t>Views/*.cshtml
Formularios, grillas y validación.</a:t>
            </a:r>
          </a:p>
        </p:txBody>
      </p:sp>
      <p:sp>
        <p:nvSpPr>
          <p:cNvPr id="9" name="Rounded Rectangle 8"/>
          <p:cNvSpPr/>
          <p:nvPr/>
        </p:nvSpPr>
        <p:spPr>
          <a:xfrm>
            <a:off x="1609344" y="822960"/>
            <a:ext cx="1106424" cy="190195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737360"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682496" y="1207008"/>
            <a:ext cx="960120" cy="310896"/>
          </a:xfrm>
          <a:prstGeom prst="rect">
            <a:avLst/>
          </a:prstGeom>
          <a:noFill/>
        </p:spPr>
        <p:txBody>
          <a:bodyPr wrap="square" anchor="t" lIns="0" rIns="0" tIns="0" bIns="0">
            <a:spAutoFit/>
          </a:bodyPr>
          <a:lstStyle/>
          <a:p>
            <a:r>
              <a:rPr sz="1050" b="1" i="0">
                <a:solidFill>
                  <a:srgbClr val="0F294A"/>
                </a:solidFill>
                <a:latin typeface="Calibri"/>
              </a:rPr>
              <a:t>2. Controlador</a:t>
            </a:r>
          </a:p>
        </p:txBody>
      </p:sp>
      <p:sp>
        <p:nvSpPr>
          <p:cNvPr id="12" name="TextBox 11"/>
          <p:cNvSpPr txBox="1"/>
          <p:nvPr/>
        </p:nvSpPr>
        <p:spPr>
          <a:xfrm>
            <a:off x="1682496" y="1572768"/>
            <a:ext cx="960120" cy="1078992"/>
          </a:xfrm>
          <a:prstGeom prst="rect">
            <a:avLst/>
          </a:prstGeom>
          <a:noFill/>
        </p:spPr>
        <p:txBody>
          <a:bodyPr wrap="square" anchor="t" lIns="0" rIns="0" tIns="0" bIns="0">
            <a:spAutoFit/>
          </a:bodyPr>
          <a:lstStyle/>
          <a:p>
            <a:r>
              <a:rPr sz="1050" b="0" i="0">
                <a:solidFill>
                  <a:srgbClr val="1E293B"/>
                </a:solidFill>
                <a:latin typeface="Calibri"/>
              </a:rPr>
              <a:t>*Controller.cs
Coordina UI, cookie y ViewModels.</a:t>
            </a:r>
          </a:p>
        </p:txBody>
      </p:sp>
      <p:sp>
        <p:nvSpPr>
          <p:cNvPr id="13" name="Rounded Rectangle 12"/>
          <p:cNvSpPr/>
          <p:nvPr/>
        </p:nvSpPr>
        <p:spPr>
          <a:xfrm>
            <a:off x="2807208" y="822960"/>
            <a:ext cx="1106424" cy="190195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2935224"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880360" y="1207008"/>
            <a:ext cx="960120" cy="310896"/>
          </a:xfrm>
          <a:prstGeom prst="rect">
            <a:avLst/>
          </a:prstGeom>
          <a:noFill/>
        </p:spPr>
        <p:txBody>
          <a:bodyPr wrap="square" anchor="t" lIns="0" rIns="0" tIns="0" bIns="0">
            <a:spAutoFit/>
          </a:bodyPr>
          <a:lstStyle/>
          <a:p>
            <a:r>
              <a:rPr sz="1050" b="1" i="0">
                <a:solidFill>
                  <a:srgbClr val="0F294A"/>
                </a:solidFill>
                <a:latin typeface="Calibri"/>
              </a:rPr>
              <a:t>3. Servicio HTTP</a:t>
            </a:r>
          </a:p>
        </p:txBody>
      </p:sp>
      <p:sp>
        <p:nvSpPr>
          <p:cNvPr id="16" name="TextBox 15"/>
          <p:cNvSpPr txBox="1"/>
          <p:nvPr/>
        </p:nvSpPr>
        <p:spPr>
          <a:xfrm>
            <a:off x="2880360" y="1572768"/>
            <a:ext cx="960120" cy="1078992"/>
          </a:xfrm>
          <a:prstGeom prst="rect">
            <a:avLst/>
          </a:prstGeom>
          <a:noFill/>
        </p:spPr>
        <p:txBody>
          <a:bodyPr wrap="square" anchor="t" lIns="0" rIns="0" tIns="0" bIns="0">
            <a:spAutoFit/>
          </a:bodyPr>
          <a:lstStyle/>
          <a:p>
            <a:r>
              <a:rPr sz="1050" b="0" i="0">
                <a:solidFill>
                  <a:srgbClr val="1E293B"/>
                </a:solidFill>
                <a:latin typeface="Calibri"/>
              </a:rPr>
              <a:t>*ApiService.cs
Cliente HTTP y token Bearer.</a:t>
            </a:r>
          </a:p>
        </p:txBody>
      </p:sp>
      <p:sp>
        <p:nvSpPr>
          <p:cNvPr id="17" name="Rounded Rectangle 16"/>
          <p:cNvSpPr/>
          <p:nvPr/>
        </p:nvSpPr>
        <p:spPr>
          <a:xfrm>
            <a:off x="4005072" y="822960"/>
            <a:ext cx="1106424" cy="1901952"/>
          </a:xfrm>
          <a:prstGeom prst="roundRect">
            <a:avLst>
              <a:gd name="adj" fmla="val 6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4133087" y="960120"/>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078224" y="1207008"/>
            <a:ext cx="960120" cy="310896"/>
          </a:xfrm>
          <a:prstGeom prst="rect">
            <a:avLst/>
          </a:prstGeom>
          <a:noFill/>
        </p:spPr>
        <p:txBody>
          <a:bodyPr wrap="square" anchor="t" lIns="0" rIns="0" tIns="0" bIns="0">
            <a:spAutoFit/>
          </a:bodyPr>
          <a:lstStyle/>
          <a:p>
            <a:r>
              <a:rPr sz="1050" b="1" i="0">
                <a:solidFill>
                  <a:srgbClr val="0F294A"/>
                </a:solidFill>
                <a:latin typeface="Calibri"/>
              </a:rPr>
              <a:t>4. Minimal API</a:t>
            </a:r>
          </a:p>
        </p:txBody>
      </p:sp>
      <p:sp>
        <p:nvSpPr>
          <p:cNvPr id="20" name="TextBox 19"/>
          <p:cNvSpPr txBox="1"/>
          <p:nvPr/>
        </p:nvSpPr>
        <p:spPr>
          <a:xfrm>
            <a:off x="4078224" y="1572768"/>
            <a:ext cx="960120" cy="1078992"/>
          </a:xfrm>
          <a:prstGeom prst="rect">
            <a:avLst/>
          </a:prstGeom>
          <a:noFill/>
        </p:spPr>
        <p:txBody>
          <a:bodyPr wrap="square" anchor="t" lIns="0" rIns="0" tIns="0" bIns="0">
            <a:spAutoFit/>
          </a:bodyPr>
          <a:lstStyle/>
          <a:p>
            <a:r>
              <a:rPr sz="1050" b="0" i="0">
                <a:solidFill>
                  <a:srgbClr val="1E293B"/>
                </a:solidFill>
                <a:latin typeface="Calibri"/>
              </a:rPr>
              <a:t>*Endpoints.cs
Rutas REST y políticas JWT.</a:t>
            </a:r>
          </a:p>
        </p:txBody>
      </p:sp>
      <p:sp>
        <p:nvSpPr>
          <p:cNvPr id="21" name="Rounded Rectangle 20"/>
          <p:cNvSpPr/>
          <p:nvPr/>
        </p:nvSpPr>
        <p:spPr>
          <a:xfrm>
            <a:off x="5202936" y="822960"/>
            <a:ext cx="1106424" cy="190195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5330952"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276088" y="1207008"/>
            <a:ext cx="960120" cy="310896"/>
          </a:xfrm>
          <a:prstGeom prst="rect">
            <a:avLst/>
          </a:prstGeom>
          <a:noFill/>
        </p:spPr>
        <p:txBody>
          <a:bodyPr wrap="square" anchor="t" lIns="0" rIns="0" tIns="0" bIns="0">
            <a:spAutoFit/>
          </a:bodyPr>
          <a:lstStyle/>
          <a:p>
            <a:r>
              <a:rPr sz="1050" b="1" i="0">
                <a:solidFill>
                  <a:srgbClr val="0F294A"/>
                </a:solidFill>
                <a:latin typeface="Calibri"/>
              </a:rPr>
              <a:t>5. Lógica</a:t>
            </a:r>
          </a:p>
        </p:txBody>
      </p:sp>
      <p:sp>
        <p:nvSpPr>
          <p:cNvPr id="24" name="TextBox 23"/>
          <p:cNvSpPr txBox="1"/>
          <p:nvPr/>
        </p:nvSpPr>
        <p:spPr>
          <a:xfrm>
            <a:off x="5276088" y="1572768"/>
            <a:ext cx="960120" cy="1078992"/>
          </a:xfrm>
          <a:prstGeom prst="rect">
            <a:avLst/>
          </a:prstGeom>
          <a:noFill/>
        </p:spPr>
        <p:txBody>
          <a:bodyPr wrap="square" anchor="t" lIns="0" rIns="0" tIns="0" bIns="0">
            <a:spAutoFit/>
          </a:bodyPr>
          <a:lstStyle/>
          <a:p>
            <a:r>
              <a:rPr sz="1050" b="0" i="0">
                <a:solidFill>
                  <a:srgbClr val="1E293B"/>
                </a:solidFill>
                <a:latin typeface="Calibri"/>
              </a:rPr>
              <a:t>*Logica.cs
Reglas, stock, hash y validación.</a:t>
            </a:r>
          </a:p>
        </p:txBody>
      </p:sp>
      <p:sp>
        <p:nvSpPr>
          <p:cNvPr id="25" name="Rounded Rectangle 24"/>
          <p:cNvSpPr/>
          <p:nvPr/>
        </p:nvSpPr>
        <p:spPr>
          <a:xfrm>
            <a:off x="6400800" y="822960"/>
            <a:ext cx="1106424" cy="1901952"/>
          </a:xfrm>
          <a:prstGeom prst="roundRect">
            <a:avLst>
              <a:gd name="adj" fmla="val 6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val 25"/>
          <p:cNvSpPr/>
          <p:nvPr/>
        </p:nvSpPr>
        <p:spPr>
          <a:xfrm>
            <a:off x="652881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73952" y="1207008"/>
            <a:ext cx="960120" cy="310896"/>
          </a:xfrm>
          <a:prstGeom prst="rect">
            <a:avLst/>
          </a:prstGeom>
          <a:noFill/>
        </p:spPr>
        <p:txBody>
          <a:bodyPr wrap="square" anchor="t" lIns="0" rIns="0" tIns="0" bIns="0">
            <a:spAutoFit/>
          </a:bodyPr>
          <a:lstStyle/>
          <a:p>
            <a:r>
              <a:rPr sz="1050" b="1" i="0">
                <a:solidFill>
                  <a:srgbClr val="0F294A"/>
                </a:solidFill>
                <a:latin typeface="Calibri"/>
              </a:rPr>
              <a:t>6. Repositorio</a:t>
            </a:r>
          </a:p>
        </p:txBody>
      </p:sp>
      <p:sp>
        <p:nvSpPr>
          <p:cNvPr id="28" name="TextBox 27"/>
          <p:cNvSpPr txBox="1"/>
          <p:nvPr/>
        </p:nvSpPr>
        <p:spPr>
          <a:xfrm>
            <a:off x="6473952" y="1572768"/>
            <a:ext cx="960120" cy="1078992"/>
          </a:xfrm>
          <a:prstGeom prst="rect">
            <a:avLst/>
          </a:prstGeom>
          <a:noFill/>
        </p:spPr>
        <p:txBody>
          <a:bodyPr wrap="square" anchor="t" lIns="0" rIns="0" tIns="0" bIns="0">
            <a:spAutoFit/>
          </a:bodyPr>
          <a:lstStyle/>
          <a:p>
            <a:r>
              <a:rPr sz="1050" b="0" i="0">
                <a:solidFill>
                  <a:srgbClr val="1E293B"/>
                </a:solidFill>
                <a:latin typeface="Calibri"/>
              </a:rPr>
              <a:t>*Repositorio.cs
Consultas EF Core y transacciones.</a:t>
            </a:r>
          </a:p>
        </p:txBody>
      </p:sp>
      <p:sp>
        <p:nvSpPr>
          <p:cNvPr id="29" name="Rounded Rectangle 28"/>
          <p:cNvSpPr/>
          <p:nvPr/>
        </p:nvSpPr>
        <p:spPr>
          <a:xfrm>
            <a:off x="7598664" y="822960"/>
            <a:ext cx="1106424" cy="1901952"/>
          </a:xfrm>
          <a:prstGeom prst="roundRect">
            <a:avLst>
              <a:gd name="adj" fmla="val 6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7726680" y="960120"/>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671816" y="1207008"/>
            <a:ext cx="960120" cy="310896"/>
          </a:xfrm>
          <a:prstGeom prst="rect">
            <a:avLst/>
          </a:prstGeom>
          <a:noFill/>
        </p:spPr>
        <p:txBody>
          <a:bodyPr wrap="square" anchor="t" lIns="0" rIns="0" tIns="0" bIns="0">
            <a:spAutoFit/>
          </a:bodyPr>
          <a:lstStyle/>
          <a:p>
            <a:r>
              <a:rPr sz="1050" b="1" i="0">
                <a:solidFill>
                  <a:srgbClr val="0F294A"/>
                </a:solidFill>
                <a:latin typeface="Calibri"/>
              </a:rPr>
              <a:t>7. SQL Server</a:t>
            </a:r>
          </a:p>
        </p:txBody>
      </p:sp>
      <p:sp>
        <p:nvSpPr>
          <p:cNvPr id="32" name="TextBox 31"/>
          <p:cNvSpPr txBox="1"/>
          <p:nvPr/>
        </p:nvSpPr>
        <p:spPr>
          <a:xfrm>
            <a:off x="7671816" y="1572768"/>
            <a:ext cx="960120" cy="1078992"/>
          </a:xfrm>
          <a:prstGeom prst="rect">
            <a:avLst/>
          </a:prstGeom>
          <a:noFill/>
        </p:spPr>
        <p:txBody>
          <a:bodyPr wrap="square" anchor="t" lIns="0" rIns="0" tIns="0" bIns="0">
            <a:spAutoFit/>
          </a:bodyPr>
          <a:lstStyle/>
          <a:p>
            <a:r>
              <a:rPr sz="1050" b="0" i="0">
                <a:solidFill>
                  <a:srgbClr val="1E293B"/>
                </a:solidFill>
                <a:latin typeface="Calibri"/>
              </a:rPr>
              <a:t>DbContext EF
Persistencia e integridad SQL.</a:t>
            </a:r>
          </a:p>
        </p:txBody>
      </p:sp>
      <p:sp>
        <p:nvSpPr>
          <p:cNvPr id="33" name="Rounded Rectangle 32"/>
          <p:cNvSpPr/>
          <p:nvPr/>
        </p:nvSpPr>
        <p:spPr>
          <a:xfrm>
            <a:off x="411480" y="2889504"/>
            <a:ext cx="4041648" cy="192024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val 33"/>
          <p:cNvSpPr/>
          <p:nvPr/>
        </p:nvSpPr>
        <p:spPr>
          <a:xfrm>
            <a:off x="539496" y="3026664"/>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22376" y="2980944"/>
            <a:ext cx="3639312" cy="274320"/>
          </a:xfrm>
          <a:prstGeom prst="rect">
            <a:avLst/>
          </a:prstGeom>
          <a:noFill/>
        </p:spPr>
        <p:txBody>
          <a:bodyPr wrap="square" anchor="t" lIns="0" rIns="0" tIns="0" bIns="0">
            <a:spAutoFit/>
          </a:bodyPr>
          <a:lstStyle/>
          <a:p>
            <a:pPr algn="l"/>
            <a:r>
              <a:rPr sz="1250" b="1" i="0">
                <a:solidFill>
                  <a:srgbClr val="0F294A"/>
                </a:solidFill>
                <a:latin typeface="Calibri"/>
              </a:rPr>
              <a:t>Separación de responsabilidades</a:t>
            </a:r>
          </a:p>
        </p:txBody>
      </p:sp>
      <p:sp>
        <p:nvSpPr>
          <p:cNvPr id="36" name="TextBox 35"/>
          <p:cNvSpPr txBox="1"/>
          <p:nvPr/>
        </p:nvSpPr>
        <p:spPr>
          <a:xfrm>
            <a:off x="557784" y="3310128"/>
            <a:ext cx="3767328" cy="1444752"/>
          </a:xfrm>
          <a:prstGeom prst="rect">
            <a:avLst/>
          </a:prstGeom>
          <a:noFill/>
        </p:spPr>
        <p:txBody>
          <a:bodyPr wrap="square" anchor="t" lIns="0" rIns="0" tIns="0" bIns="0">
            <a:spAutoFit/>
          </a:bodyPr>
          <a:lstStyle/>
          <a:p>
            <a:pPr algn="l" marL="137160" indent="-137160">
              <a:spcAft>
                <a:spcPts val="400"/>
              </a:spcAft>
              <a:buFont typeface="Arial"/>
              <a:buChar char="•"/>
            </a:pPr>
            <a:r>
              <a:rPr sz="1050" b="1" i="0">
                <a:solidFill>
                  <a:srgbClr val="0F294A"/>
                </a:solidFill>
                <a:latin typeface="Calibri"/>
              </a:rPr>
              <a:t>Frontend desacoplado (Frontend/): </a:t>
            </a:r>
            <a:r>
              <a:rPr sz="1050" b="0" i="0">
                <a:solidFill>
                  <a:srgbClr val="1E293B"/>
                </a:solidFill>
                <a:latin typeface="Calibri"/>
              </a:rPr>
              <a:t>las vistas Razor y los controladores MVC nunca acceden directo a la base de datos; consumen la API mediante servicios HTTP e inyectan el JWT con ApiBearerTokenHandler.</a:t>
            </a:r>
          </a:p>
          <a:p>
            <a:pPr algn="l" marL="137160" indent="-137160">
              <a:spcAft>
                <a:spcPts val="400"/>
              </a:spcAft>
              <a:buFont typeface="Arial"/>
              <a:buChar char="•"/>
            </a:pPr>
            <a:r>
              <a:rPr sz="1050" b="1" i="0">
                <a:solidFill>
                  <a:srgbClr val="0F294A"/>
                </a:solidFill>
                <a:latin typeface="Calibri"/>
              </a:rPr>
              <a:t>Backend autoritativo (Totaltech/): </a:t>
            </a:r>
            <a:r>
              <a:rPr sz="1050" b="0" i="0">
                <a:solidFill>
                  <a:srgbClr val="1E293B"/>
                </a:solidFill>
                <a:latin typeface="Calibri"/>
              </a:rPr>
              <a:t>los endpoints validan autorización, la capa de lógica concentra las reglas del negocio y los repositorios encapsulan Entity Framework Core.</a:t>
            </a:r>
          </a:p>
        </p:txBody>
      </p:sp>
      <p:sp>
        <p:nvSpPr>
          <p:cNvPr id="37" name="Rounded Rectangle 36"/>
          <p:cNvSpPr/>
          <p:nvPr/>
        </p:nvSpPr>
        <p:spPr>
          <a:xfrm>
            <a:off x="4690872" y="2889504"/>
            <a:ext cx="4041648" cy="1920240"/>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Oval 37"/>
          <p:cNvSpPr/>
          <p:nvPr/>
        </p:nvSpPr>
        <p:spPr>
          <a:xfrm>
            <a:off x="4818888" y="3026664"/>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01768" y="2980944"/>
            <a:ext cx="3639312" cy="274320"/>
          </a:xfrm>
          <a:prstGeom prst="rect">
            <a:avLst/>
          </a:prstGeom>
          <a:noFill/>
        </p:spPr>
        <p:txBody>
          <a:bodyPr wrap="square" anchor="t" lIns="0" rIns="0" tIns="0" bIns="0">
            <a:spAutoFit/>
          </a:bodyPr>
          <a:lstStyle/>
          <a:p>
            <a:pPr algn="l"/>
            <a:r>
              <a:rPr sz="1250" b="1" i="0">
                <a:solidFill>
                  <a:srgbClr val="0F294A"/>
                </a:solidFill>
                <a:latin typeface="Calibri"/>
              </a:rPr>
              <a:t>Impacto directo en la mantenibilidad (RNF-05)</a:t>
            </a:r>
          </a:p>
        </p:txBody>
      </p:sp>
      <p:sp>
        <p:nvSpPr>
          <p:cNvPr id="40" name="TextBox 39"/>
          <p:cNvSpPr txBox="1"/>
          <p:nvPr/>
        </p:nvSpPr>
        <p:spPr>
          <a:xfrm>
            <a:off x="4837176" y="3310128"/>
            <a:ext cx="3767328" cy="1444752"/>
          </a:xfrm>
          <a:prstGeom prst="rect">
            <a:avLst/>
          </a:prstGeom>
          <a:noFill/>
        </p:spPr>
        <p:txBody>
          <a:bodyPr wrap="square" anchor="t" lIns="0" rIns="0" tIns="0" bIns="0">
            <a:spAutoFit/>
          </a:bodyPr>
          <a:lstStyle/>
          <a:p>
            <a:pPr algn="l" marL="137160" indent="-137160">
              <a:spcAft>
                <a:spcPts val="400"/>
              </a:spcAft>
              <a:buFont typeface="Arial"/>
              <a:buChar char="•"/>
            </a:pPr>
            <a:r>
              <a:rPr sz="1050" b="1" i="0">
                <a:solidFill>
                  <a:srgbClr val="0F294A"/>
                </a:solidFill>
                <a:latin typeface="Calibri"/>
              </a:rPr>
              <a:t>Cambios localizados: </a:t>
            </a:r>
            <a:r>
              <a:rPr sz="1050" b="0" i="0">
                <a:solidFill>
                  <a:srgbClr val="1E293B"/>
                </a:solidFill>
                <a:latin typeface="Calibri"/>
              </a:rPr>
              <a:t>ajustar un criterio de filtrado en ProductosLogica o mejorar el diseño de Index.cshtml no obliga a modificar las demás capas del sistema.</a:t>
            </a:r>
          </a:p>
          <a:p>
            <a:pPr algn="l" marL="137160" indent="-137160">
              <a:spcAft>
                <a:spcPts val="400"/>
              </a:spcAft>
              <a:buFont typeface="Arial"/>
              <a:buChar char="•"/>
            </a:pPr>
            <a:r>
              <a:rPr sz="1050" b="1" i="0">
                <a:solidFill>
                  <a:srgbClr val="0F294A"/>
                </a:solidFill>
                <a:latin typeface="Calibri"/>
              </a:rPr>
              <a:t>Pruebas por nivel: </a:t>
            </a:r>
            <a:r>
              <a:rPr sz="1050" b="0" i="0">
                <a:solidFill>
                  <a:srgbClr val="1E293B"/>
                </a:solidFill>
                <a:latin typeface="Calibri"/>
              </a:rPr>
              <a:t>la división permite validar reglas en pruebas unitarias, contratos HTTP en pruebas rápidas de integración y consultas reales sobre SQL Server LocalDB.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Alcance actual y próxima etapa</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10 · Alcance (1:00) · 11/13</a:t>
            </a:r>
          </a:p>
        </p:txBody>
      </p:sp>
      <p:sp>
        <p:nvSpPr>
          <p:cNvPr id="5" name="Rounded Rectangle 4"/>
          <p:cNvSpPr/>
          <p:nvPr/>
        </p:nvSpPr>
        <p:spPr>
          <a:xfrm>
            <a:off x="411480" y="822960"/>
            <a:ext cx="2670048" cy="3986784"/>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Disponible hoy</a:t>
            </a:r>
          </a:p>
        </p:txBody>
      </p:sp>
      <p:sp>
        <p:nvSpPr>
          <p:cNvPr id="8" name="TextBox 7"/>
          <p:cNvSpPr txBox="1"/>
          <p:nvPr/>
        </p:nvSpPr>
        <p:spPr>
          <a:xfrm>
            <a:off x="557784" y="1243584"/>
            <a:ext cx="2395728" cy="3511296"/>
          </a:xfrm>
          <a:prstGeom prst="rect">
            <a:avLst/>
          </a:prstGeom>
          <a:noFill/>
        </p:spPr>
        <p:txBody>
          <a:bodyPr wrap="square" anchor="t" lIns="0" rIns="0" tIns="0" bIns="0">
            <a:spAutoFit/>
          </a:bodyPr>
          <a:lstStyle/>
          <a:p>
            <a:pPr algn="l" marL="137160" indent="-137160">
              <a:spcAft>
                <a:spcPts val="500"/>
              </a:spcAft>
              <a:buFont typeface="Arial"/>
              <a:buChar char="•"/>
            </a:pPr>
            <a:r>
              <a:rPr sz="1050" b="1" i="0">
                <a:solidFill>
                  <a:srgbClr val="0F294A"/>
                </a:solidFill>
                <a:latin typeface="Calibri"/>
              </a:rPr>
              <a:t>Identidad y roles: </a:t>
            </a:r>
            <a:r>
              <a:rPr sz="1050" b="0" i="0">
                <a:solidFill>
                  <a:srgbClr val="1E293B"/>
                </a:solidFill>
                <a:latin typeface="Calibri"/>
              </a:rPr>
              <a:t>registro público, login JWT/cookie y separación Cliente / Admin.</a:t>
            </a:r>
          </a:p>
          <a:p>
            <a:pPr algn="l" marL="137160" indent="-137160">
              <a:spcAft>
                <a:spcPts val="500"/>
              </a:spcAft>
              <a:buFont typeface="Arial"/>
              <a:buChar char="•"/>
            </a:pPr>
            <a:r>
              <a:rPr sz="1050" b="1" i="0">
                <a:solidFill>
                  <a:srgbClr val="0F294A"/>
                </a:solidFill>
                <a:latin typeface="Calibri"/>
              </a:rPr>
              <a:t>Catálogo paginado: </a:t>
            </a:r>
            <a:r>
              <a:rPr sz="1050" b="0" i="0">
                <a:solidFill>
                  <a:srgbClr val="1E293B"/>
                </a:solidFill>
                <a:latin typeface="Calibri"/>
              </a:rPr>
              <a:t>búsqueda por texto y filtros por categoría, precio mín/máx y stock.</a:t>
            </a:r>
          </a:p>
          <a:p>
            <a:pPr algn="l" marL="137160" indent="-137160">
              <a:spcAft>
                <a:spcPts val="500"/>
              </a:spcAft>
              <a:buFont typeface="Arial"/>
              <a:buChar char="•"/>
            </a:pPr>
            <a:r>
              <a:rPr sz="1050" b="1" i="0">
                <a:solidFill>
                  <a:srgbClr val="0F294A"/>
                </a:solidFill>
                <a:latin typeface="Calibri"/>
              </a:rPr>
              <a:t>Ficha y carrito: </a:t>
            </a:r>
            <a:r>
              <a:rPr sz="1050" b="0" i="0">
                <a:solidFill>
                  <a:srgbClr val="1E293B"/>
                </a:solidFill>
                <a:latin typeface="Calibri"/>
              </a:rPr>
              <a:t>detalle de producto y carrito activo con ajuste de cantidades y totales.</a:t>
            </a:r>
          </a:p>
          <a:p>
            <a:pPr algn="l" marL="137160" indent="-137160">
              <a:spcAft>
                <a:spcPts val="500"/>
              </a:spcAft>
              <a:buFont typeface="Arial"/>
              <a:buChar char="•"/>
            </a:pPr>
            <a:r>
              <a:rPr sz="1050" b="1" i="0">
                <a:solidFill>
                  <a:srgbClr val="0F294A"/>
                </a:solidFill>
                <a:latin typeface="Calibri"/>
              </a:rPr>
              <a:t>ABM administrativo: </a:t>
            </a:r>
            <a:r>
              <a:rPr sz="1050" b="0" i="0">
                <a:solidFill>
                  <a:srgbClr val="1E293B"/>
                </a:solidFill>
                <a:latin typeface="Calibri"/>
              </a:rPr>
              <a:t>gestión de productos (con imagen local), categorías y proveedores.</a:t>
            </a:r>
          </a:p>
        </p:txBody>
      </p:sp>
      <p:sp>
        <p:nvSpPr>
          <p:cNvPr id="9" name="Rounded Rectangle 8"/>
          <p:cNvSpPr/>
          <p:nvPr/>
        </p:nvSpPr>
        <p:spPr>
          <a:xfrm>
            <a:off x="3236976" y="822960"/>
            <a:ext cx="2670048" cy="3986784"/>
          </a:xfrm>
          <a:prstGeom prst="roundRect">
            <a:avLst>
              <a:gd name="adj" fmla="val 4000"/>
            </a:avLst>
          </a:prstGeom>
          <a:solidFill>
            <a:srgbClr val="FFF8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3364992" y="960120"/>
            <a:ext cx="118872" cy="118872"/>
          </a:xfrm>
          <a:prstGeom prst="ellipse">
            <a:avLst/>
          </a:prstGeom>
          <a:solidFill>
            <a:srgbClr val="D9770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547872"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Diferencias de alcance</a:t>
            </a:r>
          </a:p>
        </p:txBody>
      </p:sp>
      <p:sp>
        <p:nvSpPr>
          <p:cNvPr id="12" name="TextBox 11"/>
          <p:cNvSpPr txBox="1"/>
          <p:nvPr/>
        </p:nvSpPr>
        <p:spPr>
          <a:xfrm>
            <a:off x="3383280" y="1243584"/>
            <a:ext cx="2395728" cy="3511296"/>
          </a:xfrm>
          <a:prstGeom prst="rect">
            <a:avLst/>
          </a:prstGeom>
          <a:noFill/>
        </p:spPr>
        <p:txBody>
          <a:bodyPr wrap="square" anchor="t" lIns="0" rIns="0" tIns="0" bIns="0">
            <a:spAutoFit/>
          </a:bodyPr>
          <a:lstStyle/>
          <a:p>
            <a:pPr algn="l" marL="137160" indent="-137160">
              <a:spcAft>
                <a:spcPts val="500"/>
              </a:spcAft>
              <a:buFont typeface="Arial"/>
              <a:buChar char="•"/>
            </a:pPr>
            <a:r>
              <a:rPr sz="1050" b="1" i="0">
                <a:solidFill>
                  <a:srgbClr val="0F294A"/>
                </a:solidFill>
                <a:latin typeface="Calibri"/>
              </a:rPr>
              <a:t>Checkout web pendiente: </a:t>
            </a:r>
            <a:r>
              <a:rPr sz="1050" b="0" i="0">
                <a:solidFill>
                  <a:srgbClr val="1E293B"/>
                </a:solidFill>
                <a:latin typeface="Calibri"/>
              </a:rPr>
              <a:t>confirmación y pagos existen en API backend, pero falta el flujo MVC (CheckoutController) y pasarela.</a:t>
            </a:r>
          </a:p>
          <a:p>
            <a:pPr algn="l" marL="137160" indent="-137160">
              <a:spcAft>
                <a:spcPts val="500"/>
              </a:spcAft>
              <a:buFont typeface="Arial"/>
              <a:buChar char="•"/>
            </a:pPr>
            <a:r>
              <a:rPr sz="1050" b="1" i="0">
                <a:solidFill>
                  <a:srgbClr val="0F294A"/>
                </a:solidFill>
                <a:latin typeface="Calibri"/>
              </a:rPr>
              <a:t>Filtros no demostrados: </a:t>
            </a:r>
            <a:r>
              <a:rPr sz="1050" b="0" i="0">
                <a:solidFill>
                  <a:srgbClr val="1E293B"/>
                </a:solidFill>
                <a:latin typeface="Calibri"/>
              </a:rPr>
              <a:t>el filtro por marca y los destacados quedan diferidos por no existir aún en el modelo.</a:t>
            </a:r>
          </a:p>
          <a:p>
            <a:pPr algn="l" marL="137160" indent="-137160">
              <a:spcAft>
                <a:spcPts val="500"/>
              </a:spcAft>
              <a:buFont typeface="Arial"/>
              <a:buChar char="•"/>
            </a:pPr>
            <a:r>
              <a:rPr sz="1050" b="1" i="0">
                <a:solidFill>
                  <a:srgbClr val="0F294A"/>
                </a:solidFill>
                <a:latin typeface="Calibri"/>
              </a:rPr>
              <a:t>Eliminación física: </a:t>
            </a:r>
            <a:r>
              <a:rPr sz="1050" b="0" i="0">
                <a:solidFill>
                  <a:srgbClr val="1E293B"/>
                </a:solidFill>
                <a:latin typeface="Calibri"/>
              </a:rPr>
              <a:t>sujeta a relaciones (409 Conflict si integra carritos o pedidos), no baja lógica.</a:t>
            </a:r>
          </a:p>
        </p:txBody>
      </p:sp>
      <p:sp>
        <p:nvSpPr>
          <p:cNvPr id="13" name="Rounded Rectangle 12"/>
          <p:cNvSpPr/>
          <p:nvPr/>
        </p:nvSpPr>
        <p:spPr>
          <a:xfrm>
            <a:off x="6062472" y="822960"/>
            <a:ext cx="2670048" cy="3986784"/>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190488" y="960120"/>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373368"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Riesgos y hoja de ruta</a:t>
            </a:r>
          </a:p>
        </p:txBody>
      </p:sp>
      <p:sp>
        <p:nvSpPr>
          <p:cNvPr id="16" name="TextBox 15"/>
          <p:cNvSpPr txBox="1"/>
          <p:nvPr/>
        </p:nvSpPr>
        <p:spPr>
          <a:xfrm>
            <a:off x="6208776" y="1243584"/>
            <a:ext cx="2395728" cy="3511296"/>
          </a:xfrm>
          <a:prstGeom prst="rect">
            <a:avLst/>
          </a:prstGeom>
          <a:noFill/>
        </p:spPr>
        <p:txBody>
          <a:bodyPr wrap="square" anchor="t" lIns="0" rIns="0" tIns="0" bIns="0">
            <a:spAutoFit/>
          </a:bodyPr>
          <a:lstStyle/>
          <a:p>
            <a:pPr algn="l" marL="137160" indent="-137160">
              <a:spcAft>
                <a:spcPts val="500"/>
              </a:spcAft>
              <a:buFont typeface="Arial"/>
              <a:buChar char="•"/>
            </a:pPr>
            <a:r>
              <a:rPr sz="1050" b="1" i="0">
                <a:solidFill>
                  <a:srgbClr val="0F294A"/>
                </a:solidFill>
                <a:latin typeface="Calibri"/>
              </a:rPr>
              <a:t>Riesgos principales: </a:t>
            </a:r>
            <a:r>
              <a:rPr sz="1050" b="0" i="0">
                <a:solidFill>
                  <a:srgbClr val="1E293B"/>
                </a:solidFill>
                <a:latin typeface="Calibri"/>
              </a:rPr>
              <a:t>dependencia de pasarelas externas (MercadoPago), alineación documental y restricciones de integridad al borrar.</a:t>
            </a:r>
          </a:p>
          <a:p>
            <a:pPr algn="l" marL="137160" indent="-137160">
              <a:spcAft>
                <a:spcPts val="500"/>
              </a:spcAft>
              <a:buFont typeface="Arial"/>
              <a:buChar char="•"/>
            </a:pPr>
            <a:r>
              <a:rPr sz="1050" b="1" i="0">
                <a:solidFill>
                  <a:srgbClr val="0F294A"/>
                </a:solidFill>
                <a:latin typeface="Calibri"/>
              </a:rPr>
              <a:t>Próxima etapa 1: </a:t>
            </a:r>
            <a:r>
              <a:rPr sz="1050" b="0" i="0">
                <a:solidFill>
                  <a:srgbClr val="1E293B"/>
                </a:solidFill>
                <a:latin typeface="Calibri"/>
              </a:rPr>
              <a:t>completar pantallas MVC de checkout, direcciones e historial de pedidos del cliente.</a:t>
            </a:r>
          </a:p>
          <a:p>
            <a:pPr algn="l" marL="137160" indent="-137160">
              <a:spcAft>
                <a:spcPts val="500"/>
              </a:spcAft>
              <a:buFont typeface="Arial"/>
              <a:buChar char="•"/>
            </a:pPr>
            <a:r>
              <a:rPr sz="1050" b="1" i="0">
                <a:solidFill>
                  <a:srgbClr val="0F294A"/>
                </a:solidFill>
                <a:latin typeface="Calibri"/>
              </a:rPr>
              <a:t>Próxima etapa 2: </a:t>
            </a:r>
            <a:r>
              <a:rPr sz="1050" b="0" i="0">
                <a:solidFill>
                  <a:srgbClr val="1E293B"/>
                </a:solidFill>
                <a:latin typeface="Calibri"/>
              </a:rPr>
              <a:t>incorporar baja lógica (Activo) en productos, recuperación por email y pago integrado.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La propuesta para el comercio</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11 · Propuesta (1:00) · 12/13</a:t>
            </a:r>
          </a:p>
        </p:txBody>
      </p:sp>
      <p:sp>
        <p:nvSpPr>
          <p:cNvPr id="5" name="Rounded Rectangle 4"/>
          <p:cNvSpPr/>
          <p:nvPr/>
        </p:nvSpPr>
        <p:spPr>
          <a:xfrm>
            <a:off x="411480" y="822960"/>
            <a:ext cx="2670048" cy="196596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22376"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1. Catálogo consultable</a:t>
            </a:r>
          </a:p>
        </p:txBody>
      </p:sp>
      <p:sp>
        <p:nvSpPr>
          <p:cNvPr id="8" name="TextBox 7"/>
          <p:cNvSpPr txBox="1"/>
          <p:nvPr/>
        </p:nvSpPr>
        <p:spPr>
          <a:xfrm>
            <a:off x="557784" y="1243584"/>
            <a:ext cx="2395728" cy="1490472"/>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Vidriera digital clara: </a:t>
            </a:r>
            <a:r>
              <a:rPr sz="1080" b="0" i="0">
                <a:solidFill>
                  <a:srgbClr val="1E293B"/>
                </a:solidFill>
                <a:latin typeface="Calibri"/>
              </a:rPr>
              <a:t>los clientes exploran notebooks y periféricos con precios, fotos y stock al día, reduciendo consultas repetitivas al mostrador.</a:t>
            </a:r>
          </a:p>
        </p:txBody>
      </p:sp>
      <p:sp>
        <p:nvSpPr>
          <p:cNvPr id="9" name="Rounded Rectangle 8"/>
          <p:cNvSpPr/>
          <p:nvPr/>
        </p:nvSpPr>
        <p:spPr>
          <a:xfrm>
            <a:off x="3236976" y="822960"/>
            <a:ext cx="2670048" cy="196596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3364992"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547872"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2. Selección organizada</a:t>
            </a:r>
          </a:p>
        </p:txBody>
      </p:sp>
      <p:sp>
        <p:nvSpPr>
          <p:cNvPr id="12" name="TextBox 11"/>
          <p:cNvSpPr txBox="1"/>
          <p:nvPr/>
        </p:nvSpPr>
        <p:spPr>
          <a:xfrm>
            <a:off x="3383280" y="1243584"/>
            <a:ext cx="2395728" cy="1490472"/>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Carrito por cliente: </a:t>
            </a:r>
            <a:r>
              <a:rPr sz="1080" b="0" i="0">
                <a:solidFill>
                  <a:srgbClr val="1E293B"/>
                </a:solidFill>
                <a:latin typeface="Calibri"/>
              </a:rPr>
              <a:t>cada usuario registrado arma su selección de productos, ajusta cantidades según stock real y conoce el importe total de inmediato.</a:t>
            </a:r>
          </a:p>
        </p:txBody>
      </p:sp>
      <p:sp>
        <p:nvSpPr>
          <p:cNvPr id="13" name="Rounded Rectangle 12"/>
          <p:cNvSpPr/>
          <p:nvPr/>
        </p:nvSpPr>
        <p:spPr>
          <a:xfrm>
            <a:off x="6062472" y="822960"/>
            <a:ext cx="2670048" cy="1965960"/>
          </a:xfrm>
          <a:prstGeom prst="roundRect">
            <a:avLst>
              <a:gd name="adj" fmla="val 4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190488" y="960120"/>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373368" y="914400"/>
            <a:ext cx="2267712" cy="274320"/>
          </a:xfrm>
          <a:prstGeom prst="rect">
            <a:avLst/>
          </a:prstGeom>
          <a:noFill/>
        </p:spPr>
        <p:txBody>
          <a:bodyPr wrap="square" anchor="t" lIns="0" rIns="0" tIns="0" bIns="0">
            <a:spAutoFit/>
          </a:bodyPr>
          <a:lstStyle/>
          <a:p>
            <a:pPr algn="l"/>
            <a:r>
              <a:rPr sz="1250" b="1" i="0">
                <a:solidFill>
                  <a:srgbClr val="0F294A"/>
                </a:solidFill>
                <a:latin typeface="Calibri"/>
              </a:rPr>
              <a:t>3. Gestión centralizada</a:t>
            </a:r>
          </a:p>
        </p:txBody>
      </p:sp>
      <p:sp>
        <p:nvSpPr>
          <p:cNvPr id="16" name="TextBox 15"/>
          <p:cNvSpPr txBox="1"/>
          <p:nvPr/>
        </p:nvSpPr>
        <p:spPr>
          <a:xfrm>
            <a:off x="6208776" y="1243584"/>
            <a:ext cx="2395728" cy="1490472"/>
          </a:xfrm>
          <a:prstGeom prst="rect">
            <a:avLst/>
          </a:prstGeom>
          <a:noFill/>
        </p:spPr>
        <p:txBody>
          <a:bodyPr wrap="square" anchor="t" lIns="0" rIns="0" tIns="0" bIns="0">
            <a:spAutoFit/>
          </a:bodyPr>
          <a:lstStyle/>
          <a:p>
            <a:pPr algn="l" marL="137160" indent="-137160">
              <a:spcAft>
                <a:spcPts val="400"/>
              </a:spcAft>
              <a:buFont typeface="Arial"/>
              <a:buChar char="•"/>
            </a:pPr>
            <a:r>
              <a:rPr sz="1080" b="1" i="0">
                <a:solidFill>
                  <a:srgbClr val="0F294A"/>
                </a:solidFill>
                <a:latin typeface="Calibri"/>
              </a:rPr>
              <a:t>Control en un solo lugar: </a:t>
            </a:r>
            <a:r>
              <a:rPr sz="1080" b="0" i="0">
                <a:solidFill>
                  <a:srgbClr val="1E293B"/>
                </a:solidFill>
                <a:latin typeface="Calibri"/>
              </a:rPr>
              <a:t>Administración centralizada para dar de alta equipos, actualizar precios o imágenes y depurar la oferta desde un panel protegido por rol.</a:t>
            </a:r>
          </a:p>
        </p:txBody>
      </p:sp>
      <p:sp>
        <p:nvSpPr>
          <p:cNvPr id="17" name="Rounded Rectangle 16"/>
          <p:cNvSpPr/>
          <p:nvPr/>
        </p:nvSpPr>
        <p:spPr>
          <a:xfrm>
            <a:off x="411480" y="2944368"/>
            <a:ext cx="8321040" cy="1865376"/>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539496" y="3081528"/>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22376" y="3035808"/>
            <a:ext cx="7918704" cy="274320"/>
          </a:xfrm>
          <a:prstGeom prst="rect">
            <a:avLst/>
          </a:prstGeom>
          <a:noFill/>
        </p:spPr>
        <p:txBody>
          <a:bodyPr wrap="square" anchor="t" lIns="0" rIns="0" tIns="0" bIns="0">
            <a:spAutoFit/>
          </a:bodyPr>
          <a:lstStyle/>
          <a:p>
            <a:pPr algn="l"/>
            <a:r>
              <a:rPr sz="1300" b="1" i="0">
                <a:solidFill>
                  <a:srgbClr val="0F294A"/>
                </a:solidFill>
                <a:latin typeface="Calibri"/>
              </a:rPr>
              <a:t>Siguiente paso comercial: Piloto con productos reales del comercio</a:t>
            </a:r>
          </a:p>
        </p:txBody>
      </p:sp>
      <p:sp>
        <p:nvSpPr>
          <p:cNvPr id="20" name="TextBox 19"/>
          <p:cNvSpPr txBox="1"/>
          <p:nvPr/>
        </p:nvSpPr>
        <p:spPr>
          <a:xfrm>
            <a:off x="557784" y="3364992"/>
            <a:ext cx="8046719" cy="1389888"/>
          </a:xfrm>
          <a:prstGeom prst="rect">
            <a:avLst/>
          </a:prstGeom>
          <a:noFill/>
        </p:spPr>
        <p:txBody>
          <a:bodyPr wrap="square" anchor="t" lIns="0" rIns="0" tIns="0" bIns="0">
            <a:spAutoFit/>
          </a:bodyPr>
          <a:lstStyle/>
          <a:p>
            <a:pPr algn="l" marL="137160" indent="-137160">
              <a:spcAft>
                <a:spcPts val="500"/>
              </a:spcAft>
              <a:buFont typeface="Arial"/>
              <a:buChar char="•"/>
            </a:pPr>
            <a:r>
              <a:rPr sz="1080" b="1" i="0">
                <a:solidFill>
                  <a:srgbClr val="0F294A"/>
                </a:solidFill>
                <a:latin typeface="Calibri"/>
              </a:rPr>
              <a:t>Propuesta de adopción gradual: </a:t>
            </a:r>
            <a:r>
              <a:rPr sz="1080" b="0" i="0">
                <a:solidFill>
                  <a:srgbClr val="1E293B"/>
                </a:solidFill>
                <a:latin typeface="Calibri"/>
              </a:rPr>
              <a:t>implementar un piloto inicial cargando un subconjunto real del catálogo del comercio (por ejemplo, la línea de notebooks y periféricos de mayor rotación) junto con sus proveedores habituales.</a:t>
            </a:r>
          </a:p>
          <a:p>
            <a:pPr algn="l" marL="137160" indent="-137160">
              <a:spcAft>
                <a:spcPts val="500"/>
              </a:spcAft>
              <a:buFont typeface="Arial"/>
              <a:buChar char="•"/>
            </a:pPr>
            <a:r>
              <a:rPr sz="1080" b="1" i="0">
                <a:solidFill>
                  <a:srgbClr val="0F294A"/>
                </a:solidFill>
                <a:latin typeface="Calibri"/>
              </a:rPr>
              <a:t>Validación en operación: </a:t>
            </a:r>
            <a:r>
              <a:rPr sz="1080" b="0" i="0">
                <a:solidFill>
                  <a:srgbClr val="1E293B"/>
                </a:solidFill>
                <a:latin typeface="Calibri"/>
              </a:rPr>
              <a:t>permitir que los clientes consulten precios vigentes y armen su selección desde la web mientras el personal valida la carga administrativa, previo a habilitar el cobro online.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5FA"/>
        </a:solidFill>
        <a:effectLst/>
      </p:bgPr>
    </p:bg>
    <p:spTree>
      <p:nvGrpSpPr>
        <p:cNvPr id="1" name=""/>
        <p:cNvGrpSpPr/>
        <p:nvPr/>
      </p:nvGrpSpPr>
      <p:grpSpPr/>
      <p:sp>
        <p:nvSpPr>
          <p:cNvPr id="2" name="Rounded Rectangle 1"/>
          <p:cNvSpPr/>
          <p:nvPr/>
        </p:nvSpPr>
        <p:spPr>
          <a:xfrm>
            <a:off x="6903720" y="219456"/>
            <a:ext cx="1828800" cy="329184"/>
          </a:xfrm>
          <a:prstGeom prst="roundRect">
            <a:avLst>
              <a:gd name="adj" fmla="val 50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411480" y="201168"/>
            <a:ext cx="6400800" cy="438912"/>
          </a:xfrm>
          <a:prstGeom prst="rect">
            <a:avLst/>
          </a:prstGeom>
          <a:noFill/>
        </p:spPr>
        <p:txBody>
          <a:bodyPr wrap="square" anchor="t" lIns="0" rIns="0" tIns="0" bIns="0">
            <a:spAutoFit/>
          </a:bodyPr>
          <a:lstStyle/>
          <a:p>
            <a:pPr algn="l"/>
            <a:r>
              <a:rPr sz="2400" b="1" i="0">
                <a:solidFill>
                  <a:srgbClr val="0F294A"/>
                </a:solidFill>
                <a:latin typeface="Cambria"/>
              </a:rPr>
              <a:t>TotalTech en funcionamiento</a:t>
            </a:r>
          </a:p>
        </p:txBody>
      </p:sp>
      <p:sp>
        <p:nvSpPr>
          <p:cNvPr id="4" name="TextBox 3"/>
          <p:cNvSpPr txBox="1"/>
          <p:nvPr/>
        </p:nvSpPr>
        <p:spPr>
          <a:xfrm>
            <a:off x="6931152" y="265176"/>
            <a:ext cx="1773936" cy="237744"/>
          </a:xfrm>
          <a:prstGeom prst="rect">
            <a:avLst/>
          </a:prstGeom>
          <a:noFill/>
        </p:spPr>
        <p:txBody>
          <a:bodyPr wrap="square" anchor="t" lIns="0" rIns="0" tIns="0" bIns="0">
            <a:spAutoFit/>
          </a:bodyPr>
          <a:lstStyle/>
          <a:p>
            <a:pPr algn="ctr"/>
            <a:r>
              <a:rPr sz="1050" b="1" i="0">
                <a:solidFill>
                  <a:srgbClr val="2474EE"/>
                </a:solidFill>
                <a:latin typeface="Calibri"/>
              </a:rPr>
              <a:t>12 · Demo (0:30 + 9:00) · 13/13</a:t>
            </a:r>
          </a:p>
        </p:txBody>
      </p:sp>
      <p:sp>
        <p:nvSpPr>
          <p:cNvPr id="5" name="Rounded Rectangle 4"/>
          <p:cNvSpPr/>
          <p:nvPr/>
        </p:nvSpPr>
        <p:spPr>
          <a:xfrm>
            <a:off x="411480" y="768096"/>
            <a:ext cx="8321040" cy="438912"/>
          </a:xfrm>
          <a:prstGeom prst="roundRect">
            <a:avLst>
              <a:gd name="adj" fmla="val 4000"/>
            </a:avLst>
          </a:prstGeom>
          <a:solidFill>
            <a:srgbClr val="E6F0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539496" y="905256"/>
            <a:ext cx="118872" cy="118872"/>
          </a:xfrm>
          <a:prstGeom prst="ellipse">
            <a:avLst/>
          </a:prstGeom>
          <a:solidFill>
            <a:srgbClr val="2474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411480" y="4261104"/>
            <a:ext cx="8321040" cy="603504"/>
          </a:xfrm>
          <a:prstGeom prst="roundRect">
            <a:avLst>
              <a:gd name="adj" fmla="val 4000"/>
            </a:avLst>
          </a:prstGeom>
          <a:solidFill>
            <a:srgbClr val="0B1F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39496" y="4398264"/>
            <a:ext cx="118872" cy="118872"/>
          </a:xfrm>
          <a:prstGeom prst="ellipse">
            <a:avLst/>
          </a:prstGeom>
          <a:solidFill>
            <a:srgbClr val="00A8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832104"/>
            <a:ext cx="7863840" cy="310896"/>
          </a:xfrm>
          <a:prstGeom prst="rect">
            <a:avLst/>
          </a:prstGeom>
          <a:noFill/>
        </p:spPr>
        <p:txBody>
          <a:bodyPr wrap="square" anchor="t" lIns="0" rIns="0" tIns="0" bIns="0">
            <a:spAutoFit/>
          </a:bodyPr>
          <a:lstStyle/>
          <a:p>
            <a:r>
              <a:rPr sz="1080" b="1" i="0">
                <a:solidFill>
                  <a:srgbClr val="0F294A"/>
                </a:solidFill>
                <a:latin typeface="Calibri"/>
              </a:rPr>
              <a:t>Historia continua (9:00): </a:t>
            </a:r>
            <a:r>
              <a:rPr sz="1050" b="0" i="0">
                <a:solidFill>
                  <a:srgbClr val="1E293B"/>
                </a:solidFill>
                <a:latin typeface="Calibri"/>
              </a:rPr>
              <a:t>un cliente busca una notebook y el comercio mantiene actualizada su oferta (sesiones separadas · producto ABM: “Producto de demostración TotalTech”).</a:t>
            </a:r>
          </a:p>
        </p:txBody>
      </p:sp>
      <p:graphicFrame>
        <p:nvGraphicFramePr>
          <p:cNvPr id="10" name="Table 9"/>
          <p:cNvGraphicFramePr>
            <a:graphicFrameLocks noGrp="1"/>
          </p:cNvGraphicFramePr>
          <p:nvPr/>
        </p:nvGraphicFramePr>
        <p:xfrm>
          <a:off x="411480" y="1280160"/>
          <a:ext cx="8321040" cy="2843784"/>
        </p:xfrm>
        <a:graphic>
          <a:graphicData uri="http://schemas.openxmlformats.org/drawingml/2006/table">
            <a:tbl>
              <a:tblPr firstRow="1" bandRow="1">
                <a:tableStyleId>{5C22544A-7EE6-4342-B048-85BDC9FD1C3A}</a:tableStyleId>
              </a:tblPr>
              <a:tblGrid>
                <a:gridCol w="502920"/>
                <a:gridCol w="4983480"/>
                <a:gridCol w="1965960"/>
                <a:gridCol w="868680"/>
              </a:tblGrid>
              <a:tr h="320040">
                <a:tc>
                  <a:txBody>
                    <a:bodyPr wrap="square"/>
                    <a:lstStyle/>
                    <a:p>
                      <a:pPr algn="l"/>
                      <a:r>
                        <a:rPr sz="1050" b="1" i="0">
                          <a:solidFill>
                            <a:srgbClr val="FFFFFF"/>
                          </a:solidFill>
                          <a:latin typeface="Calibri"/>
                        </a:rPr>
                        <a:t>Paso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Acción en vivo y resultado observable en el navegador</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Acredita</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1" i="0">
                          <a:solidFill>
                            <a:srgbClr val="FFFFFF"/>
                          </a:solidFill>
                          <a:latin typeface="Calibri"/>
                        </a:rPr>
                        <a:t>Tiempo</a:t>
                      </a:r>
                    </a:p>
                  </a:txBody>
                  <a:tcPr marL="64008" marR="64008" marT="27432" marB="27432" anchor="ctr">
                    <a:solidFill>
                      <a:srgbClr val="0F294A"/>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1</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Registrar una cuenta ficticia; mostrar una validación y completar el alta.</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UC-01 / RF registro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1:15</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2</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Iniciar sesión con la cuenta creada y mostrar la navegación del cliente.</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UC-02 / RF autenticación</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0:45</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3</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Buscar una notebook y aplicar filtros; mostrar búsqueda vacía y recuperar resultados.</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UC-08 / RF catálogo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1:15</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4</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Abrir el detalle del producto y consultar imagen, descripción, precio y stock.</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UC-09 / RF catálogo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0:45</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5</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Agregar al carrito, modificar cantidad, comprobar totales y eliminar el ítem.</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RF carrito (adicional)</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1:15</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84048">
                <a:tc>
                  <a:txBody>
                    <a:bodyPr wrap="square"/>
                    <a:lstStyle/>
                    <a:p>
                      <a:pPr algn="l"/>
                      <a:r>
                        <a:rPr sz="1050" b="1" i="0">
                          <a:solidFill>
                            <a:srgbClr val="0F294A"/>
                          </a:solidFill>
                          <a:latin typeface="Calibri"/>
                        </a:rPr>
                        <a:t>6</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Sesión Admin: crear “Producto de demostración TotalTech”, editarlo, verlo en catálogo y eliminarlo.</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UC-19 / RF productos</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2:30</a:t>
                      </a:r>
                    </a:p>
                  </a:txBody>
                  <a:tcPr marL="64008" marR="64008" marT="27432" marB="27432" anchor="ctr">
                    <a:solidFill>
                      <a:srgbClr val="F1F6FC"/>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r h="356616">
                <a:tc>
                  <a:txBody>
                    <a:bodyPr wrap="square"/>
                    <a:lstStyle/>
                    <a:p>
                      <a:pPr algn="l"/>
                      <a:r>
                        <a:rPr sz="1050" b="1" i="0">
                          <a:solidFill>
                            <a:srgbClr val="0F294A"/>
                          </a:solidFill>
                          <a:latin typeface="Calibri"/>
                        </a:rPr>
                        <a:t>7</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Mostrar adaptación móvil, contrastar permisos Cliente/Admin, recapitular RNF y cerrar con piloto.</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RNF + Cierre comercial</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c>
                  <a:txBody>
                    <a:bodyPr wrap="square"/>
                    <a:lstStyle/>
                    <a:p>
                      <a:pPr algn="l"/>
                      <a:r>
                        <a:rPr sz="1050" b="0" i="0">
                          <a:solidFill>
                            <a:srgbClr val="1E293B"/>
                          </a:solidFill>
                          <a:latin typeface="Calibri"/>
                        </a:rPr>
                        <a:t>1:15</a:t>
                      </a:r>
                    </a:p>
                  </a:txBody>
                  <a:tcPr marL="64008" marR="64008" marT="27432" marB="27432" anchor="ctr">
                    <a:solidFill>
                      <a:srgbClr val="FFFFFF"/>
                    </a:solidFill>
                    <a:lnL w="6350" cap="flat" cmpd="sng" algn="ctr">
                      <a:solidFill>
                        <a:srgbClr val="CBD5E1"/>
                      </a:solidFill>
                    </a:lnL>
                    <a:lnR w="6350" cap="flat" cmpd="sng" algn="ctr">
                      <a:solidFill>
                        <a:srgbClr val="CBD5E1"/>
                      </a:solidFill>
                    </a:lnR>
                    <a:lnT w="6350" cap="flat" cmpd="sng" algn="ctr">
                      <a:solidFill>
                        <a:srgbClr val="CBD5E1"/>
                      </a:solidFill>
                    </a:lnT>
                    <a:lnB w="6350" cap="flat" cmpd="sng" algn="ctr">
                      <a:solidFill>
                        <a:srgbClr val="CBD5E1"/>
                      </a:solidFill>
                    </a:lnB>
                  </a:tcPr>
                </a:tc>
              </a:tr>
            </a:tbl>
          </a:graphicData>
        </a:graphic>
      </p:graphicFrame>
      <p:sp>
        <p:nvSpPr>
          <p:cNvPr id="11" name="TextBox 10"/>
          <p:cNvSpPr txBox="1"/>
          <p:nvPr/>
        </p:nvSpPr>
        <p:spPr>
          <a:xfrm>
            <a:off x="731520" y="4334256"/>
            <a:ext cx="7863840" cy="457200"/>
          </a:xfrm>
          <a:prstGeom prst="rect">
            <a:avLst/>
          </a:prstGeom>
          <a:noFill/>
        </p:spPr>
        <p:txBody>
          <a:bodyPr wrap="square" anchor="t" lIns="0" rIns="0" tIns="0" bIns="0">
            <a:spAutoFit/>
          </a:bodyPr>
          <a:lstStyle/>
          <a:p>
            <a:r>
              <a:rPr sz="1080" b="1" i="0">
                <a:solidFill>
                  <a:srgbClr val="90CAF9"/>
                </a:solidFill>
                <a:latin typeface="Calibri"/>
              </a:rPr>
              <a:t>Cierre en vivo: </a:t>
            </a:r>
            <a:r>
              <a:rPr sz="1080" b="1" i="1">
                <a:solidFill>
                  <a:srgbClr val="FFFFFF"/>
                </a:solidFill>
                <a:latin typeface="Calibri"/>
              </a:rPr>
              <a:t>“Con TotalTech, el comercio mantiene su oferta y el cliente puede encontrar y organizar los productos que le interesan”.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784</Words>
  <Application>Microsoft Office PowerPoint</Application>
  <PresentationFormat>Presentación en pantalla (16:9)</PresentationFormat>
  <Paragraphs>97</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Taller Mecánico</dc:title>
  <dc:subject>PptxGenJS Presentation</dc:subject>
  <dc:creator>PptxGenJS</dc:creator>
  <cp:lastModifiedBy>Facundo Mina</cp:lastModifiedBy>
  <cp:revision>1</cp:revision>
  <dcterms:created xsi:type="dcterms:W3CDTF">2026-09-29T13:24:08Z</dcterms:created>
  <dcterms:modified xsi:type="dcterms:W3CDTF">2026-10-01T21:43:11Z</dcterms:modified>
</cp:coreProperties>
</file>