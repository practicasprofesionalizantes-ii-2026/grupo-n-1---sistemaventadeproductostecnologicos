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00a1f42a5a4889" /><Relationship Type="http://schemas.openxmlformats.org/officeDocument/2006/relationships/extended-properties" Target="/docProps/app.xml" Id="R000b9f0a8ae74b46" /><Relationship Type="http://schemas.openxmlformats.org/officeDocument/2006/relationships/officeDocument" Target="/ppt/presentation.xml" Id="Rf4785626471f4755" /></Relationships>
</file>

<file path=ppt/presentation.xml><?xml version="1.0" encoding="utf-8"?>
<p:presentation xmlns:p="http://schemas.openxmlformats.org/presentationml/2006/main">
  <p:sldMasterIdLst>
    <p:sldMasterId xmlns:r="http://schemas.openxmlformats.org/officeDocument/2006/relationships" id="2147483648" r:id="Raa6c96ab95064bca"/>
  </p:sldMasterIdLst>
  <p:notesMasterIdLst>
    <p:notesMasterId xmlns:r="http://schemas.openxmlformats.org/officeDocument/2006/relationships" r:id="Ra6f596f581e04cd7"/>
  </p:notesMasterIdLst>
  <p:sldIdLst>
    <p:sldId xmlns:r="http://schemas.openxmlformats.org/officeDocument/2006/relationships" id="256" r:id="R28b12d3004754b87"/>
    <p:sldId xmlns:r="http://schemas.openxmlformats.org/officeDocument/2006/relationships" id="257" r:id="Ra11976fc403e4694"/>
    <p:sldId xmlns:r="http://schemas.openxmlformats.org/officeDocument/2006/relationships" id="258" r:id="R1a5ab5d95907443c"/>
    <p:sldId xmlns:r="http://schemas.openxmlformats.org/officeDocument/2006/relationships" id="259" r:id="Rc2a653d80a574855"/>
    <p:sldId xmlns:r="http://schemas.openxmlformats.org/officeDocument/2006/relationships" id="260" r:id="Rd73e9d96abce4738"/>
    <p:sldId xmlns:r="http://schemas.openxmlformats.org/officeDocument/2006/relationships" id="261" r:id="R8a44b7b7d3024fc9"/>
    <p:sldId xmlns:r="http://schemas.openxmlformats.org/officeDocument/2006/relationships" id="262" r:id="R340c5d135c4946a0"/>
    <p:sldId xmlns:r="http://schemas.openxmlformats.org/officeDocument/2006/relationships" id="263" r:id="R3967b1e3924b48d1"/>
    <p:sldId xmlns:r="http://schemas.openxmlformats.org/officeDocument/2006/relationships" id="264" r:id="R2278a138b9a04ead"/>
    <p:sldId xmlns:r="http://schemas.openxmlformats.org/officeDocument/2006/relationships" id="265" r:id="R23ea666872f647b8"/>
    <p:sldId xmlns:r="http://schemas.openxmlformats.org/officeDocument/2006/relationships" id="266" r:id="Rae65f7c8441549a6"/>
    <p:sldId xmlns:r="http://schemas.openxmlformats.org/officeDocument/2006/relationships" id="267" r:id="R8d6bc4cbcdb44e02"/>
    <p:sldId xmlns:r="http://schemas.openxmlformats.org/officeDocument/2006/relationships" id="268" r:id="Ra35b6fdff33e4a33"/>
    <p:sldId xmlns:r="http://schemas.openxmlformats.org/officeDocument/2006/relationships" id="269" r:id="R47460fa545de4c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9ee937b9fe4f9c" /><Relationship Type="http://schemas.openxmlformats.org/officeDocument/2006/relationships/slideMaster" Target="/ppt/slideMasters/slideMaster1.xml" Id="Raa6c96ab95064bca" /><Relationship Type="http://schemas.openxmlformats.org/officeDocument/2006/relationships/notesMaster" Target="/ppt/notesMasters/notesMaster1.xml" Id="Ra6f596f581e04cd7" /><Relationship Type="http://schemas.openxmlformats.org/officeDocument/2006/relationships/presProps" Target="/ppt/presProps.xml" Id="R7d57746ce40745eb" /><Relationship Type="http://schemas.openxmlformats.org/officeDocument/2006/relationships/tableStyles" Target="/ppt/tableStyles.xml" Id="R428a448015f94af8" /><Relationship Type="http://schemas.openxmlformats.org/officeDocument/2006/relationships/slide" Target="/ppt/slides/slide1.xml" Id="R28b12d3004754b87" /><Relationship Type="http://schemas.openxmlformats.org/officeDocument/2006/relationships/slide" Target="/ppt/slides/slide2.xml" Id="Ra11976fc403e4694" /><Relationship Type="http://schemas.openxmlformats.org/officeDocument/2006/relationships/slide" Target="/ppt/slides/slide3.xml" Id="R1a5ab5d95907443c" /><Relationship Type="http://schemas.openxmlformats.org/officeDocument/2006/relationships/slide" Target="/ppt/slides/slide4.xml" Id="Rc2a653d80a574855" /><Relationship Type="http://schemas.openxmlformats.org/officeDocument/2006/relationships/slide" Target="/ppt/slides/slide5.xml" Id="Rd73e9d96abce4738" /><Relationship Type="http://schemas.openxmlformats.org/officeDocument/2006/relationships/slide" Target="/ppt/slides/slide6.xml" Id="R8a44b7b7d3024fc9" /><Relationship Type="http://schemas.openxmlformats.org/officeDocument/2006/relationships/slide" Target="/ppt/slides/slide7.xml" Id="R340c5d135c4946a0" /><Relationship Type="http://schemas.openxmlformats.org/officeDocument/2006/relationships/slide" Target="/ppt/slides/slide8.xml" Id="R3967b1e3924b48d1" /><Relationship Type="http://schemas.openxmlformats.org/officeDocument/2006/relationships/slide" Target="/ppt/slides/slide9.xml" Id="R2278a138b9a04ead" /><Relationship Type="http://schemas.openxmlformats.org/officeDocument/2006/relationships/slide" Target="/ppt/slides/slide10.xml" Id="R23ea666872f647b8" /><Relationship Type="http://schemas.openxmlformats.org/officeDocument/2006/relationships/slide" Target="/ppt/slides/slide11.xml" Id="Rae65f7c8441549a6" /><Relationship Type="http://schemas.openxmlformats.org/officeDocument/2006/relationships/slide" Target="/ppt/slides/slide12.xml" Id="R8d6bc4cbcdb44e02" /><Relationship Type="http://schemas.openxmlformats.org/officeDocument/2006/relationships/slide" Target="/ppt/slides/slide13.xml" Id="Ra35b6fdff33e4a33" /><Relationship Type="http://schemas.openxmlformats.org/officeDocument/2006/relationships/slide" Target="/ppt/slides/slide14.xml" Id="R47460fa545de4c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c1633f16414f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18cb1855384f02" /><Relationship Type="http://schemas.openxmlformats.org/officeDocument/2006/relationships/notesMaster" Target="/ppt/notesMasters/notesMaster1.xml" Id="Raa103b71444842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36a1e7350c40d3" /><Relationship Type="http://schemas.openxmlformats.org/officeDocument/2006/relationships/notesMaster" Target="/ppt/notesMasters/notesMaster1.xml" Id="Rf087134a633b4a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748d8406b84e32" /><Relationship Type="http://schemas.openxmlformats.org/officeDocument/2006/relationships/notesMaster" Target="/ppt/notesMasters/notesMaster1.xml" Id="R5c38efb7440540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d55957f59d4b5d" /><Relationship Type="http://schemas.openxmlformats.org/officeDocument/2006/relationships/notesMaster" Target="/ppt/notesMasters/notesMaster1.xml" Id="R47247224eeea48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6d5387f2294a29" /><Relationship Type="http://schemas.openxmlformats.org/officeDocument/2006/relationships/notesMaster" Target="/ppt/notesMasters/notesMaster1.xml" Id="R2d55cf58e721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61c087873e4802" /><Relationship Type="http://schemas.openxmlformats.org/officeDocument/2006/relationships/notesMaster" Target="/ppt/notesMasters/notesMaster1.xml" Id="R29869cd233df4a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9cba865a394fa7" /><Relationship Type="http://schemas.openxmlformats.org/officeDocument/2006/relationships/notesMaster" Target="/ppt/notesMasters/notesMaster1.xml" Id="R82b666dc28f640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5dd4f979994370" /><Relationship Type="http://schemas.openxmlformats.org/officeDocument/2006/relationships/notesMaster" Target="/ppt/notesMasters/notesMaster1.xml" Id="Ra8d6ebf1292343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d1323e83e04d12" /><Relationship Type="http://schemas.openxmlformats.org/officeDocument/2006/relationships/notesMaster" Target="/ppt/notesMasters/notesMaster1.xml" Id="R742583e4fa7b4e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73c23cca164c8b" /><Relationship Type="http://schemas.openxmlformats.org/officeDocument/2006/relationships/notesMaster" Target="/ppt/notesMasters/notesMaster1.xml" Id="Ra8f632e8884a4d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489746860e4064" /><Relationship Type="http://schemas.openxmlformats.org/officeDocument/2006/relationships/notesMaster" Target="/ppt/notesMasters/notesMaster1.xml" Id="R24224716e86444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2494736f4b4c7f" /><Relationship Type="http://schemas.openxmlformats.org/officeDocument/2006/relationships/notesMaster" Target="/ppt/notesMasters/notesMaster1.xml" Id="Re8fb5f853eea43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9ed1dc34e7409f" /><Relationship Type="http://schemas.openxmlformats.org/officeDocument/2006/relationships/notesMaster" Target="/ppt/notesMasters/notesMaster1.xml" Id="Rbb58498de7f649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0b2cb105c446b8" /><Relationship Type="http://schemas.openxmlformats.org/officeDocument/2006/relationships/notesMaster" Target="/ppt/notesMasters/notesMaster1.xml" Id="Rda0e5a43019f4a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Facundo. Presentar a Facundo y Daiana. Hoy mostramos cómo un requisito llega a una pantalla y cómo esa acción recorre el código hasta SQL Server. Usaremos cinco casos completos del estado actual del proyecto. En veinte minutos alternamos documentación, implementación y demostración. No enumerar todas las entidades. Ceder la palabra a Daiana al llegar a 0:30.</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C:\Users\facu_\Documents\GitHub\Grupo-N-1---SistemaVentaDeProductosTecnologicos\Grupo-N-1---SistemaVentaDeProductosTecnologicos\README.md</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Daiana. Explicar el problema: una tienda necesita mostrar su oferta y permitir que cada cliente arme su carrito, mientras el administrador mantiene la información. El alcance actual que defendemos son cinco flujos verificables. La documentación original incluye objetivos más amplios como pagos, pedidos y soporte. Tener un documento o una vista reservada no significa que el flujo MVC esté terminado. El cierre delimita esos pendientes. Transición: Facundo explica cómo elegimos evidencia.</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C:\Users\facu_\Documents\GitHub\Grupo-N-1---SistemaVentaDeProductosTecnologicos\Grupo-N-1---SistemaVentaDeProductosTecnologicos\Documentacion\Documentación - Grupo 1 -TotalTech.pdf</a:t>
            </a:r>
          </a:p>
          <a:p xmlns:a="http://schemas.openxmlformats.org/drawingml/2006/main">
            <a:r>
              <a:t>C:\Users\facu_\Documents\GitHub\Grupo-N-1---SistemaVentaDeProductosTecnologicos\Grupo-N-1---SistemaVentaDeProductosTecnologicos\Documentacion\API.md</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 Facundo. Primero leímos Documentación - Grupo 1 -TotalTech.pdf, requisitos funcionales en página 8 y no funcionales en página 9, y Casos de Uso- Totaltech.pdf. Después contrastamos los objetivos con la documentación de API actualizada y el código de esta versión. La documentación original describe más funciones que las demostrables hoy. RF01 a RF05 y CU01 a CU05 son identificadores de selección para esta presentación, no una renumeración del documento histórico. Para cada caso seguimos pantalla, contrato HTTP, controlador, lógica, persistencia y respuesta. El ejemplo es gestión de usuarios: en la interfaz elegimos registro, enviamos POST /auth/registro y encontramos UsuariosLogica.RegistrarAsync. El resultado observable es la cuenta creada y la redirección a login. La evidencia de pruebas pertenece a una ejecución anterior. Una captura acredita una pantalla y un estado, no todos los requisitos de seguridad. Ceder a Daiana.</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C:\Users\facu_\Documents\GitHub\Grupo-N-1---SistemaVentaDeProductosTecnologicos\Grupo-N-1---SistemaVentaDeProductosTecnologicos\Documentacion\Documentación - Grupo 1 -TotalTech.pdf</a:t>
            </a:r>
          </a:p>
          <a:p xmlns:a="http://schemas.openxmlformats.org/drawingml/2006/main">
            <a:r>
              <a:t>C:\Users\facu_\Documents\GitHub\Grupo-N-1---SistemaVentaDeProductosTecnologicos\Grupo-N-1---SistemaVentaDeProductosTecnologicos\Documentacion\Casos de Uso- Totaltech.pdf</a:t>
            </a:r>
          </a:p>
          <a:p xmlns:a="http://schemas.openxmlformats.org/drawingml/2006/main">
            <a:r>
              <a:t>C:\Users\facu_\Documents\GitHub\Grupo-N-1---SistemaVentaDeProductosTecnologicos\Grupo-N-1---SistemaVentaDeProductosTecnologicos\Documentacion\API.md</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2:00–2:45. Daiana. Leer el listado agrupando las acciones. RF01 permite crear un cliente. RF02 permite iniciar sesión y distinguir permisos. RF03 permite buscar, filtrar, paginar y ver un producto. RF04 permite modificar solamente el carrito propio. RF05 permite administrar productos, su stock y su imagen. Los cinco aparecen implementados en las rutas y pantallas que vamos a recorrer. En la demostración no incluimos pago ni compra completa. Conectar cada número con CU01 a CU05. Evitar entrar todavía en todos los archivos.</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C:\Users\facu_\Documents\GitHub\Grupo-N-1---SistemaVentaDeProductosTecnologicos\Grupo-N-1---SistemaVentaDeProductosTecnologicos\Documentacion\API.md</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2:45–4:15. Facundo. Dedicar unos 18 segundos a cada requisito. Seguridad: PasswordHasher guarda un hash, no un cifrado reversible. El frontend usa cookie HttpOnly y los servicios HTTP agregan el JWT. La API valida permisos y propiedad. Los formularios MVC de escritura validan antiforgery. Rendimiento: el catálogo aplica filtros y proyecta DTO con AsNoTracking, Count, Skip y Take. La prueba histórica midió cargas locales repetidas de catálogo y detalle bajo tres segundos. Es una prueba controlada de carga de páginas, no una certificación de capacidad concurrente en producción. Usabilidad: errores por campo, mensajes de éxito, carrito vacío y confirmación de eliminar. Compatibilidad: los anchos verificados fueron 320, 375, 425, 768, 1024 y 1280. Las pruebas automatizadas usaron Chromium. No asegurar validación en todos los navegadores. Mantenibilidad: controladores coordinan, servicios HTTP llaman contratos, lógica aplica reglas y repositorios acceden a datos, con la excepción real de operaciones activas del carrito que usan DbContext. La inyección conecta estas dependencias. El soporte son pruebas unitarias, de integración y E2E de la ejecución anterior.</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C:\Users\facu_\Documents\GitHub\Grupo-N-1---SistemaVentaDeProductosTecnologicos\Grupo-N-1---SistemaVentaDeProductosTecnologicos\Frontend\Program.cs</a:t>
            </a:r>
          </a:p>
          <a:p xmlns:a="http://schemas.openxmlformats.org/drawingml/2006/main">
            <a:r>
              <a:t>C:\Users\facu_\Documents\GitHub\Grupo-N-1---SistemaVentaDeProductosTecnologicos\Grupo-N-1---SistemaVentaDeProductosTecnologicos\Totaltech\Logica\UsuariosLogica.cs</a:t>
            </a:r>
          </a:p>
          <a:p xmlns:a="http://schemas.openxmlformats.org/drawingml/2006/main">
            <a:r>
              <a:t>C:\Users\facu_\Documents\GitHub\Grupo-N-1---SistemaVentaDeProductosTecnologicos\Grupo-N-1---SistemaVentaDeProductosTecnologicos\Tests\Totaltech.IntegrationTests\E2E\CatalogoE2ETests.cs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Daiana. Enumerar CU01 registro, CU02 acceso, CU03 catálogo y detalle, CU04 carrito y CU05 administración de un producto sin relaciones. Aclarar actores: visitante para registro, usuario para login, visitante o cliente para catálogo, cliente autenticado para carrito y administrador para productos. Cada demostración está incluida en el tiempo de su diapositiva. Las capturas reales disponibles de catálogo y edición permiten respaldar esos estados. Registro, login y carrito completan el recorrido en la demostración en vivo. Presentar la arquitectura antes de comenzar.</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C:\Users\facu_\Documents\GitHub\Grupo-N-1---SistemaVentaDeProductosTecnologicos\Grupo-N-1---SistemaVentaDeProductosTecnologicos\Documentacion\Casos de Uso- Totaltech.pdf</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5:00–6:30. Facundo. Seguir el diagrama en el orden de ida. El navegador presenta un formulario Razor. El controlador MVC recibe y valida los datos. El cliente HTTP llama a la API, el endpoint interpreta el contrato y la identidad, la lógica aplica las reglas y la persistencia llega a SQL Server. Seguir el regreso: el endpoint devuelve JSON, el cliente lo deserializa, MVC construye el modelo de pantalla y devuelve la vista o una redirección. El navegador recibe HTML, no consulta SQL directamente. Program.cs configura las dependencias. En registro y login HomeController usa directamente IHttpClientFactory.CreateClient, aunque el proyecto también tenga un archivo AuthApiService. En catálogo y carrito existen servicios específicos. En la lógica de carrito activo algunos accesos pasan directamente por TotaltechDbContext. No dibujar un repositorio ficticio para uniformar la arquitectura. Cookie MVC y JWT de la API tienen responsabilidades diferentes. Abrir el recurso interactivo preparado para recorrer cada caso manualmente.</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C:\Users\facu_\Documents\GitHub\Grupo-N-1---SistemaVentaDeProductosTecnologicos\Grupo-N-1---SistemaVentaDeProductosTecnologicos\Frontend\Program.cs</a:t>
            </a:r>
          </a:p>
          <a:p xmlns:a="http://schemas.openxmlformats.org/drawingml/2006/main">
            <a:r>
              <a:t>C:\Users\facu_\Documents\GitHub\Grupo-N-1---SistemaVentaDeProductosTecnologicos\Grupo-N-1---SistemaVentaDeProductosTecnologicos\Totaltech\Program.cs</a:t>
            </a:r>
          </a:p>
          <a:p xmlns:a="http://schemas.openxmlformats.org/drawingml/2006/main">
            <a:r>
              <a:t>C:\Users\facu_\Documents\GitHub\Grupo-N-1---SistemaVentaDeProductosTecnologicos\Grupo-N-1---SistemaVentaDeProductosTecnologicos\Frontend\Controllers\HomeController.cs</a:t>
            </a:r>
          </a:p>
          <a:p xmlns:a="http://schemas.openxmlformats.org/drawingml/2006/main">
            <a:r>
              <a:t>C:\Users\facu_\Documents\GitHub\Grupo-N-1---SistemaVentaDeProductosTecnologicos\Grupo-N-1---SistemaVentaDeProductosTecnologicos\Totaltech\Logica\CarritosLogica.cs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6:30–8:00. Daiana. DEMO 30 segundos. Abrir /Home/Register con datos ficticios preparados, mostrar Nombre, Apellido, Email, Teléfono y contraseña confirmada. Enviar Crear mi cuenta y mostrar la redirección a login. Si la demo no está disponible, describir el resultado esperado sin fingir una captura. CÓDIGO 60 segundos. Register.cshtml enlaza RegisterViewModel. ModelState controla errores, HomeController normaliza email y valida antiforgery. Crear el cliente TotaltechApi mediante IHttpClientFactory y enviar POST /auth/registro. AuthEndpoints convierte UsuarioRequest y llama RegistrarAsync. UsuariosLogica fija rol Cliente y delega en CrearAsync, que verifica duplicado, valida contraseña y usa PasswordHasher.HashPassword. UsuariosRepositorio persiste con SaveChangesAsync. La API devuelve 201 con el usuario público, nunca el hash. MVC redirige a Login con mensaje. Un email duplicado responde 409 y se muestra en el campo. Evidencia histórica en SeguridadEndpointsTests.RegistroConRolAdministrador_FuerzaClienteYHasheaPassword y RespuestasDeRegistroLoginYUsuario_NoExponenDatosSensibles. No seleccionar Admin en la solicitud pública.</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C:\Users\facu_\Documents\GitHub\Grupo-N-1---SistemaVentaDeProductosTecnologicos\Grupo-N-1---SistemaVentaDeProductosTecnologicos\Frontend\Views\Home\Register.cshtml</a:t>
            </a:r>
          </a:p>
          <a:p xmlns:a="http://schemas.openxmlformats.org/drawingml/2006/main">
            <a:r>
              <a:t>C:\Users\facu_\Documents\GitHub\Grupo-N-1---SistemaVentaDeProductosTecnologicos\Grupo-N-1---SistemaVentaDeProductosTecnologicos\Frontend\Controllers\HomeController.cs</a:t>
            </a:r>
          </a:p>
          <a:p xmlns:a="http://schemas.openxmlformats.org/drawingml/2006/main">
            <a:r>
              <a:t>C:\Users\facu_\Documents\GitHub\Grupo-N-1---SistemaVentaDeProductosTecnologicos\Grupo-N-1---SistemaVentaDeProductosTecnologicos\Totaltech\Endpoints\AuthEndpoints.cs</a:t>
            </a:r>
          </a:p>
          <a:p xmlns:a="http://schemas.openxmlformats.org/drawingml/2006/main">
            <a:r>
              <a:t>C:\Users\facu_\Documents\GitHub\Grupo-N-1---SistemaVentaDeProductosTecnologicos\Grupo-N-1---SistemaVentaDeProductosTecnologicos\Totaltech\Logica\UsuariosLogica.cs</a:t>
            </a:r>
          </a:p>
          <a:p xmlns:a="http://schemas.openxmlformats.org/drawingml/2006/main">
            <a:r>
              <a:t>C:\Users\facu_\Documents\GitHub\Grupo-N-1---SistemaVentaDeProductosTecnologicos\Grupo-N-1---SistemaVentaDeProductosTecnologicos\Totaltech\Repositorios\UsuariosRepositorio.cs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8:00–9:30. Facundo. DEMO 30 segundos. Entrar con el cliente recién registrado y mostrar sesión iniciada. El navegador de administración debe quedar preparado aparte. No mostrar el token ni contraseñas en la exposición. CÓDIGO 60 segundos. Login.cshtml envía a HomeController.Login. El controlador llama POST /auth/login usando IHttpClientFactory. AuthEndpoints consulta existencia de email y UsuariosLogica.LoginAsync verifica el hash. JwtTokenService.Crear firma el token con identidad y rol. El JSON contiene datos públicos, AccessToken y ExpiresAtUtc. MVC construye claims y convierte el rol Administrador de la API al texto Admin de la cookie. Guarda access_token en AuthenticationProperties y llama HttpContext.SignInAsync. En llamadas posteriores ApiBearerTokenHandler.SendAsync lo obtiene y lo coloca en Authorization Bearer. La cookie protege rutas MVC y el JWT protege endpoints de la API. Email inexistente produce 404 y redirige a registro. Contraseña equivocada produce 401 y mensaje en el formulario. Pruebas históricas cubren credenciales, roles y respuestas.</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C:\Users\facu_\Documents\GitHub\Grupo-N-1---SistemaVentaDeProductosTecnologicos\Grupo-N-1---SistemaVentaDeProductosTecnologicos\Frontend\Views\Home\Login.cshtml</a:t>
            </a:r>
          </a:p>
          <a:p xmlns:a="http://schemas.openxmlformats.org/drawingml/2006/main">
            <a:r>
              <a:t>C:\Users\facu_\Documents\GitHub\Grupo-N-1---SistemaVentaDeProductosTecnologicos\Grupo-N-1---SistemaVentaDeProductosTecnologicos\Frontend\Controllers\HomeController.cs</a:t>
            </a:r>
          </a:p>
          <a:p xmlns:a="http://schemas.openxmlformats.org/drawingml/2006/main">
            <a:r>
              <a:t>C:\Users\facu_\Documents\GitHub\Grupo-N-1---SistemaVentaDeProductosTecnologicos\Grupo-N-1---SistemaVentaDeProductosTecnologicos\Frontend\Services\ApiBearerTokenHandler.cs</a:t>
            </a:r>
          </a:p>
          <a:p xmlns:a="http://schemas.openxmlformats.org/drawingml/2006/main">
            <a:r>
              <a:t>C:\Users\facu_\Documents\GitHub\Grupo-N-1---SistemaVentaDeProductosTecnologicos\Grupo-N-1---SistemaVentaDeProductosTecnologicos\Totaltech\Seguridad\JwtTokenService.cs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9:30–12:00. Daiana. DEMO 60 segundos. Abrir /Productos. Buscar notebook, activar Sólo disponibles y aplicar. Elegir categoría y precio si el conjunto lo permite. Mostrar el contador, avanzar de página con filtros y abrir Ver producto. Mostrar nombre, precio, stock y regreso al catálogo. Respaldo: capturas/catalogo-1280.png y catalogo-320.png son capturas reales de la ejecución anterior. CÓDIGO 90 segundos. Index.cshtml envía filtros por query string a ProductosController.Index. El controlador solicita categorías y catálogo en paralelo con Task.WhenAll. ProductosApiService.ObtenerCatalogoAsync construye GET /productos/catalogo. ProductosEndpoints crea FiltroCatalogoProductos. ProductosLogica valida límites. ProductosRepositorio usa AsNoTracking, Where por texto/categoría/precio/stock, CountAsync, orden estable Nombre e IdProducto, Skip, Take y Select a ProductoCatalogoResponse. SQL retorna solamente la página y los campos proyectados. JSON agrega Items, Pagina, TamanoPagina, TotalItems y TotalPaginas. El servicio deserializa, MVC llena CatalogoViewModel y Razor dibuja las tarjetas. Detalle llama GET /productos/{id}. Producto inexistente retorna 404, consulta vacía tiene mensaje y limpiar filtros. La imagen del catálogo puede resolverse mediante ProductoImagenResolver. Evidencia histórica: CatalogoE2ETests.Catalogo_BuscaFiltraPaginaYAbreDetalle y pruebas de catálogo por endpoint.</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C:\Users\facu_\Documents\GitHub\Grupo-N-1---SistemaVentaDeProductosTecnologicos\Grupo-N-1---SistemaVentaDeProductosTecnologicos\Frontend\Controllers\ProductosController.cs</a:t>
            </a:r>
          </a:p>
          <a:p xmlns:a="http://schemas.openxmlformats.org/drawingml/2006/main">
            <a:r>
              <a:t>C:\Users\facu_\Documents\GitHub\Grupo-N-1---SistemaVentaDeProductosTecnologicos\Grupo-N-1---SistemaVentaDeProductosTecnologicos\Frontend\Services\ProductosApiService.cs</a:t>
            </a:r>
          </a:p>
          <a:p xmlns:a="http://schemas.openxmlformats.org/drawingml/2006/main">
            <a:r>
              <a:t>C:\Users\facu_\Documents\GitHub\Grupo-N-1---SistemaVentaDeProductosTecnologicos\Grupo-N-1---SistemaVentaDeProductosTecnologicos\Totaltech\Endpoints\ProductosEndpoints.cs</a:t>
            </a:r>
          </a:p>
          <a:p xmlns:a="http://schemas.openxmlformats.org/drawingml/2006/main">
            <a:r>
              <a:t>C:\Users\facu_\Documents\GitHub\Grupo-N-1---SistemaVentaDeProductosTecnologicos\Grupo-N-1---SistemaVentaDeProductosTecnologicos\Totaltech\Repositorios\ProductosRepositorio.cs</a:t>
            </a:r>
          </a:p>
          <a:p xmlns:a="http://schemas.openxmlformats.org/drawingml/2006/main">
            <a:r>
              <a:t>C:\Users\facu_\Documents\GitHub\Grupo-N-1---SistemaVentaDeProductosTecnologicos\Grupo-N-1---SistemaVentaDeProductosTecnologicos\Tests\Totaltech.IntegrationTests\E2E\CatalogoE2ETests.cs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12:00–14:30. Facundo. DEMO 60 segundos. En sesión Cliente, abrir detalle de un producto con stock, agregar una unidad, mostrar badge y resumen. Cambiar cantidad a dos y actualizar. Mostrar subtotal y total. Eliminar y mostrar Tu carrito está vacío. CÓDIGO 90 segundos. Detalle.cshtml envía POST MVC a CarritoController.Agregar, protegido por Authorize y ValidateAntiForgeryToken. CarritosApiService convierte las acciones a POST /carritos/actual/productos, PATCH y DELETE con idProducto. ApiBearerTokenHandler agrega JWT. CarritosEndpoints toma el idUsuario del claim, no del formulario. CarritosLogica usa operaciones de carrito activo: AgregarProductoActivoAsync y ActualizarCantidadActivaAsync llaman ModificarCarritoActivoAsync. La escritura relacional usa una transacción serializable y ciertos accesos directos a TotaltechDbContext. El servidor verifica cantidad positiva y stock y toma precio desde Producto, sin confiar en un precio enviado por el cliente. Agregar el mismo producto consolida cantidades. No decir que el carrito reserva o descuenta stock. CrearResumenAsync proyecta items y calcula totales. CarritoResumenResponse vuelve al servicio, CarritoViewModel.Desde arma la pantalla y el controlador redirige a Index con mensajes. La ausencia de carrito produce resumen vacío. Evidencia histórica: Carrito_DetalleAgregarModificarEliminarYEstadoVacio y pruebas de propiedad, cantidades y stock. </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C:\Users\facu_\Documents\GitHub\Grupo-N-1---SistemaVentaDeProductosTecnologicos\Grupo-N-1---SistemaVentaDeProductosTecnologicos\Frontend\Controllers\CarritoController.cs</a:t>
            </a:r>
          </a:p>
          <a:p xmlns:a="http://schemas.openxmlformats.org/drawingml/2006/main">
            <a:r>
              <a:t>C:\Users\facu_\Documents\GitHub\Grupo-N-1---SistemaVentaDeProductosTecnologicos\Grupo-N-1---SistemaVentaDeProductosTecnologicos\Frontend\Services\CarritosApiService.cs</a:t>
            </a:r>
          </a:p>
          <a:p xmlns:a="http://schemas.openxmlformats.org/drawingml/2006/main">
            <a:r>
              <a:t>C:\Users\facu_\Documents\GitHub\Grupo-N-1---SistemaVentaDeProductosTecnologicos\Grupo-N-1---SistemaVentaDeProductosTecnologicos\Totaltech\Endpoints\CarritosEndpoints.cs</a:t>
            </a:r>
          </a:p>
          <a:p xmlns:a="http://schemas.openxmlformats.org/drawingml/2006/main">
            <a:r>
              <a:t>C:\Users\facu_\Documents\GitHub\Grupo-N-1---SistemaVentaDeProductosTecnologicos\Grupo-N-1---SistemaVentaDeProductosTecnologicos\Totaltech\Logica\CarritosLogica.cs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14:30–17:00. Daiana. DEMO 70 segundos. Usar una sesión Admin preparada y un producto ficticio sin carrito, pedido ni compra asociados. Abrir Crear, ingresar nombre Notebook exposición TotalTech, descripción, precio 125000, stock 5, categoría y proveedor activo. Guardar y buscarlo. Abrir Editar, pasar stock a 7, elegir una imagen PNG real de prueba y guardar. Verificar nombre, stock e imagen. Pulsar Eliminar y aceptar confirmación. Verificar que desapareció. No eliminar productos de datos reales. Respaldo disponible: editar-1280.png y editar-320.png, capturas reales anteriores de la edición. CÓDIGO 80 segundos. ProductosController.Crear valida ModelState y llama ProductosApiService.CrearAsync, que envía POST /productos. Endpoint y lógica comprueban permisos Admin, precios/stock y relaciones válidas. Editar recibe ProductoEdicionViewModel y archivo multipart. ProductoImagenStorage.GuardarAsync verifica extensión, MIME, firma y tamaño hasta 5 MB, genera nombre y guarda en wwwroot/uploads/productos. Envía la URL junto con datos a PUT /productos/{id}. SQL guarda esa URL, no los bytes de la imagen. Si no se elige archivo nuevo, se conserva la imagen. Eliminar usa POST MVC con antiforgery y DELETE API. ProductosLogica verifica relaciones y retorna conflicto 409 o éxito 204. El controlador muestra mensaje y vuelve a una URL local. Evidencia histórica: CatalogoAdministracionE2ETests cubre edición, imagen, roles y eliminación.</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C:\Users\facu_\Documents\GitHub\Grupo-N-1---SistemaVentaDeProductosTecnologicos\Grupo-N-1---SistemaVentaDeProductosTecnologicos\Frontend\Controllers\ProductosController.cs</a:t>
            </a:r>
          </a:p>
          <a:p xmlns:a="http://schemas.openxmlformats.org/drawingml/2006/main">
            <a:r>
              <a:t>C:\Users\facu_\Documents\GitHub\Grupo-N-1---SistemaVentaDeProductosTecnologicos\Grupo-N-1---SistemaVentaDeProductosTecnologicos\Frontend\Services\ProductoImagenStorage.cs</a:t>
            </a:r>
          </a:p>
          <a:p xmlns:a="http://schemas.openxmlformats.org/drawingml/2006/main">
            <a:r>
              <a:t>C:\Users\facu_\Documents\GitHub\Grupo-N-1---SistemaVentaDeProductosTecnologicos\Grupo-N-1---SistemaVentaDeProductosTecnologicos\Totaltech\Logica\ProductosLogica.cs</a:t>
            </a:r>
          </a:p>
          <a:p xmlns:a="http://schemas.openxmlformats.org/drawingml/2006/main">
            <a:r>
              <a:t>C:\Users\facu_\Documents\GitHub\Grupo-N-1---SistemaVentaDeProductosTecnologicos\Grupo-N-1---SistemaVentaDeProductosTecnologicos\Tests\Totaltech.IntegrationTests\E2E\CatalogoAdministracionE2ETests.cs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17:00–18:30. Facundo. Explicar 105 aprobadas en la ejecución anterior: ocho unitarias, setenta y ocho de integración y frontend y diecinueve E2E. Esta presentación no declara que se hayan ejecutado nuevamente las 105. Las unitarias apoyan reglas de negocio, integración apoya endpoints y contratos y E2E verifica el recorrido de pantalla. Mostrar ejemplos de respuestas: 400 validación, 401 autenticación, 403 permisos, 404 inexistente y 409 conflicto. Relacionar duplicado de email con campo Email, stock insuficiente con mensaje en carrito y producto con relaciones con rechazo de eliminación. Las pruebas de compatibilidad usan seis anchos y Chromium. Las cargas bajo tres segundos corresponden a entorno local, sin promesa de producción. ModelState y TempData convierten errores en indicaciones al usuario, con manejo de timeout y servicio inaccesible. La captura de pantalla sirve para continuar la explicación si falla la demo. La evidencia verificable son archivos de pruebas y registros de aquella ejecución, no una métrica nueva inventada.</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C:\Users\facu_\Documents\GitHub\Grupo-N-1---SistemaVentaDeProductosTecnologicos\Grupo-N-1---SistemaVentaDeProductosTecnologicos\Tests\Totaltech.UnitTests</a:t>
            </a:r>
          </a:p>
          <a:p xmlns:a="http://schemas.openxmlformats.org/drawingml/2006/main">
            <a:r>
              <a:t>C:\Users\facu_\Documents\GitHub\Grupo-N-1---SistemaVentaDeProductosTecnologicos\Grupo-N-1---SistemaVentaDeProductosTecnologicos\Tests\Totaltech.IntegrationTests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18:30–20:00. Daiana. Dedicar 30 segundos a lo logrado: cliente que se registra e inicia sesión, catálogo consultable y carrito propio, administrador que mantiene productos y stock e imagen. Los cinco requisitos se trazaron hasta el código y el resultado. Dedicar 40 segundos a pendientes. Existen operaciones de confirmación de carrito y entidades de pedidos/pagos en la API, pero las pantallas y controladores reservados de checkout MVC no completan ese recorrido. RecuperarContrasenaAsync consulta existencia pero no completa envío y restablecimiento. Contacto y garantía muestran confirmaciones simuladas sin envío a la API. Estos puntos delimitan honestamente el trabajo que falta. Dedicar los últimos 20 segundos al cierre: aprendimos a validar lo que documentamos con contratos, reglas y pruebas. La separación de responsabilidades permite seguir la solicitud de ida y vuelta y corregir cada parte. Agradecer al llegar a 20:00. Las preguntas posteriores quedan fuera de los veinte minutos.</a:t>
            </a:r>
          </a:p>
          <a:p xmlns:a="http://schemas.openxmlformats.org/drawingml/2006/main">
            <a:r>
              <a:t/>
            </a:r>
          </a:p>
          <a:p xmlns:a="http://schemas.openxmlformats.org/drawingml/2006/main">
            <a:r>
              <a:t>FUENTES LOCALES</a:t>
            </a:r>
          </a:p>
          <a:p xmlns:a="http://schemas.openxmlformats.org/drawingml/2006/main">
            <a:r>
              <a:t>C:\Users\facu_\Documents\GitHub\Grupo-N-1---SistemaVentaDeProductosTecnologicos\Grupo-N-1---SistemaVentaDeProductosTecnologicos\Frontend\Controllers\CheckoutController.cs</a:t>
            </a:r>
          </a:p>
          <a:p xmlns:a="http://schemas.openxmlformats.org/drawingml/2006/main">
            <a:r>
              <a:t>C:\Users\facu_\Documents\GitHub\Grupo-N-1---SistemaVentaDeProductosTecnologicos\Grupo-N-1---SistemaVentaDeProductosTecnologicos\Frontend\Controllers\PedidosController.cs</a:t>
            </a:r>
          </a:p>
          <a:p xmlns:a="http://schemas.openxmlformats.org/drawingml/2006/main">
            <a:r>
              <a:t>C:\Users\facu_\Documents\GitHub\Grupo-N-1---SistemaVentaDeProductosTecnologicos\Grupo-N-1---SistemaVentaDeProductosTecnologicos\Totaltech\Logica\UsuariosLogica.cs</a:t>
            </a:r>
          </a:p>
          <a:p xmlns:a="http://schemas.openxmlformats.org/drawingml/2006/main">
            <a:r>
              <a:t>C:\Users\facu_\Documents\GitHub\Grupo-N-1---SistemaVentaDeProductosTecnologicos\Grupo-N-1---SistemaVentaDeProductosTecnologicos\Frontend\wwwroot\js\contacto.js</a:t>
            </a:r>
          </a:p>
          <a:p xmlns:a="http://schemas.openxmlformats.org/drawingml/2006/main">
            <a:r>
              <a:t>C:\Users\facu_\Documents\GitHub\Grupo-N-1---SistemaVentaDeProductosTecnologicos\Grupo-N-1---SistemaVentaDeProductosTecnologicos\Frontend\wwwroot\js\garantia.js</a:t>
            </a:r>
          </a:p>
          <a:p xmlns:a="http://schemas.openxmlformats.org/drawingml/2006/main">
            <a:r>
              <a:t/>
            </a:r>
          </a:p>
          <a:p xmlns:a="http://schemas.openxmlformats.org/drawingml/2006/main">
            <a:r>
              <a:t>Código abreviado con elipsis cuando aparece. Consultar el archivo real para el método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a54d1be52a46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4b1cd8a5314152" /><Relationship Type="http://schemas.openxmlformats.org/officeDocument/2006/relationships/slideLayout" Target="/ppt/slideLayouts/slideLayout1.xml" Id="R3ee8fdb9253443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e8fdb9253443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6c743fd561444d" /><Relationship Type="http://schemas.openxmlformats.org/officeDocument/2006/relationships/image" Target="/ppt/media/image.png" Id="Rce3119c19bf947fc" /><Relationship Type="http://schemas.openxmlformats.org/officeDocument/2006/relationships/notesSlide" Target="/ppt/notesSlides/notesSlide1.xml" Id="R4267a3e7e68844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1f000664c94386" /><Relationship Type="http://schemas.openxmlformats.org/officeDocument/2006/relationships/notesSlide" Target="/ppt/notesSlides/notesSlide2.xml" Id="Raf8c53e41fdc44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849ac984604306" /><Relationship Type="http://schemas.openxmlformats.org/officeDocument/2006/relationships/notesSlide" Target="/ppt/notesSlides/notesSlide3.xml" Id="Re985c2d7417a49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62606c768f4e4b" /><Relationship Type="http://schemas.openxmlformats.org/officeDocument/2006/relationships/notesSlide" Target="/ppt/notesSlides/notesSlide4.xml" Id="R595bf59d5dd74a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8c03851a6047c2" /><Relationship Type="http://schemas.openxmlformats.org/officeDocument/2006/relationships/notesSlide" Target="/ppt/notesSlides/notesSlide5.xml" Id="R13768582cbb84c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36426487124dec" /><Relationship Type="http://schemas.openxmlformats.org/officeDocument/2006/relationships/notesSlide" Target="/ppt/notesSlides/notesSlide6.xml" Id="R169db59607fb4b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323aec2d6c43dc" /><Relationship Type="http://schemas.openxmlformats.org/officeDocument/2006/relationships/notesSlide" Target="/ppt/notesSlides/notesSlide7.xml" Id="Rff4cc76a92c04e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bfd87bb37d4e36" /><Relationship Type="http://schemas.openxmlformats.org/officeDocument/2006/relationships/notesSlide" Target="/ppt/notesSlides/notesSlide8.xml" Id="Ra9c3ca51c86c49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55bce9faeb4b33" /><Relationship Type="http://schemas.openxmlformats.org/officeDocument/2006/relationships/notesSlide" Target="/ppt/notesSlides/notesSlide9.xml" Id="Rc133f4cadb3342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02d5d6f2924c13" /><Relationship Type="http://schemas.openxmlformats.org/officeDocument/2006/relationships/image" Target="/ppt/media/image2.png" Id="Rb3d6ef3db1ff4165" /><Relationship Type="http://schemas.openxmlformats.org/officeDocument/2006/relationships/notesSlide" Target="/ppt/notesSlides/notesSlide10.xml" Id="R5ceec8e90a424d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08676d1475494b" /><Relationship Type="http://schemas.openxmlformats.org/officeDocument/2006/relationships/notesSlide" Target="/ppt/notesSlides/notesSlide11.xml" Id="Re458653edc5b4f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ef033087b94b7e" /><Relationship Type="http://schemas.openxmlformats.org/officeDocument/2006/relationships/image" Target="/ppt/media/image3.png" Id="Rd84855346671461b" /><Relationship Type="http://schemas.openxmlformats.org/officeDocument/2006/relationships/notesSlide" Target="/ppt/notesSlides/notesSlide12.xml" Id="Rffb7cbec13194b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6f4ed452d14668" /><Relationship Type="http://schemas.openxmlformats.org/officeDocument/2006/relationships/notesSlide" Target="/ppt/notesSlides/notesSlide13.xml" Id="Ra9d718fde46846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939ee83b074b07" /><Relationship Type="http://schemas.openxmlformats.org/officeDocument/2006/relationships/notesSlide" Target="/ppt/notesSlides/notesSlide14.xml" Id="R6b4b7fb411aa43bf" /></Relationships>
</file>

<file path=ppt/slides/slide1.xml><?xml version="1.0" encoding="utf-8"?>
<p:sld xmlns:p="http://schemas.openxmlformats.org/presentationml/2006/main">
  <p:cSld>
    <p:bg>
      <p:bgPr>
        <a:solidFill xmlns:a="http://schemas.openxmlformats.org/drawingml/2006/main">
          <a:srgbClr val="10263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EB1DB7-7E12-430F-806B-895C8B89167C}"/>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TotalTech</a:t>
            </a:r>
          </a:p>
        </p:txBody>
      </p:sp>
      <p:sp>
        <p:nvSpPr>
          <p:cNvPr id="2" name="">
            <a:extLst xmlns:a="http://schemas.openxmlformats.org/drawingml/2006/main">
              <a:ext uri="{FF2B5EF4-FFF2-40B4-BE49-F238E27FC236}">
                <a16:creationId xmlns:a16="http://schemas.microsoft.com/office/drawing/2014/main" id="{7925711A-4A40-4569-B5AD-192A2D910A5A}"/>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B7DDE0"/>
                </a:solidFill>
                <a:latin typeface="Arial"/>
                <a:ea typeface="Arial"/>
                <a:cs typeface="Arial"/>
              </a:defRPr>
            </a:pPr>
            <a:r>
              <a:rPr sz="1425" b="0">
                <a:solidFill>
                  <a:srgbClr val="B7DDE0"/>
                </a:solidFill>
                <a:latin typeface="Arial"/>
                <a:ea typeface="Arial"/>
                <a:cs typeface="Arial"/>
              </a:rPr>
              <a:t>01 / 14     Facundo     0:00–0:30     0:30</a:t>
            </a:r>
          </a:p>
        </p:txBody>
      </p:sp>
      <p:sp>
        <p:nvSpPr>
          <p:cNvPr id="3" name="">
            <a:extLst xmlns:a="http://schemas.openxmlformats.org/drawingml/2006/main">
              <a:ext uri="{FF2B5EF4-FFF2-40B4-BE49-F238E27FC236}">
                <a16:creationId xmlns:a16="http://schemas.microsoft.com/office/drawing/2014/main" id="{B6D50748-6A03-4528-8BA2-21928D478F98}"/>
              </a:ext>
            </a:extLst>
          </p:cNvPr>
          <p:cNvSpPr>
            <a:spLocks xmlns:a="http://schemas.openxmlformats.org/drawingml/2006/main" noGrp="1"/>
          </p:cNvSpPr>
          <p:nvPr/>
        </p:nvSpPr>
        <p:spPr>
          <a:xfrm xmlns:a="http://schemas.openxmlformats.org/drawingml/2006/main">
            <a:off x="609600" y="1657350"/>
            <a:ext cx="885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0">
                <a:solidFill>
                  <a:srgbClr val="FFFFFF"/>
                </a:solidFill>
                <a:latin typeface="Arial"/>
                <a:ea typeface="Arial"/>
                <a:cs typeface="Arial"/>
              </a:defRPr>
            </a:pPr>
            <a:r>
              <a:rPr sz="2925" b="0">
                <a:solidFill>
                  <a:srgbClr val="FFFFFF"/>
                </a:solidFill>
                <a:latin typeface="Arial"/>
                <a:ea typeface="Arial"/>
                <a:cs typeface="Arial"/>
              </a:rPr>
              <a:t>Sistema de venta de productos tecnológicos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e3119c19bf947fc"/>
          <a:stretch xmlns:a="http://schemas.openxmlformats.org/drawingml/2006/main"/>
        </p:blipFill>
        <p:spPr>
          <a:xfrm xmlns:a="http://schemas.openxmlformats.org/drawingml/2006/main">
            <a:off x="9239250" y="2571750"/>
            <a:ext cx="1905000" cy="1905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E213654-7DD8-4442-B9FE-56003825564A}"/>
              </a:ext>
            </a:extLst>
          </p:cNvPr>
          <p:cNvSpPr>
            <a:spLocks xmlns:a="http://schemas.openxmlformats.org/drawingml/2006/main" noGrp="1"/>
          </p:cNvSpPr>
          <p:nvPr/>
        </p:nvSpPr>
        <p:spPr>
          <a:xfrm xmlns:a="http://schemas.openxmlformats.org/drawingml/2006/main">
            <a:off x="609600" y="3286125"/>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B7DDE0"/>
                </a:solidFill>
                <a:latin typeface="Arial"/>
                <a:ea typeface="Arial"/>
                <a:cs typeface="Arial"/>
              </a:defRPr>
            </a:pPr>
            <a:r>
              <a:rPr sz="2400" b="0">
                <a:solidFill>
                  <a:srgbClr val="B7DDE0"/>
                </a:solidFill>
                <a:latin typeface="Arial"/>
                <a:ea typeface="Arial"/>
                <a:cs typeface="Arial"/>
              </a:rPr>
              <a:t>Documentación, código y demostración</a:t>
            </a:r>
          </a:p>
        </p:txBody>
      </p:sp>
      <p:sp>
        <p:nvSpPr>
          <p:cNvPr id="6" name="">
            <a:extLst xmlns:a="http://schemas.openxmlformats.org/drawingml/2006/main">
              <a:ext uri="{FF2B5EF4-FFF2-40B4-BE49-F238E27FC236}">
                <a16:creationId xmlns:a16="http://schemas.microsoft.com/office/drawing/2014/main" id="{4D9373A5-83AA-4AC5-8443-0CC53626D12B}"/>
              </a:ext>
            </a:extLst>
          </p:cNvPr>
          <p:cNvSpPr>
            <a:spLocks xmlns:a="http://schemas.openxmlformats.org/drawingml/2006/main" noGrp="1"/>
          </p:cNvSpPr>
          <p:nvPr/>
        </p:nvSpPr>
        <p:spPr>
          <a:xfrm xmlns:a="http://schemas.openxmlformats.org/drawingml/2006/main">
            <a:off x="609600" y="4714875"/>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Facundo y Daiana</a:t>
            </a:r>
          </a:p>
        </p:txBody>
      </p:sp>
      <p:sp>
        <p:nvSpPr>
          <p:cNvPr id="7" name="">
            <a:extLst xmlns:a="http://schemas.openxmlformats.org/drawingml/2006/main">
              <a:ext uri="{FF2B5EF4-FFF2-40B4-BE49-F238E27FC236}">
                <a16:creationId xmlns:a16="http://schemas.microsoft.com/office/drawing/2014/main" id="{598702AB-5EAD-4749-9A2C-04F9D531856F}"/>
              </a:ext>
            </a:extLst>
          </p:cNvPr>
          <p:cNvSpPr>
            <a:spLocks xmlns:a="http://schemas.openxmlformats.org/drawingml/2006/main" noGrp="1"/>
          </p:cNvSpPr>
          <p:nvPr/>
        </p:nvSpPr>
        <p:spPr>
          <a:xfrm xmlns:a="http://schemas.openxmlformats.org/drawingml/2006/main">
            <a:off x="609600" y="530542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B7DDE0"/>
                </a:solidFill>
                <a:latin typeface="Arial"/>
                <a:ea typeface="Arial"/>
                <a:cs typeface="Arial"/>
              </a:defRPr>
            </a:pPr>
            <a:r>
              <a:rPr sz="2025" b="0">
                <a:solidFill>
                  <a:srgbClr val="B7DDE0"/>
                </a:solidFill>
                <a:latin typeface="Arial"/>
                <a:ea typeface="Arial"/>
                <a:cs typeface="Arial"/>
              </a:rPr>
              <a:t>20 minutos · 10 minutos por integrante</a:t>
            </a:r>
          </a:p>
        </p:txBody>
      </p:sp>
    </p:spTree>
    <p:extLst>
      <p:ext uri="{BB962C8B-B14F-4D97-AF65-F5344CB8AC3E}">
        <p14:creationId xmlns:p14="http://schemas.microsoft.com/office/powerpoint/2010/main" val="16628451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780514-5F82-4D26-8A4B-FAEEA098907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Problema y alcance actual</a:t>
            </a:r>
          </a:p>
        </p:txBody>
      </p:sp>
      <p:sp>
        <p:nvSpPr>
          <p:cNvPr id="2" name="">
            <a:extLst xmlns:a="http://schemas.openxmlformats.org/drawingml/2006/main">
              <a:ext uri="{FF2B5EF4-FFF2-40B4-BE49-F238E27FC236}">
                <a16:creationId xmlns:a16="http://schemas.microsoft.com/office/drawing/2014/main" id="{ACDA479E-3B08-4DF5-9982-62741042B2CF}"/>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02 / 14     Daiana     0:30–1:00     0:30</a:t>
            </a:r>
          </a:p>
        </p:txBody>
      </p:sp>
      <p:sp>
        <p:nvSpPr>
          <p:cNvPr id="3" name="">
            <a:extLst xmlns:a="http://schemas.openxmlformats.org/drawingml/2006/main">
              <a:ext uri="{FF2B5EF4-FFF2-40B4-BE49-F238E27FC236}">
                <a16:creationId xmlns:a16="http://schemas.microsoft.com/office/drawing/2014/main" id="{6E548C8C-2019-4DB5-BECA-B9923F07D0DC}"/>
              </a:ext>
            </a:extLst>
          </p:cNvPr>
          <p:cNvSpPr>
            <a:spLocks xmlns:a="http://schemas.openxmlformats.org/drawingml/2006/main" noGrp="1"/>
          </p:cNvSpPr>
          <p:nvPr/>
        </p:nvSpPr>
        <p:spPr>
          <a:xfrm xmlns:a="http://schemas.openxmlformats.org/drawingml/2006/main">
            <a:off x="609600" y="1600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638"/>
                </a:solidFill>
                <a:latin typeface="Arial"/>
                <a:ea typeface="Arial"/>
                <a:cs typeface="Arial"/>
              </a:defRPr>
            </a:pPr>
            <a:r>
              <a:rPr sz="2400" b="0">
                <a:solidFill>
                  <a:srgbClr val="102638"/>
                </a:solidFill>
                <a:latin typeface="Arial"/>
                <a:ea typeface="Arial"/>
                <a:cs typeface="Arial"/>
              </a:rPr>
              <a:t>El cliente necesita explorar productos y preparar su compra.</a:t>
            </a:r>
          </a:p>
        </p:txBody>
      </p:sp>
      <p:sp>
        <p:nvSpPr>
          <p:cNvPr id="4" name="">
            <a:extLst xmlns:a="http://schemas.openxmlformats.org/drawingml/2006/main">
              <a:ext uri="{FF2B5EF4-FFF2-40B4-BE49-F238E27FC236}">
                <a16:creationId xmlns:a16="http://schemas.microsoft.com/office/drawing/2014/main" id="{8FD9819E-03A4-4EB9-A354-A9374FB65E63}"/>
              </a:ext>
            </a:extLst>
          </p:cNvPr>
          <p:cNvSpPr>
            <a:spLocks xmlns:a="http://schemas.openxmlformats.org/drawingml/2006/main" noGrp="1"/>
          </p:cNvSpPr>
          <p:nvPr/>
        </p:nvSpPr>
        <p:spPr>
          <a:xfrm xmlns:a="http://schemas.openxmlformats.org/drawingml/2006/main">
            <a:off x="609600" y="26860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638"/>
                </a:solidFill>
                <a:latin typeface="Arial"/>
                <a:ea typeface="Arial"/>
                <a:cs typeface="Arial"/>
              </a:defRPr>
            </a:pPr>
            <a:r>
              <a:rPr sz="2400" b="0">
                <a:solidFill>
                  <a:srgbClr val="102638"/>
                </a:solidFill>
                <a:latin typeface="Arial"/>
                <a:ea typeface="Arial"/>
                <a:cs typeface="Arial"/>
              </a:rPr>
              <a:t>La administración mantiene productos, stock e imágenes.</a:t>
            </a:r>
          </a:p>
        </p:txBody>
      </p:sp>
      <p:sp>
        <p:nvSpPr>
          <p:cNvPr id="5" name="">
            <a:extLst xmlns:a="http://schemas.openxmlformats.org/drawingml/2006/main">
              <a:ext uri="{FF2B5EF4-FFF2-40B4-BE49-F238E27FC236}">
                <a16:creationId xmlns:a16="http://schemas.microsoft.com/office/drawing/2014/main" id="{EC95CCE4-1794-40C4-A69D-2DC7F3879B82}"/>
              </a:ext>
            </a:extLst>
          </p:cNvPr>
          <p:cNvSpPr>
            <a:spLocks xmlns:a="http://schemas.openxmlformats.org/drawingml/2006/main" noGrp="1"/>
          </p:cNvSpPr>
          <p:nvPr/>
        </p:nvSpPr>
        <p:spPr>
          <a:xfrm xmlns:a="http://schemas.openxmlformats.org/drawingml/2006/main">
            <a:off x="609600" y="37719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638"/>
                </a:solidFill>
                <a:latin typeface="Arial"/>
                <a:ea typeface="Arial"/>
                <a:cs typeface="Arial"/>
              </a:defRPr>
            </a:pPr>
            <a:r>
              <a:rPr sz="2400" b="0">
                <a:solidFill>
                  <a:srgbClr val="102638"/>
                </a:solidFill>
                <a:latin typeface="Arial"/>
                <a:ea typeface="Arial"/>
                <a:cs typeface="Arial"/>
              </a:rPr>
              <a:t>Alcance demostrado: registro, acceso, catálogo, carrito y productos.</a:t>
            </a:r>
          </a:p>
        </p:txBody>
      </p:sp>
      <p:sp>
        <p:nvSpPr>
          <p:cNvPr id="6" name="">
            <a:extLst xmlns:a="http://schemas.openxmlformats.org/drawingml/2006/main">
              <a:ext uri="{FF2B5EF4-FFF2-40B4-BE49-F238E27FC236}">
                <a16:creationId xmlns:a16="http://schemas.microsoft.com/office/drawing/2014/main" id="{73E8011D-8792-4949-80F6-AA5E217A1646}"/>
              </a:ext>
            </a:extLst>
          </p:cNvPr>
          <p:cNvSpPr>
            <a:spLocks xmlns:a="http://schemas.openxmlformats.org/drawingml/2006/main" noGrp="1"/>
          </p:cNvSpPr>
          <p:nvPr/>
        </p:nvSpPr>
        <p:spPr>
          <a:xfrm xmlns:a="http://schemas.openxmlformats.org/drawingml/2006/main">
            <a:off x="6096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Arial"/>
                <a:ea typeface="Arial"/>
                <a:cs typeface="Arial"/>
              </a:defRPr>
            </a:pPr>
            <a:r>
              <a:rPr sz="2250" b="1">
                <a:solidFill>
                  <a:srgbClr val="007F86"/>
                </a:solidFill>
                <a:latin typeface="Arial"/>
                <a:ea typeface="Arial"/>
                <a:cs typeface="Arial"/>
              </a:rPr>
              <a:t>La exposición defiende el alcance implementado hoy.</a:t>
            </a:r>
          </a:p>
        </p:txBody>
      </p:sp>
    </p:spTree>
    <p:extLst>
      <p:ext uri="{BB962C8B-B14F-4D97-AF65-F5344CB8AC3E}">
        <p14:creationId xmlns:p14="http://schemas.microsoft.com/office/powerpoint/2010/main" val="18299666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EE0471-28B6-4641-B538-365B2FE9B137}"/>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Documentación y trazabilidad</a:t>
            </a:r>
          </a:p>
        </p:txBody>
      </p:sp>
      <p:sp>
        <p:nvSpPr>
          <p:cNvPr id="2" name="">
            <a:extLst xmlns:a="http://schemas.openxmlformats.org/drawingml/2006/main">
              <a:ext uri="{FF2B5EF4-FFF2-40B4-BE49-F238E27FC236}">
                <a16:creationId xmlns:a16="http://schemas.microsoft.com/office/drawing/2014/main" id="{BA8024AB-981F-42FE-AB5E-87F86C5CA40B}"/>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03 / 14     Facundo     1:00–2:00     1:00</a:t>
            </a:r>
          </a:p>
        </p:txBody>
      </p:sp>
      <p:sp>
        <p:nvSpPr>
          <p:cNvPr id="3" name="">
            <a:extLst xmlns:a="http://schemas.openxmlformats.org/drawingml/2006/main">
              <a:ext uri="{FF2B5EF4-FFF2-40B4-BE49-F238E27FC236}">
                <a16:creationId xmlns:a16="http://schemas.microsoft.com/office/drawing/2014/main" id="{42CEF89F-E740-4ACD-BB08-F44FF868BA4A}"/>
              </a:ext>
            </a:extLst>
          </p:cNvPr>
          <p:cNvSpPr>
            <a:spLocks xmlns:a="http://schemas.openxmlformats.org/drawingml/2006/main" noGrp="1"/>
          </p:cNvSpPr>
          <p:nvPr/>
        </p:nvSpPr>
        <p:spPr>
          <a:xfrm xmlns:a="http://schemas.openxmlformats.org/drawingml/2006/main">
            <a:off x="609600" y="1924050"/>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Documento</a:t>
            </a:r>
          </a:p>
        </p:txBody>
      </p:sp>
      <p:sp>
        <p:nvSpPr>
          <p:cNvPr id="4" name="">
            <a:extLst xmlns:a="http://schemas.openxmlformats.org/drawingml/2006/main">
              <a:ext uri="{FF2B5EF4-FFF2-40B4-BE49-F238E27FC236}">
                <a16:creationId xmlns:a16="http://schemas.microsoft.com/office/drawing/2014/main" id="{593A6574-4447-4916-9319-01E8972B2313}"/>
              </a:ext>
            </a:extLst>
          </p:cNvPr>
          <p:cNvSpPr>
            <a:spLocks xmlns:a="http://schemas.openxmlformats.org/drawingml/2006/main" noGrp="1"/>
          </p:cNvSpPr>
          <p:nvPr/>
        </p:nvSpPr>
        <p:spPr>
          <a:xfrm xmlns:a="http://schemas.openxmlformats.org/drawingml/2006/main">
            <a:off x="3371850" y="1924050"/>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Requisito</a:t>
            </a:r>
          </a:p>
        </p:txBody>
      </p: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038475" y="2266950"/>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6" name="">
            <a:extLst xmlns:a="http://schemas.openxmlformats.org/drawingml/2006/main">
              <a:ext uri="{FF2B5EF4-FFF2-40B4-BE49-F238E27FC236}">
                <a16:creationId xmlns:a16="http://schemas.microsoft.com/office/drawing/2014/main" id="{7C6AC59E-2F63-46B5-8E40-ADB423406238}"/>
              </a:ext>
            </a:extLst>
          </p:cNvPr>
          <p:cNvSpPr>
            <a:spLocks xmlns:a="http://schemas.openxmlformats.org/drawingml/2006/main" noGrp="1"/>
          </p:cNvSpPr>
          <p:nvPr/>
        </p:nvSpPr>
        <p:spPr>
          <a:xfrm xmlns:a="http://schemas.openxmlformats.org/drawingml/2006/main">
            <a:off x="6134100" y="1924050"/>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Contrato API</a:t>
            </a:r>
          </a:p>
        </p:txBody>
      </p:sp>
      <p:cxnSp>
        <p:nvCxnSpPr>
          <p:cNvPr id="20" name=""/>
          <p:cNvCxnSpPr>
            <a:stCxn xmlns:a="http://schemas.openxmlformats.org/drawingml/2006/main" id="4" idx="3"/>
            <a:endCxn xmlns:a="http://schemas.openxmlformats.org/drawingml/2006/main" id="6" idx="1"/>
          </p:cNvCxnSpPr>
          <p:nvPr/>
        </p:nvCxnSpPr>
        <p:spPr>
          <a:xfrm xmlns:a="http://schemas.openxmlformats.org/drawingml/2006/main">
            <a:off x="5800725" y="2266950"/>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8" name="">
            <a:extLst xmlns:a="http://schemas.openxmlformats.org/drawingml/2006/main">
              <a:ext uri="{FF2B5EF4-FFF2-40B4-BE49-F238E27FC236}">
                <a16:creationId xmlns:a16="http://schemas.microsoft.com/office/drawing/2014/main" id="{2D5ACE02-E5F8-450C-9353-DDDE2E7F41E9}"/>
              </a:ext>
            </a:extLst>
          </p:cNvPr>
          <p:cNvSpPr>
            <a:spLocks xmlns:a="http://schemas.openxmlformats.org/drawingml/2006/main" noGrp="1"/>
          </p:cNvSpPr>
          <p:nvPr/>
        </p:nvSpPr>
        <p:spPr>
          <a:xfrm xmlns:a="http://schemas.openxmlformats.org/drawingml/2006/main">
            <a:off x="8896350" y="1924050"/>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Código y evidencia</a:t>
            </a:r>
          </a:p>
        </p:txBody>
      </p:sp>
      <p:cxnSp>
        <p:nvCxnSpPr>
          <p:cNvPr id="22" name=""/>
          <p:cNvCxnSpPr>
            <a:stCxn xmlns:a="http://schemas.openxmlformats.org/drawingml/2006/main" id="6" idx="3"/>
            <a:endCxn xmlns:a="http://schemas.openxmlformats.org/drawingml/2006/main" id="8" idx="1"/>
          </p:cNvCxnSpPr>
          <p:nvPr/>
        </p:nvCxnSpPr>
        <p:spPr>
          <a:xfrm xmlns:a="http://schemas.openxmlformats.org/drawingml/2006/main">
            <a:off x="8562975" y="2266950"/>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0" name="">
            <a:extLst xmlns:a="http://schemas.openxmlformats.org/drawingml/2006/main">
              <a:ext uri="{FF2B5EF4-FFF2-40B4-BE49-F238E27FC236}">
                <a16:creationId xmlns:a16="http://schemas.microsoft.com/office/drawing/2014/main" id="{95DE886F-644C-470D-87C7-B85F982D2903}"/>
              </a:ext>
            </a:extLst>
          </p:cNvPr>
          <p:cNvSpPr>
            <a:spLocks xmlns:a="http://schemas.openxmlformats.org/drawingml/2006/main" noGrp="1"/>
          </p:cNvSpPr>
          <p:nvPr/>
        </p:nvSpPr>
        <p:spPr>
          <a:xfrm xmlns:a="http://schemas.openxmlformats.org/drawingml/2006/main">
            <a:off x="609600" y="32194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7F86"/>
                </a:solidFill>
                <a:latin typeface="Arial"/>
                <a:ea typeface="Arial"/>
                <a:cs typeface="Arial"/>
              </a:defRPr>
            </a:pPr>
            <a:r>
              <a:rPr sz="2250" b="1">
                <a:solidFill>
                  <a:srgbClr val="007F86"/>
                </a:solidFill>
                <a:latin typeface="Arial"/>
                <a:ea typeface="Arial"/>
                <a:cs typeface="Arial"/>
              </a:rPr>
              <a:t>Ejemplo seleccionado</a:t>
            </a:r>
          </a:p>
        </p:txBody>
      </p:sp>
      <p:sp>
        <p:nvSpPr>
          <p:cNvPr id="11" name="">
            <a:extLst xmlns:a="http://schemas.openxmlformats.org/drawingml/2006/main">
              <a:ext uri="{FF2B5EF4-FFF2-40B4-BE49-F238E27FC236}">
                <a16:creationId xmlns:a16="http://schemas.microsoft.com/office/drawing/2014/main" id="{C8D4D8C1-B996-4BE8-8C14-A0216386F0CE}"/>
              </a:ext>
            </a:extLst>
          </p:cNvPr>
          <p:cNvSpPr>
            <a:spLocks xmlns:a="http://schemas.openxmlformats.org/drawingml/2006/main" noGrp="1"/>
          </p:cNvSpPr>
          <p:nvPr/>
        </p:nvSpPr>
        <p:spPr>
          <a:xfrm xmlns:a="http://schemas.openxmlformats.org/drawingml/2006/main">
            <a:off x="609600" y="38290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02638"/>
                </a:solidFill>
                <a:latin typeface="Arial"/>
                <a:ea typeface="Arial"/>
                <a:cs typeface="Arial"/>
              </a:defRPr>
            </a:pPr>
            <a:r>
              <a:rPr sz="2250" b="0">
                <a:solidFill>
                  <a:srgbClr val="102638"/>
                </a:solidFill>
                <a:latin typeface="Arial"/>
                <a:ea typeface="Arial"/>
                <a:cs typeface="Arial"/>
              </a:rPr>
              <a:t>Gestión de usuarios · Registro de clientes · POST /auth/registro</a:t>
            </a:r>
          </a:p>
        </p:txBody>
      </p:sp>
      <p:sp>
        <p:nvSpPr>
          <p:cNvPr id="12" name="">
            <a:extLst xmlns:a="http://schemas.openxmlformats.org/drawingml/2006/main">
              <a:ext uri="{FF2B5EF4-FFF2-40B4-BE49-F238E27FC236}">
                <a16:creationId xmlns:a16="http://schemas.microsoft.com/office/drawing/2014/main" id="{6A19CBA0-A4DB-423C-B134-FEA5373797E1}"/>
              </a:ext>
            </a:extLst>
          </p:cNvPr>
          <p:cNvSpPr>
            <a:spLocks xmlns:a="http://schemas.openxmlformats.org/drawingml/2006/main" noGrp="1"/>
          </p:cNvSpPr>
          <p:nvPr/>
        </p:nvSpPr>
        <p:spPr>
          <a:xfrm xmlns:a="http://schemas.openxmlformats.org/drawingml/2006/main">
            <a:off x="609600" y="50006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RF01 y CU01 identifican la selección de esta exposición.</a:t>
            </a:r>
          </a:p>
        </p:txBody>
      </p:sp>
      <p:sp>
        <p:nvSpPr>
          <p:cNvPr id="13" name="">
            <a:extLst xmlns:a="http://schemas.openxmlformats.org/drawingml/2006/main">
              <a:ext uri="{FF2B5EF4-FFF2-40B4-BE49-F238E27FC236}">
                <a16:creationId xmlns:a16="http://schemas.microsoft.com/office/drawing/2014/main" id="{EBF4ACE8-9F50-4E77-90AE-8F1B43686F02}"/>
              </a:ext>
            </a:extLst>
          </p:cNvPr>
          <p:cNvSpPr>
            <a:spLocks xmlns:a="http://schemas.openxmlformats.org/drawingml/2006/main" noGrp="1"/>
          </p:cNvSpPr>
          <p:nvPr/>
        </p:nvSpPr>
        <p:spPr>
          <a:xfrm xmlns:a="http://schemas.openxmlformats.org/drawingml/2006/main">
            <a:off x="609600" y="5734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46772"/>
                </a:solidFill>
                <a:latin typeface="Arial"/>
                <a:ea typeface="Arial"/>
                <a:cs typeface="Arial"/>
              </a:defRPr>
            </a:pPr>
            <a:r>
              <a:rPr sz="1800" b="0">
                <a:solidFill>
                  <a:srgbClr val="546772"/>
                </a:solidFill>
                <a:latin typeface="Arial"/>
                <a:ea typeface="Arial"/>
                <a:cs typeface="Arial"/>
              </a:rPr>
              <a:t>La documentación original tiene un alcance mayor que los cinco flujos.</a:t>
            </a:r>
          </a:p>
        </p:txBody>
      </p:sp>
    </p:spTree>
    <p:extLst>
      <p:ext uri="{BB962C8B-B14F-4D97-AF65-F5344CB8AC3E}">
        <p14:creationId xmlns:p14="http://schemas.microsoft.com/office/powerpoint/2010/main" val="11157715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6A9F90A-470F-4515-8ACD-45B9A8693C57}"/>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Cinco requerimientos funcionales</a:t>
            </a:r>
          </a:p>
        </p:txBody>
      </p:sp>
      <p:sp>
        <p:nvSpPr>
          <p:cNvPr id="2" name="">
            <a:extLst xmlns:a="http://schemas.openxmlformats.org/drawingml/2006/main">
              <a:ext uri="{FF2B5EF4-FFF2-40B4-BE49-F238E27FC236}">
                <a16:creationId xmlns:a16="http://schemas.microsoft.com/office/drawing/2014/main" id="{1392BF21-BBD2-49F0-9389-29FC948EF41F}"/>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04 / 14     Daiana     2:00–2:45     0:45</a:t>
            </a:r>
          </a:p>
        </p:txBody>
      </p:sp>
      <p:sp>
        <p:nvSpPr>
          <p:cNvPr id="3" name="">
            <a:extLst xmlns:a="http://schemas.openxmlformats.org/drawingml/2006/main">
              <a:ext uri="{FF2B5EF4-FFF2-40B4-BE49-F238E27FC236}">
                <a16:creationId xmlns:a16="http://schemas.microsoft.com/office/drawing/2014/main" id="{EB1DCCA0-1DFF-42A6-9503-CC4DB064E521}"/>
              </a:ext>
            </a:extLst>
          </p:cNvPr>
          <p:cNvSpPr>
            <a:spLocks xmlns:a="http://schemas.openxmlformats.org/drawingml/2006/main" noGrp="1"/>
          </p:cNvSpPr>
          <p:nvPr/>
        </p:nvSpPr>
        <p:spPr>
          <a:xfrm xmlns:a="http://schemas.openxmlformats.org/drawingml/2006/main">
            <a:off x="609600" y="1476375"/>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RF01</a:t>
            </a:r>
          </a:p>
        </p:txBody>
      </p:sp>
      <p:sp>
        <p:nvSpPr>
          <p:cNvPr id="4" name="">
            <a:extLst xmlns:a="http://schemas.openxmlformats.org/drawingml/2006/main">
              <a:ext uri="{FF2B5EF4-FFF2-40B4-BE49-F238E27FC236}">
                <a16:creationId xmlns:a16="http://schemas.microsoft.com/office/drawing/2014/main" id="{F2C7D5F0-DD49-4533-9EED-9CA16CE7A486}"/>
              </a:ext>
            </a:extLst>
          </p:cNvPr>
          <p:cNvSpPr>
            <a:spLocks xmlns:a="http://schemas.openxmlformats.org/drawingml/2006/main" noGrp="1"/>
          </p:cNvSpPr>
          <p:nvPr/>
        </p:nvSpPr>
        <p:spPr>
          <a:xfrm xmlns:a="http://schemas.openxmlformats.org/drawingml/2006/main">
            <a:off x="1809750" y="14763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Registro de clientes</a:t>
            </a:r>
          </a:p>
        </p:txBody>
      </p:sp>
      <p:sp>
        <p:nvSpPr>
          <p:cNvPr id="5" name="">
            <a:extLst xmlns:a="http://schemas.openxmlformats.org/drawingml/2006/main">
              <a:ext uri="{FF2B5EF4-FFF2-40B4-BE49-F238E27FC236}">
                <a16:creationId xmlns:a16="http://schemas.microsoft.com/office/drawing/2014/main" id="{62213DF6-5BCF-4E5A-AC1D-6F1EA0268DD1}"/>
              </a:ext>
            </a:extLst>
          </p:cNvPr>
          <p:cNvSpPr>
            <a:spLocks xmlns:a="http://schemas.openxmlformats.org/drawingml/2006/main" noGrp="1"/>
          </p:cNvSpPr>
          <p:nvPr/>
        </p:nvSpPr>
        <p:spPr>
          <a:xfrm xmlns:a="http://schemas.openxmlformats.org/drawingml/2006/main">
            <a:off x="1809750" y="187642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Datos validados y contraseña con hash.</a:t>
            </a:r>
          </a:p>
        </p:txBody>
      </p:sp>
      <p:sp>
        <p:nvSpPr>
          <p:cNvPr id="6" name="">
            <a:extLst xmlns:a="http://schemas.openxmlformats.org/drawingml/2006/main">
              <a:ext uri="{FF2B5EF4-FFF2-40B4-BE49-F238E27FC236}">
                <a16:creationId xmlns:a16="http://schemas.microsoft.com/office/drawing/2014/main" id="{DDCB31FB-57A8-4CBC-ABB2-6E20F93A3BBA}"/>
              </a:ext>
            </a:extLst>
          </p:cNvPr>
          <p:cNvSpPr>
            <a:spLocks xmlns:a="http://schemas.openxmlformats.org/drawingml/2006/main" noGrp="1"/>
          </p:cNvSpPr>
          <p:nvPr/>
        </p:nvSpPr>
        <p:spPr>
          <a:xfrm xmlns:a="http://schemas.openxmlformats.org/drawingml/2006/main">
            <a:off x="609600" y="236220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RF02</a:t>
            </a:r>
          </a:p>
        </p:txBody>
      </p:sp>
      <p:sp>
        <p:nvSpPr>
          <p:cNvPr id="7" name="">
            <a:extLst xmlns:a="http://schemas.openxmlformats.org/drawingml/2006/main">
              <a:ext uri="{FF2B5EF4-FFF2-40B4-BE49-F238E27FC236}">
                <a16:creationId xmlns:a16="http://schemas.microsoft.com/office/drawing/2014/main" id="{57CF3E2E-551F-405C-9827-AA8A2F91D7A0}"/>
              </a:ext>
            </a:extLst>
          </p:cNvPr>
          <p:cNvSpPr>
            <a:spLocks xmlns:a="http://schemas.openxmlformats.org/drawingml/2006/main" noGrp="1"/>
          </p:cNvSpPr>
          <p:nvPr/>
        </p:nvSpPr>
        <p:spPr>
          <a:xfrm xmlns:a="http://schemas.openxmlformats.org/drawingml/2006/main">
            <a:off x="1809750" y="2362200"/>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Autenticación y acceso por rol</a:t>
            </a:r>
          </a:p>
        </p:txBody>
      </p:sp>
      <p:sp>
        <p:nvSpPr>
          <p:cNvPr id="8" name="">
            <a:extLst xmlns:a="http://schemas.openxmlformats.org/drawingml/2006/main">
              <a:ext uri="{FF2B5EF4-FFF2-40B4-BE49-F238E27FC236}">
                <a16:creationId xmlns:a16="http://schemas.microsoft.com/office/drawing/2014/main" id="{9996A891-822E-4E18-A720-8B5F841BD442}"/>
              </a:ext>
            </a:extLst>
          </p:cNvPr>
          <p:cNvSpPr>
            <a:spLocks xmlns:a="http://schemas.openxmlformats.org/drawingml/2006/main" noGrp="1"/>
          </p:cNvSpPr>
          <p:nvPr/>
        </p:nvSpPr>
        <p:spPr>
          <a:xfrm xmlns:a="http://schemas.openxmlformats.org/drawingml/2006/main">
            <a:off x="1809750" y="27622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Sesión MVC y autorización en la API.</a:t>
            </a:r>
          </a:p>
        </p:txBody>
      </p:sp>
      <p:sp>
        <p:nvSpPr>
          <p:cNvPr id="9" name="">
            <a:extLst xmlns:a="http://schemas.openxmlformats.org/drawingml/2006/main">
              <a:ext uri="{FF2B5EF4-FFF2-40B4-BE49-F238E27FC236}">
                <a16:creationId xmlns:a16="http://schemas.microsoft.com/office/drawing/2014/main" id="{B413A2AC-A00A-4FF0-A07B-FCD98149916C}"/>
              </a:ext>
            </a:extLst>
          </p:cNvPr>
          <p:cNvSpPr>
            <a:spLocks xmlns:a="http://schemas.openxmlformats.org/drawingml/2006/main" noGrp="1"/>
          </p:cNvSpPr>
          <p:nvPr/>
        </p:nvSpPr>
        <p:spPr>
          <a:xfrm xmlns:a="http://schemas.openxmlformats.org/drawingml/2006/main">
            <a:off x="609600" y="3248025"/>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RF03</a:t>
            </a:r>
          </a:p>
        </p:txBody>
      </p:sp>
      <p:sp>
        <p:nvSpPr>
          <p:cNvPr id="10" name="">
            <a:extLst xmlns:a="http://schemas.openxmlformats.org/drawingml/2006/main">
              <a:ext uri="{FF2B5EF4-FFF2-40B4-BE49-F238E27FC236}">
                <a16:creationId xmlns:a16="http://schemas.microsoft.com/office/drawing/2014/main" id="{BD7328D2-C7C4-40C1-9916-A02EF83F9E81}"/>
              </a:ext>
            </a:extLst>
          </p:cNvPr>
          <p:cNvSpPr>
            <a:spLocks xmlns:a="http://schemas.openxmlformats.org/drawingml/2006/main" noGrp="1"/>
          </p:cNvSpPr>
          <p:nvPr/>
        </p:nvSpPr>
        <p:spPr>
          <a:xfrm xmlns:a="http://schemas.openxmlformats.org/drawingml/2006/main">
            <a:off x="1809750" y="324802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Consulta del catálogo</a:t>
            </a:r>
          </a:p>
        </p:txBody>
      </p:sp>
      <p:sp>
        <p:nvSpPr>
          <p:cNvPr id="11" name="">
            <a:extLst xmlns:a="http://schemas.openxmlformats.org/drawingml/2006/main">
              <a:ext uri="{FF2B5EF4-FFF2-40B4-BE49-F238E27FC236}">
                <a16:creationId xmlns:a16="http://schemas.microsoft.com/office/drawing/2014/main" id="{66E936DE-CE64-4D98-AEC6-4533B2105F17}"/>
              </a:ext>
            </a:extLst>
          </p:cNvPr>
          <p:cNvSpPr>
            <a:spLocks xmlns:a="http://schemas.openxmlformats.org/drawingml/2006/main" noGrp="1"/>
          </p:cNvSpPr>
          <p:nvPr/>
        </p:nvSpPr>
        <p:spPr>
          <a:xfrm xmlns:a="http://schemas.openxmlformats.org/drawingml/2006/main">
            <a:off x="1809750" y="36480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Búsqueda, filtros, paginación y detalle.</a:t>
            </a:r>
          </a:p>
        </p:txBody>
      </p:sp>
      <p:sp>
        <p:nvSpPr>
          <p:cNvPr id="12" name="">
            <a:extLst xmlns:a="http://schemas.openxmlformats.org/drawingml/2006/main">
              <a:ext uri="{FF2B5EF4-FFF2-40B4-BE49-F238E27FC236}">
                <a16:creationId xmlns:a16="http://schemas.microsoft.com/office/drawing/2014/main" id="{E223FB15-1F34-4564-8C52-12B018807242}"/>
              </a:ext>
            </a:extLst>
          </p:cNvPr>
          <p:cNvSpPr>
            <a:spLocks xmlns:a="http://schemas.openxmlformats.org/drawingml/2006/main" noGrp="1"/>
          </p:cNvSpPr>
          <p:nvPr/>
        </p:nvSpPr>
        <p:spPr>
          <a:xfrm xmlns:a="http://schemas.openxmlformats.org/drawingml/2006/main">
            <a:off x="609600" y="41338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RF04</a:t>
            </a:r>
          </a:p>
        </p:txBody>
      </p:sp>
      <p:sp>
        <p:nvSpPr>
          <p:cNvPr id="13" name="">
            <a:extLst xmlns:a="http://schemas.openxmlformats.org/drawingml/2006/main">
              <a:ext uri="{FF2B5EF4-FFF2-40B4-BE49-F238E27FC236}">
                <a16:creationId xmlns:a16="http://schemas.microsoft.com/office/drawing/2014/main" id="{B216709B-8AE0-4EA3-B620-52A683B81CB2}"/>
              </a:ext>
            </a:extLst>
          </p:cNvPr>
          <p:cNvSpPr>
            <a:spLocks xmlns:a="http://schemas.openxmlformats.org/drawingml/2006/main" noGrp="1"/>
          </p:cNvSpPr>
          <p:nvPr/>
        </p:nvSpPr>
        <p:spPr>
          <a:xfrm xmlns:a="http://schemas.openxmlformats.org/drawingml/2006/main">
            <a:off x="1809750" y="4133850"/>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Gestión del carrito propio</a:t>
            </a:r>
          </a:p>
        </p:txBody>
      </p:sp>
      <p:sp>
        <p:nvSpPr>
          <p:cNvPr id="14" name="">
            <a:extLst xmlns:a="http://schemas.openxmlformats.org/drawingml/2006/main">
              <a:ext uri="{FF2B5EF4-FFF2-40B4-BE49-F238E27FC236}">
                <a16:creationId xmlns:a16="http://schemas.microsoft.com/office/drawing/2014/main" id="{1961CE4A-811A-4890-9DB2-B559C3CB351B}"/>
              </a:ext>
            </a:extLst>
          </p:cNvPr>
          <p:cNvSpPr>
            <a:spLocks xmlns:a="http://schemas.openxmlformats.org/drawingml/2006/main" noGrp="1"/>
          </p:cNvSpPr>
          <p:nvPr/>
        </p:nvSpPr>
        <p:spPr>
          <a:xfrm xmlns:a="http://schemas.openxmlformats.org/drawingml/2006/main">
            <a:off x="1809750" y="45339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Agregar, cambiar cantidad y eliminar.</a:t>
            </a:r>
          </a:p>
        </p:txBody>
      </p:sp>
      <p:sp>
        <p:nvSpPr>
          <p:cNvPr id="15" name="">
            <a:extLst xmlns:a="http://schemas.openxmlformats.org/drawingml/2006/main">
              <a:ext uri="{FF2B5EF4-FFF2-40B4-BE49-F238E27FC236}">
                <a16:creationId xmlns:a16="http://schemas.microsoft.com/office/drawing/2014/main" id="{744B1199-BA31-4E04-A1F9-43B19375B21A}"/>
              </a:ext>
            </a:extLst>
          </p:cNvPr>
          <p:cNvSpPr>
            <a:spLocks xmlns:a="http://schemas.openxmlformats.org/drawingml/2006/main" noGrp="1"/>
          </p:cNvSpPr>
          <p:nvPr/>
        </p:nvSpPr>
        <p:spPr>
          <a:xfrm xmlns:a="http://schemas.openxmlformats.org/drawingml/2006/main">
            <a:off x="609600" y="5019675"/>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RF05</a:t>
            </a:r>
          </a:p>
        </p:txBody>
      </p:sp>
      <p:sp>
        <p:nvSpPr>
          <p:cNvPr id="16" name="">
            <a:extLst xmlns:a="http://schemas.openxmlformats.org/drawingml/2006/main">
              <a:ext uri="{FF2B5EF4-FFF2-40B4-BE49-F238E27FC236}">
                <a16:creationId xmlns:a16="http://schemas.microsoft.com/office/drawing/2014/main" id="{946EB192-DBDB-4DBB-9654-237AE77CE70C}"/>
              </a:ext>
            </a:extLst>
          </p:cNvPr>
          <p:cNvSpPr>
            <a:spLocks xmlns:a="http://schemas.openxmlformats.org/drawingml/2006/main" noGrp="1"/>
          </p:cNvSpPr>
          <p:nvPr/>
        </p:nvSpPr>
        <p:spPr>
          <a:xfrm xmlns:a="http://schemas.openxmlformats.org/drawingml/2006/main">
            <a:off x="1809750" y="50196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Administración de productos</a:t>
            </a:r>
          </a:p>
        </p:txBody>
      </p:sp>
      <p:sp>
        <p:nvSpPr>
          <p:cNvPr id="17" name="">
            <a:extLst xmlns:a="http://schemas.openxmlformats.org/drawingml/2006/main">
              <a:ext uri="{FF2B5EF4-FFF2-40B4-BE49-F238E27FC236}">
                <a16:creationId xmlns:a16="http://schemas.microsoft.com/office/drawing/2014/main" id="{331374E7-9AC3-49B1-838C-533A22D87E77}"/>
              </a:ext>
            </a:extLst>
          </p:cNvPr>
          <p:cNvSpPr>
            <a:spLocks xmlns:a="http://schemas.openxmlformats.org/drawingml/2006/main" noGrp="1"/>
          </p:cNvSpPr>
          <p:nvPr/>
        </p:nvSpPr>
        <p:spPr>
          <a:xfrm xmlns:a="http://schemas.openxmlformats.org/drawingml/2006/main">
            <a:off x="1809750" y="541972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Crear, editar stock e imagen y eliminar.</a:t>
            </a:r>
          </a:p>
        </p:txBody>
      </p:sp>
    </p:spTree>
    <p:extLst>
      <p:ext uri="{BB962C8B-B14F-4D97-AF65-F5344CB8AC3E}">
        <p14:creationId xmlns:p14="http://schemas.microsoft.com/office/powerpoint/2010/main" val="5528709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536DB7-993A-413A-914E-C44C30031D31}"/>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Cinco requerimientos no funcionales</a:t>
            </a:r>
          </a:p>
        </p:txBody>
      </p:sp>
      <p:sp>
        <p:nvSpPr>
          <p:cNvPr id="2" name="">
            <a:extLst xmlns:a="http://schemas.openxmlformats.org/drawingml/2006/main">
              <a:ext uri="{FF2B5EF4-FFF2-40B4-BE49-F238E27FC236}">
                <a16:creationId xmlns:a16="http://schemas.microsoft.com/office/drawing/2014/main" id="{30D93163-F176-4F74-89A7-30F51BBE5A28}"/>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05 / 14     Facundo     2:45–4:15     1:30</a:t>
            </a:r>
          </a:p>
        </p:txBody>
      </p:sp>
      <p:sp>
        <p:nvSpPr>
          <p:cNvPr id="3" name="">
            <a:extLst xmlns:a="http://schemas.openxmlformats.org/drawingml/2006/main">
              <a:ext uri="{FF2B5EF4-FFF2-40B4-BE49-F238E27FC236}">
                <a16:creationId xmlns:a16="http://schemas.microsoft.com/office/drawing/2014/main" id="{618BA64E-AF03-4793-BFF9-F1F5B502EB5F}"/>
              </a:ext>
            </a:extLst>
          </p:cNvPr>
          <p:cNvSpPr>
            <a:spLocks xmlns:a="http://schemas.openxmlformats.org/drawingml/2006/main" noGrp="1"/>
          </p:cNvSpPr>
          <p:nvPr/>
        </p:nvSpPr>
        <p:spPr>
          <a:xfrm xmlns:a="http://schemas.openxmlformats.org/drawingml/2006/main">
            <a:off x="609600" y="1476375"/>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RNF01</a:t>
            </a:r>
          </a:p>
        </p:txBody>
      </p:sp>
      <p:sp>
        <p:nvSpPr>
          <p:cNvPr id="4" name="">
            <a:extLst xmlns:a="http://schemas.openxmlformats.org/drawingml/2006/main">
              <a:ext uri="{FF2B5EF4-FFF2-40B4-BE49-F238E27FC236}">
                <a16:creationId xmlns:a16="http://schemas.microsoft.com/office/drawing/2014/main" id="{3927B903-9641-4D6E-A14D-6AF9700E1A59}"/>
              </a:ext>
            </a:extLst>
          </p:cNvPr>
          <p:cNvSpPr>
            <a:spLocks xmlns:a="http://schemas.openxmlformats.org/drawingml/2006/main" noGrp="1"/>
          </p:cNvSpPr>
          <p:nvPr/>
        </p:nvSpPr>
        <p:spPr>
          <a:xfrm xmlns:a="http://schemas.openxmlformats.org/drawingml/2006/main">
            <a:off x="1809750" y="14763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Seguridad</a:t>
            </a:r>
          </a:p>
        </p:txBody>
      </p:sp>
      <p:sp>
        <p:nvSpPr>
          <p:cNvPr id="5" name="">
            <a:extLst xmlns:a="http://schemas.openxmlformats.org/drawingml/2006/main">
              <a:ext uri="{FF2B5EF4-FFF2-40B4-BE49-F238E27FC236}">
                <a16:creationId xmlns:a16="http://schemas.microsoft.com/office/drawing/2014/main" id="{A0DC95F0-4189-4C9F-B760-D470E00319FB}"/>
              </a:ext>
            </a:extLst>
          </p:cNvPr>
          <p:cNvSpPr>
            <a:spLocks xmlns:a="http://schemas.openxmlformats.org/drawingml/2006/main" noGrp="1"/>
          </p:cNvSpPr>
          <p:nvPr/>
        </p:nvSpPr>
        <p:spPr>
          <a:xfrm xmlns:a="http://schemas.openxmlformats.org/drawingml/2006/main">
            <a:off x="1809750" y="187642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Hash, JWT, permisos, propiedad y CSRF.</a:t>
            </a:r>
          </a:p>
        </p:txBody>
      </p:sp>
      <p:sp>
        <p:nvSpPr>
          <p:cNvPr id="6" name="">
            <a:extLst xmlns:a="http://schemas.openxmlformats.org/drawingml/2006/main">
              <a:ext uri="{FF2B5EF4-FFF2-40B4-BE49-F238E27FC236}">
                <a16:creationId xmlns:a16="http://schemas.microsoft.com/office/drawing/2014/main" id="{7714340A-0413-4F5A-B5D2-A89B36D350C1}"/>
              </a:ext>
            </a:extLst>
          </p:cNvPr>
          <p:cNvSpPr>
            <a:spLocks xmlns:a="http://schemas.openxmlformats.org/drawingml/2006/main" noGrp="1"/>
          </p:cNvSpPr>
          <p:nvPr/>
        </p:nvSpPr>
        <p:spPr>
          <a:xfrm xmlns:a="http://schemas.openxmlformats.org/drawingml/2006/main">
            <a:off x="609600" y="236220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RNF02</a:t>
            </a:r>
          </a:p>
        </p:txBody>
      </p:sp>
      <p:sp>
        <p:nvSpPr>
          <p:cNvPr id="7" name="">
            <a:extLst xmlns:a="http://schemas.openxmlformats.org/drawingml/2006/main">
              <a:ext uri="{FF2B5EF4-FFF2-40B4-BE49-F238E27FC236}">
                <a16:creationId xmlns:a16="http://schemas.microsoft.com/office/drawing/2014/main" id="{AFE5ED74-C911-4F2E-B5A4-E026377D0DD7}"/>
              </a:ext>
            </a:extLst>
          </p:cNvPr>
          <p:cNvSpPr>
            <a:spLocks xmlns:a="http://schemas.openxmlformats.org/drawingml/2006/main" noGrp="1"/>
          </p:cNvSpPr>
          <p:nvPr/>
        </p:nvSpPr>
        <p:spPr>
          <a:xfrm xmlns:a="http://schemas.openxmlformats.org/drawingml/2006/main">
            <a:off x="1809750" y="2362200"/>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Rendimiento</a:t>
            </a:r>
          </a:p>
        </p:txBody>
      </p:sp>
      <p:sp>
        <p:nvSpPr>
          <p:cNvPr id="8" name="">
            <a:extLst xmlns:a="http://schemas.openxmlformats.org/drawingml/2006/main">
              <a:ext uri="{FF2B5EF4-FFF2-40B4-BE49-F238E27FC236}">
                <a16:creationId xmlns:a16="http://schemas.microsoft.com/office/drawing/2014/main" id="{4FE14074-F5A5-4F8F-B335-6D59F5EA0771}"/>
              </a:ext>
            </a:extLst>
          </p:cNvPr>
          <p:cNvSpPr>
            <a:spLocks xmlns:a="http://schemas.openxmlformats.org/drawingml/2006/main" noGrp="1"/>
          </p:cNvSpPr>
          <p:nvPr/>
        </p:nvSpPr>
        <p:spPr>
          <a:xfrm xmlns:a="http://schemas.openxmlformats.org/drawingml/2006/main">
            <a:off x="1809750" y="27622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Paginación y proyección. Cargas locales controladas.</a:t>
            </a:r>
          </a:p>
        </p:txBody>
      </p:sp>
      <p:sp>
        <p:nvSpPr>
          <p:cNvPr id="9" name="">
            <a:extLst xmlns:a="http://schemas.openxmlformats.org/drawingml/2006/main">
              <a:ext uri="{FF2B5EF4-FFF2-40B4-BE49-F238E27FC236}">
                <a16:creationId xmlns:a16="http://schemas.microsoft.com/office/drawing/2014/main" id="{B3D33128-6010-4120-B4AC-381E6E49A904}"/>
              </a:ext>
            </a:extLst>
          </p:cNvPr>
          <p:cNvSpPr>
            <a:spLocks xmlns:a="http://schemas.openxmlformats.org/drawingml/2006/main" noGrp="1"/>
          </p:cNvSpPr>
          <p:nvPr/>
        </p:nvSpPr>
        <p:spPr>
          <a:xfrm xmlns:a="http://schemas.openxmlformats.org/drawingml/2006/main">
            <a:off x="609600" y="3248025"/>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RNF03</a:t>
            </a:r>
          </a:p>
        </p:txBody>
      </p:sp>
      <p:sp>
        <p:nvSpPr>
          <p:cNvPr id="10" name="">
            <a:extLst xmlns:a="http://schemas.openxmlformats.org/drawingml/2006/main">
              <a:ext uri="{FF2B5EF4-FFF2-40B4-BE49-F238E27FC236}">
                <a16:creationId xmlns:a16="http://schemas.microsoft.com/office/drawing/2014/main" id="{89DBE6B6-CEBD-4B2F-91FA-10D156F65F85}"/>
              </a:ext>
            </a:extLst>
          </p:cNvPr>
          <p:cNvSpPr>
            <a:spLocks xmlns:a="http://schemas.openxmlformats.org/drawingml/2006/main" noGrp="1"/>
          </p:cNvSpPr>
          <p:nvPr/>
        </p:nvSpPr>
        <p:spPr>
          <a:xfrm xmlns:a="http://schemas.openxmlformats.org/drawingml/2006/main">
            <a:off x="1809750" y="324802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Usabilidad</a:t>
            </a:r>
          </a:p>
        </p:txBody>
      </p:sp>
      <p:sp>
        <p:nvSpPr>
          <p:cNvPr id="11" name="">
            <a:extLst xmlns:a="http://schemas.openxmlformats.org/drawingml/2006/main">
              <a:ext uri="{FF2B5EF4-FFF2-40B4-BE49-F238E27FC236}">
                <a16:creationId xmlns:a16="http://schemas.microsoft.com/office/drawing/2014/main" id="{CA2E908A-D479-413A-B2D8-781AC59B2F6F}"/>
              </a:ext>
            </a:extLst>
          </p:cNvPr>
          <p:cNvSpPr>
            <a:spLocks xmlns:a="http://schemas.openxmlformats.org/drawingml/2006/main" noGrp="1"/>
          </p:cNvSpPr>
          <p:nvPr/>
        </p:nvSpPr>
        <p:spPr>
          <a:xfrm xmlns:a="http://schemas.openxmlformats.org/drawingml/2006/main">
            <a:off x="1809750" y="36480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Validación, mensajes, vacíos y confirmaciones.</a:t>
            </a:r>
          </a:p>
        </p:txBody>
      </p:sp>
      <p:sp>
        <p:nvSpPr>
          <p:cNvPr id="12" name="">
            <a:extLst xmlns:a="http://schemas.openxmlformats.org/drawingml/2006/main">
              <a:ext uri="{FF2B5EF4-FFF2-40B4-BE49-F238E27FC236}">
                <a16:creationId xmlns:a16="http://schemas.microsoft.com/office/drawing/2014/main" id="{1A3F5345-EE0C-4A37-B3C2-C069C6692618}"/>
              </a:ext>
            </a:extLst>
          </p:cNvPr>
          <p:cNvSpPr>
            <a:spLocks xmlns:a="http://schemas.openxmlformats.org/drawingml/2006/main" noGrp="1"/>
          </p:cNvSpPr>
          <p:nvPr/>
        </p:nvSpPr>
        <p:spPr>
          <a:xfrm xmlns:a="http://schemas.openxmlformats.org/drawingml/2006/main">
            <a:off x="609600" y="41338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RNF04</a:t>
            </a:r>
          </a:p>
        </p:txBody>
      </p:sp>
      <p:sp>
        <p:nvSpPr>
          <p:cNvPr id="13" name="">
            <a:extLst xmlns:a="http://schemas.openxmlformats.org/drawingml/2006/main">
              <a:ext uri="{FF2B5EF4-FFF2-40B4-BE49-F238E27FC236}">
                <a16:creationId xmlns:a16="http://schemas.microsoft.com/office/drawing/2014/main" id="{1278355D-EBA9-41DC-9561-F29EE9B680B4}"/>
              </a:ext>
            </a:extLst>
          </p:cNvPr>
          <p:cNvSpPr>
            <a:spLocks xmlns:a="http://schemas.openxmlformats.org/drawingml/2006/main" noGrp="1"/>
          </p:cNvSpPr>
          <p:nvPr/>
        </p:nvSpPr>
        <p:spPr>
          <a:xfrm xmlns:a="http://schemas.openxmlformats.org/drawingml/2006/main">
            <a:off x="1809750" y="4133850"/>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Compatibilidad</a:t>
            </a:r>
          </a:p>
        </p:txBody>
      </p:sp>
      <p:sp>
        <p:nvSpPr>
          <p:cNvPr id="14" name="">
            <a:extLst xmlns:a="http://schemas.openxmlformats.org/drawingml/2006/main">
              <a:ext uri="{FF2B5EF4-FFF2-40B4-BE49-F238E27FC236}">
                <a16:creationId xmlns:a16="http://schemas.microsoft.com/office/drawing/2014/main" id="{4E7FD0AB-379D-4740-AC90-AF19E6E9F76B}"/>
              </a:ext>
            </a:extLst>
          </p:cNvPr>
          <p:cNvSpPr>
            <a:spLocks xmlns:a="http://schemas.openxmlformats.org/drawingml/2006/main" noGrp="1"/>
          </p:cNvSpPr>
          <p:nvPr/>
        </p:nvSpPr>
        <p:spPr>
          <a:xfrm xmlns:a="http://schemas.openxmlformats.org/drawingml/2006/main">
            <a:off x="1809750" y="45339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Seis anchos de pantalla. Pruebas en Chromium.</a:t>
            </a:r>
          </a:p>
        </p:txBody>
      </p:sp>
      <p:sp>
        <p:nvSpPr>
          <p:cNvPr id="15" name="">
            <a:extLst xmlns:a="http://schemas.openxmlformats.org/drawingml/2006/main">
              <a:ext uri="{FF2B5EF4-FFF2-40B4-BE49-F238E27FC236}">
                <a16:creationId xmlns:a16="http://schemas.microsoft.com/office/drawing/2014/main" id="{69903D1A-C77A-40DB-A052-16A27098A374}"/>
              </a:ext>
            </a:extLst>
          </p:cNvPr>
          <p:cNvSpPr>
            <a:spLocks xmlns:a="http://schemas.openxmlformats.org/drawingml/2006/main" noGrp="1"/>
          </p:cNvSpPr>
          <p:nvPr/>
        </p:nvSpPr>
        <p:spPr>
          <a:xfrm xmlns:a="http://schemas.openxmlformats.org/drawingml/2006/main">
            <a:off x="609600" y="5019675"/>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F86"/>
                </a:solidFill>
                <a:latin typeface="Arial"/>
                <a:ea typeface="Arial"/>
                <a:cs typeface="Arial"/>
              </a:defRPr>
            </a:pPr>
            <a:r>
              <a:rPr sz="1875" b="1">
                <a:solidFill>
                  <a:srgbClr val="007F86"/>
                </a:solidFill>
                <a:latin typeface="Arial"/>
                <a:ea typeface="Arial"/>
                <a:cs typeface="Arial"/>
              </a:rPr>
              <a:t>RNF05</a:t>
            </a:r>
          </a:p>
        </p:txBody>
      </p:sp>
      <p:sp>
        <p:nvSpPr>
          <p:cNvPr id="16" name="">
            <a:extLst xmlns:a="http://schemas.openxmlformats.org/drawingml/2006/main">
              <a:ext uri="{FF2B5EF4-FFF2-40B4-BE49-F238E27FC236}">
                <a16:creationId xmlns:a16="http://schemas.microsoft.com/office/drawing/2014/main" id="{355214BD-41F4-4AA6-A361-65B4715DA1BB}"/>
              </a:ext>
            </a:extLst>
          </p:cNvPr>
          <p:cNvSpPr>
            <a:spLocks xmlns:a="http://schemas.openxmlformats.org/drawingml/2006/main" noGrp="1"/>
          </p:cNvSpPr>
          <p:nvPr/>
        </p:nvSpPr>
        <p:spPr>
          <a:xfrm xmlns:a="http://schemas.openxmlformats.org/drawingml/2006/main">
            <a:off x="1809750" y="50196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Mantenibilidad</a:t>
            </a:r>
          </a:p>
        </p:txBody>
      </p:sp>
      <p:sp>
        <p:nvSpPr>
          <p:cNvPr id="17" name="">
            <a:extLst xmlns:a="http://schemas.openxmlformats.org/drawingml/2006/main">
              <a:ext uri="{FF2B5EF4-FFF2-40B4-BE49-F238E27FC236}">
                <a16:creationId xmlns:a16="http://schemas.microsoft.com/office/drawing/2014/main" id="{46E6FCC1-FA83-4023-AE21-32799D02ED69}"/>
              </a:ext>
            </a:extLst>
          </p:cNvPr>
          <p:cNvSpPr>
            <a:spLocks xmlns:a="http://schemas.openxmlformats.org/drawingml/2006/main" noGrp="1"/>
          </p:cNvSpPr>
          <p:nvPr/>
        </p:nvSpPr>
        <p:spPr>
          <a:xfrm xmlns:a="http://schemas.openxmlformats.org/drawingml/2006/main">
            <a:off x="1809750" y="541972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638"/>
                </a:solidFill>
                <a:latin typeface="Arial"/>
                <a:ea typeface="Arial"/>
                <a:cs typeface="Arial"/>
              </a:defRPr>
            </a:pPr>
            <a:r>
              <a:rPr sz="1875" b="0">
                <a:solidFill>
                  <a:srgbClr val="102638"/>
                </a:solidFill>
                <a:latin typeface="Arial"/>
                <a:ea typeface="Arial"/>
                <a:cs typeface="Arial"/>
              </a:rPr>
              <a:t>Responsabilidades, inyección y pruebas.</a:t>
            </a:r>
          </a:p>
        </p:txBody>
      </p:sp>
      <p:sp>
        <p:nvSpPr>
          <p:cNvPr id="18" name="">
            <a:extLst xmlns:a="http://schemas.openxmlformats.org/drawingml/2006/main">
              <a:ext uri="{FF2B5EF4-FFF2-40B4-BE49-F238E27FC236}">
                <a16:creationId xmlns:a16="http://schemas.microsoft.com/office/drawing/2014/main" id="{AB3EB5D5-320B-4805-B9BB-FB8817AB2B63}"/>
              </a:ext>
            </a:extLst>
          </p:cNvPr>
          <p:cNvSpPr>
            <a:spLocks xmlns:a="http://schemas.openxmlformats.org/drawingml/2006/main" noGrp="1"/>
          </p:cNvSpPr>
          <p:nvPr/>
        </p:nvSpPr>
        <p:spPr>
          <a:xfrm xmlns:a="http://schemas.openxmlformats.org/drawingml/2006/main">
            <a:off x="609600" y="60102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46772"/>
                </a:solidFill>
                <a:latin typeface="Arial"/>
                <a:ea typeface="Arial"/>
                <a:cs typeface="Arial"/>
              </a:defRPr>
            </a:pPr>
            <a:r>
              <a:rPr sz="1650" b="0">
                <a:solidFill>
                  <a:srgbClr val="546772"/>
                </a:solidFill>
                <a:latin typeface="Arial"/>
                <a:ea typeface="Arial"/>
                <a:cs typeface="Arial"/>
              </a:rPr>
              <a:t>Evidencia de la ejecución anterior. Sin certificación de producción.</a:t>
            </a:r>
          </a:p>
        </p:txBody>
      </p:sp>
    </p:spTree>
    <p:extLst>
      <p:ext uri="{BB962C8B-B14F-4D97-AF65-F5344CB8AC3E}">
        <p14:creationId xmlns:p14="http://schemas.microsoft.com/office/powerpoint/2010/main" val="17000187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AC0279-BE5B-4A05-9927-2181D897FED4}"/>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Cinco casos de uso de la demostración</a:t>
            </a:r>
          </a:p>
        </p:txBody>
      </p:sp>
      <p:sp>
        <p:nvSpPr>
          <p:cNvPr id="2" name="">
            <a:extLst xmlns:a="http://schemas.openxmlformats.org/drawingml/2006/main">
              <a:ext uri="{FF2B5EF4-FFF2-40B4-BE49-F238E27FC236}">
                <a16:creationId xmlns:a16="http://schemas.microsoft.com/office/drawing/2014/main" id="{60BC08F1-106F-45FD-B3A2-21A8865F8AC7}"/>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06 / 14     Daiana     4:15–5:00     0:45</a:t>
            </a:r>
          </a:p>
        </p:txBody>
      </p:sp>
      <p:sp>
        <p:nvSpPr>
          <p:cNvPr id="3" name="">
            <a:extLst xmlns:a="http://schemas.openxmlformats.org/drawingml/2006/main">
              <a:ext uri="{FF2B5EF4-FFF2-40B4-BE49-F238E27FC236}">
                <a16:creationId xmlns:a16="http://schemas.microsoft.com/office/drawing/2014/main" id="{C8A5CEC1-A0AE-41AE-9145-98F73A247873}"/>
              </a:ext>
            </a:extLst>
          </p:cNvPr>
          <p:cNvSpPr>
            <a:spLocks xmlns:a="http://schemas.openxmlformats.org/drawingml/2006/main" noGrp="1"/>
          </p:cNvSpPr>
          <p:nvPr/>
        </p:nvSpPr>
        <p:spPr>
          <a:xfrm xmlns:a="http://schemas.openxmlformats.org/drawingml/2006/main">
            <a:off x="609600" y="1524000"/>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CU01</a:t>
            </a:r>
          </a:p>
        </p:txBody>
      </p:sp>
      <p:sp>
        <p:nvSpPr>
          <p:cNvPr id="4" name="">
            <a:extLst xmlns:a="http://schemas.openxmlformats.org/drawingml/2006/main">
              <a:ext uri="{FF2B5EF4-FFF2-40B4-BE49-F238E27FC236}">
                <a16:creationId xmlns:a16="http://schemas.microsoft.com/office/drawing/2014/main" id="{10B99858-3747-42A0-9270-41BF5B413D12}"/>
              </a:ext>
            </a:extLst>
          </p:cNvPr>
          <p:cNvSpPr>
            <a:spLocks xmlns:a="http://schemas.openxmlformats.org/drawingml/2006/main" noGrp="1"/>
          </p:cNvSpPr>
          <p:nvPr/>
        </p:nvSpPr>
        <p:spPr>
          <a:xfrm xmlns:a="http://schemas.openxmlformats.org/drawingml/2006/main">
            <a:off x="1809750" y="15240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02638"/>
                </a:solidFill>
                <a:latin typeface="Arial"/>
                <a:ea typeface="Arial"/>
                <a:cs typeface="Arial"/>
              </a:defRPr>
            </a:pPr>
            <a:r>
              <a:rPr sz="2325" b="0">
                <a:solidFill>
                  <a:srgbClr val="102638"/>
                </a:solidFill>
                <a:latin typeface="Arial"/>
                <a:ea typeface="Arial"/>
                <a:cs typeface="Arial"/>
              </a:rPr>
              <a:t>Registrarse</a:t>
            </a:r>
          </a:p>
        </p:txBody>
      </p:sp>
      <p:sp>
        <p:nvSpPr>
          <p:cNvPr id="5" name="">
            <a:extLst xmlns:a="http://schemas.openxmlformats.org/drawingml/2006/main">
              <a:ext uri="{FF2B5EF4-FFF2-40B4-BE49-F238E27FC236}">
                <a16:creationId xmlns:a16="http://schemas.microsoft.com/office/drawing/2014/main" id="{3DF3396B-1813-42F4-8182-BC47692176C5}"/>
              </a:ext>
            </a:extLst>
          </p:cNvPr>
          <p:cNvSpPr>
            <a:spLocks xmlns:a="http://schemas.openxmlformats.org/drawingml/2006/main" noGrp="1"/>
          </p:cNvSpPr>
          <p:nvPr/>
        </p:nvSpPr>
        <p:spPr>
          <a:xfrm xmlns:a="http://schemas.openxmlformats.org/drawingml/2006/main">
            <a:off x="1809750" y="1933575"/>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46772"/>
                </a:solidFill>
                <a:latin typeface="Arial"/>
                <a:ea typeface="Arial"/>
                <a:cs typeface="Arial"/>
              </a:defRPr>
            </a:pPr>
            <a:r>
              <a:rPr sz="1725" b="0">
                <a:solidFill>
                  <a:srgbClr val="546772"/>
                </a:solidFill>
                <a:latin typeface="Arial"/>
                <a:ea typeface="Arial"/>
                <a:cs typeface="Arial"/>
              </a:rPr>
              <a:t>RF01 · Visitante</a:t>
            </a:r>
          </a:p>
        </p:txBody>
      </p:sp>
      <p:sp>
        <p:nvSpPr>
          <p:cNvPr id="6" name="">
            <a:extLst xmlns:a="http://schemas.openxmlformats.org/drawingml/2006/main">
              <a:ext uri="{FF2B5EF4-FFF2-40B4-BE49-F238E27FC236}">
                <a16:creationId xmlns:a16="http://schemas.microsoft.com/office/drawing/2014/main" id="{FD5518CF-4E76-4B4D-81B4-9AFC68EE3F08}"/>
              </a:ext>
            </a:extLst>
          </p:cNvPr>
          <p:cNvSpPr>
            <a:spLocks xmlns:a="http://schemas.openxmlformats.org/drawingml/2006/main" noGrp="1"/>
          </p:cNvSpPr>
          <p:nvPr/>
        </p:nvSpPr>
        <p:spPr>
          <a:xfrm xmlns:a="http://schemas.openxmlformats.org/drawingml/2006/main">
            <a:off x="609600" y="2390775"/>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CU02</a:t>
            </a:r>
          </a:p>
        </p:txBody>
      </p:sp>
      <p:sp>
        <p:nvSpPr>
          <p:cNvPr id="7" name="">
            <a:extLst xmlns:a="http://schemas.openxmlformats.org/drawingml/2006/main">
              <a:ext uri="{FF2B5EF4-FFF2-40B4-BE49-F238E27FC236}">
                <a16:creationId xmlns:a16="http://schemas.microsoft.com/office/drawing/2014/main" id="{13A8D344-2A16-4C52-A530-27D148EADC5D}"/>
              </a:ext>
            </a:extLst>
          </p:cNvPr>
          <p:cNvSpPr>
            <a:spLocks xmlns:a="http://schemas.openxmlformats.org/drawingml/2006/main" noGrp="1"/>
          </p:cNvSpPr>
          <p:nvPr/>
        </p:nvSpPr>
        <p:spPr>
          <a:xfrm xmlns:a="http://schemas.openxmlformats.org/drawingml/2006/main">
            <a:off x="1809750" y="23907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02638"/>
                </a:solidFill>
                <a:latin typeface="Arial"/>
                <a:ea typeface="Arial"/>
                <a:cs typeface="Arial"/>
              </a:defRPr>
            </a:pPr>
            <a:r>
              <a:rPr sz="2325" b="0">
                <a:solidFill>
                  <a:srgbClr val="102638"/>
                </a:solidFill>
                <a:latin typeface="Arial"/>
                <a:ea typeface="Arial"/>
                <a:cs typeface="Arial"/>
              </a:rPr>
              <a:t>Iniciar sesión</a:t>
            </a:r>
          </a:p>
        </p:txBody>
      </p:sp>
      <p:sp>
        <p:nvSpPr>
          <p:cNvPr id="8" name="">
            <a:extLst xmlns:a="http://schemas.openxmlformats.org/drawingml/2006/main">
              <a:ext uri="{FF2B5EF4-FFF2-40B4-BE49-F238E27FC236}">
                <a16:creationId xmlns:a16="http://schemas.microsoft.com/office/drawing/2014/main" id="{14C8E701-3C34-4D2C-8E86-729FBA25808E}"/>
              </a:ext>
            </a:extLst>
          </p:cNvPr>
          <p:cNvSpPr>
            <a:spLocks xmlns:a="http://schemas.openxmlformats.org/drawingml/2006/main" noGrp="1"/>
          </p:cNvSpPr>
          <p:nvPr/>
        </p:nvSpPr>
        <p:spPr>
          <a:xfrm xmlns:a="http://schemas.openxmlformats.org/drawingml/2006/main">
            <a:off x="1809750" y="2800350"/>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46772"/>
                </a:solidFill>
                <a:latin typeface="Arial"/>
                <a:ea typeface="Arial"/>
                <a:cs typeface="Arial"/>
              </a:defRPr>
            </a:pPr>
            <a:r>
              <a:rPr sz="1725" b="0">
                <a:solidFill>
                  <a:srgbClr val="546772"/>
                </a:solidFill>
                <a:latin typeface="Arial"/>
                <a:ea typeface="Arial"/>
                <a:cs typeface="Arial"/>
              </a:rPr>
              <a:t>RF02 · Usuario</a:t>
            </a:r>
          </a:p>
        </p:txBody>
      </p:sp>
      <p:sp>
        <p:nvSpPr>
          <p:cNvPr id="9" name="">
            <a:extLst xmlns:a="http://schemas.openxmlformats.org/drawingml/2006/main">
              <a:ext uri="{FF2B5EF4-FFF2-40B4-BE49-F238E27FC236}">
                <a16:creationId xmlns:a16="http://schemas.microsoft.com/office/drawing/2014/main" id="{C17B82CF-40A6-49D1-9A93-CB10F5072F9B}"/>
              </a:ext>
            </a:extLst>
          </p:cNvPr>
          <p:cNvSpPr>
            <a:spLocks xmlns:a="http://schemas.openxmlformats.org/drawingml/2006/main" noGrp="1"/>
          </p:cNvSpPr>
          <p:nvPr/>
        </p:nvSpPr>
        <p:spPr>
          <a:xfrm xmlns:a="http://schemas.openxmlformats.org/drawingml/2006/main">
            <a:off x="609600" y="3257550"/>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CU03</a:t>
            </a:r>
          </a:p>
        </p:txBody>
      </p:sp>
      <p:sp>
        <p:nvSpPr>
          <p:cNvPr id="10" name="">
            <a:extLst xmlns:a="http://schemas.openxmlformats.org/drawingml/2006/main">
              <a:ext uri="{FF2B5EF4-FFF2-40B4-BE49-F238E27FC236}">
                <a16:creationId xmlns:a16="http://schemas.microsoft.com/office/drawing/2014/main" id="{D00495AD-9383-4E69-B58A-868D69437F71}"/>
              </a:ext>
            </a:extLst>
          </p:cNvPr>
          <p:cNvSpPr>
            <a:spLocks xmlns:a="http://schemas.openxmlformats.org/drawingml/2006/main" noGrp="1"/>
          </p:cNvSpPr>
          <p:nvPr/>
        </p:nvSpPr>
        <p:spPr>
          <a:xfrm xmlns:a="http://schemas.openxmlformats.org/drawingml/2006/main">
            <a:off x="1809750" y="32575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02638"/>
                </a:solidFill>
                <a:latin typeface="Arial"/>
                <a:ea typeface="Arial"/>
                <a:cs typeface="Arial"/>
              </a:defRPr>
            </a:pPr>
            <a:r>
              <a:rPr sz="2325" b="0">
                <a:solidFill>
                  <a:srgbClr val="102638"/>
                </a:solidFill>
                <a:latin typeface="Arial"/>
                <a:ea typeface="Arial"/>
                <a:cs typeface="Arial"/>
              </a:rPr>
              <a:t>Buscar y consultar un producto</a:t>
            </a:r>
          </a:p>
        </p:txBody>
      </p:sp>
      <p:sp>
        <p:nvSpPr>
          <p:cNvPr id="11" name="">
            <a:extLst xmlns:a="http://schemas.openxmlformats.org/drawingml/2006/main">
              <a:ext uri="{FF2B5EF4-FFF2-40B4-BE49-F238E27FC236}">
                <a16:creationId xmlns:a16="http://schemas.microsoft.com/office/drawing/2014/main" id="{675A885C-AAD4-4757-ADF4-FE6D643745A3}"/>
              </a:ext>
            </a:extLst>
          </p:cNvPr>
          <p:cNvSpPr>
            <a:spLocks xmlns:a="http://schemas.openxmlformats.org/drawingml/2006/main" noGrp="1"/>
          </p:cNvSpPr>
          <p:nvPr/>
        </p:nvSpPr>
        <p:spPr>
          <a:xfrm xmlns:a="http://schemas.openxmlformats.org/drawingml/2006/main">
            <a:off x="1809750" y="3667125"/>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46772"/>
                </a:solidFill>
                <a:latin typeface="Arial"/>
                <a:ea typeface="Arial"/>
                <a:cs typeface="Arial"/>
              </a:defRPr>
            </a:pPr>
            <a:r>
              <a:rPr sz="1725" b="0">
                <a:solidFill>
                  <a:srgbClr val="546772"/>
                </a:solidFill>
                <a:latin typeface="Arial"/>
                <a:ea typeface="Arial"/>
                <a:cs typeface="Arial"/>
              </a:rPr>
              <a:t>RF03 · Visitante o cliente</a:t>
            </a:r>
          </a:p>
        </p:txBody>
      </p:sp>
      <p:sp>
        <p:nvSpPr>
          <p:cNvPr id="12" name="">
            <a:extLst xmlns:a="http://schemas.openxmlformats.org/drawingml/2006/main">
              <a:ext uri="{FF2B5EF4-FFF2-40B4-BE49-F238E27FC236}">
                <a16:creationId xmlns:a16="http://schemas.microsoft.com/office/drawing/2014/main" id="{0212CE1E-79C4-48CD-82D1-EAEBFA2C51DC}"/>
              </a:ext>
            </a:extLst>
          </p:cNvPr>
          <p:cNvSpPr>
            <a:spLocks xmlns:a="http://schemas.openxmlformats.org/drawingml/2006/main" noGrp="1"/>
          </p:cNvSpPr>
          <p:nvPr/>
        </p:nvSpPr>
        <p:spPr>
          <a:xfrm xmlns:a="http://schemas.openxmlformats.org/drawingml/2006/main">
            <a:off x="609600" y="4124325"/>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CU04</a:t>
            </a:r>
          </a:p>
        </p:txBody>
      </p:sp>
      <p:sp>
        <p:nvSpPr>
          <p:cNvPr id="13" name="">
            <a:extLst xmlns:a="http://schemas.openxmlformats.org/drawingml/2006/main">
              <a:ext uri="{FF2B5EF4-FFF2-40B4-BE49-F238E27FC236}">
                <a16:creationId xmlns:a16="http://schemas.microsoft.com/office/drawing/2014/main" id="{8D5BF84C-65B8-4F3C-8A5A-99145E5D06A7}"/>
              </a:ext>
            </a:extLst>
          </p:cNvPr>
          <p:cNvSpPr>
            <a:spLocks xmlns:a="http://schemas.openxmlformats.org/drawingml/2006/main" noGrp="1"/>
          </p:cNvSpPr>
          <p:nvPr/>
        </p:nvSpPr>
        <p:spPr>
          <a:xfrm xmlns:a="http://schemas.openxmlformats.org/drawingml/2006/main">
            <a:off x="1809750" y="41243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02638"/>
                </a:solidFill>
                <a:latin typeface="Arial"/>
                <a:ea typeface="Arial"/>
                <a:cs typeface="Arial"/>
              </a:defRPr>
            </a:pPr>
            <a:r>
              <a:rPr sz="2325" b="0">
                <a:solidFill>
                  <a:srgbClr val="102638"/>
                </a:solidFill>
                <a:latin typeface="Arial"/>
                <a:ea typeface="Arial"/>
                <a:cs typeface="Arial"/>
              </a:rPr>
              <a:t>Gestionar el carrito propio</a:t>
            </a:r>
          </a:p>
        </p:txBody>
      </p:sp>
      <p:sp>
        <p:nvSpPr>
          <p:cNvPr id="14" name="">
            <a:extLst xmlns:a="http://schemas.openxmlformats.org/drawingml/2006/main">
              <a:ext uri="{FF2B5EF4-FFF2-40B4-BE49-F238E27FC236}">
                <a16:creationId xmlns:a16="http://schemas.microsoft.com/office/drawing/2014/main" id="{CD8DED95-C0D8-4759-A635-0CA706915985}"/>
              </a:ext>
            </a:extLst>
          </p:cNvPr>
          <p:cNvSpPr>
            <a:spLocks xmlns:a="http://schemas.openxmlformats.org/drawingml/2006/main" noGrp="1"/>
          </p:cNvSpPr>
          <p:nvPr/>
        </p:nvSpPr>
        <p:spPr>
          <a:xfrm xmlns:a="http://schemas.openxmlformats.org/drawingml/2006/main">
            <a:off x="1809750" y="4533900"/>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46772"/>
                </a:solidFill>
                <a:latin typeface="Arial"/>
                <a:ea typeface="Arial"/>
                <a:cs typeface="Arial"/>
              </a:defRPr>
            </a:pPr>
            <a:r>
              <a:rPr sz="1725" b="0">
                <a:solidFill>
                  <a:srgbClr val="546772"/>
                </a:solidFill>
                <a:latin typeface="Arial"/>
                <a:ea typeface="Arial"/>
                <a:cs typeface="Arial"/>
              </a:rPr>
              <a:t>RF04 · Cliente autenticado</a:t>
            </a:r>
          </a:p>
        </p:txBody>
      </p:sp>
      <p:sp>
        <p:nvSpPr>
          <p:cNvPr id="15" name="">
            <a:extLst xmlns:a="http://schemas.openxmlformats.org/drawingml/2006/main">
              <a:ext uri="{FF2B5EF4-FFF2-40B4-BE49-F238E27FC236}">
                <a16:creationId xmlns:a16="http://schemas.microsoft.com/office/drawing/2014/main" id="{3B078F25-3ABA-475E-BED7-7B3091558854}"/>
              </a:ext>
            </a:extLst>
          </p:cNvPr>
          <p:cNvSpPr>
            <a:spLocks xmlns:a="http://schemas.openxmlformats.org/drawingml/2006/main" noGrp="1"/>
          </p:cNvSpPr>
          <p:nvPr/>
        </p:nvSpPr>
        <p:spPr>
          <a:xfrm xmlns:a="http://schemas.openxmlformats.org/drawingml/2006/main">
            <a:off x="609600" y="4991100"/>
            <a:ext cx="104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CU05</a:t>
            </a:r>
          </a:p>
        </p:txBody>
      </p:sp>
      <p:sp>
        <p:nvSpPr>
          <p:cNvPr id="16" name="">
            <a:extLst xmlns:a="http://schemas.openxmlformats.org/drawingml/2006/main">
              <a:ext uri="{FF2B5EF4-FFF2-40B4-BE49-F238E27FC236}">
                <a16:creationId xmlns:a16="http://schemas.microsoft.com/office/drawing/2014/main" id="{836228BF-BEE2-4DDA-BA4D-3EEB46A21CD6}"/>
              </a:ext>
            </a:extLst>
          </p:cNvPr>
          <p:cNvSpPr>
            <a:spLocks xmlns:a="http://schemas.openxmlformats.org/drawingml/2006/main" noGrp="1"/>
          </p:cNvSpPr>
          <p:nvPr/>
        </p:nvSpPr>
        <p:spPr>
          <a:xfrm xmlns:a="http://schemas.openxmlformats.org/drawingml/2006/main">
            <a:off x="1809750" y="49911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02638"/>
                </a:solidFill>
                <a:latin typeface="Arial"/>
                <a:ea typeface="Arial"/>
                <a:cs typeface="Arial"/>
              </a:defRPr>
            </a:pPr>
            <a:r>
              <a:rPr sz="2325" b="0">
                <a:solidFill>
                  <a:srgbClr val="102638"/>
                </a:solidFill>
                <a:latin typeface="Arial"/>
                <a:ea typeface="Arial"/>
                <a:cs typeface="Arial"/>
              </a:rPr>
              <a:t>Administrar un producto sin relaciones</a:t>
            </a:r>
          </a:p>
        </p:txBody>
      </p:sp>
      <p:sp>
        <p:nvSpPr>
          <p:cNvPr id="17" name="">
            <a:extLst xmlns:a="http://schemas.openxmlformats.org/drawingml/2006/main">
              <a:ext uri="{FF2B5EF4-FFF2-40B4-BE49-F238E27FC236}">
                <a16:creationId xmlns:a16="http://schemas.microsoft.com/office/drawing/2014/main" id="{F9910A09-2AA5-477A-8F58-47AA52FE439D}"/>
              </a:ext>
            </a:extLst>
          </p:cNvPr>
          <p:cNvSpPr>
            <a:spLocks xmlns:a="http://schemas.openxmlformats.org/drawingml/2006/main" noGrp="1"/>
          </p:cNvSpPr>
          <p:nvPr/>
        </p:nvSpPr>
        <p:spPr>
          <a:xfrm xmlns:a="http://schemas.openxmlformats.org/drawingml/2006/main">
            <a:off x="1809750" y="5400675"/>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46772"/>
                </a:solidFill>
                <a:latin typeface="Arial"/>
                <a:ea typeface="Arial"/>
                <a:cs typeface="Arial"/>
              </a:defRPr>
            </a:pPr>
            <a:r>
              <a:rPr sz="1725" b="0">
                <a:solidFill>
                  <a:srgbClr val="546772"/>
                </a:solidFill>
                <a:latin typeface="Arial"/>
                <a:ea typeface="Arial"/>
                <a:cs typeface="Arial"/>
              </a:rPr>
              <a:t>RF05 · Administrador</a:t>
            </a:r>
          </a:p>
        </p:txBody>
      </p:sp>
    </p:spTree>
    <p:extLst>
      <p:ext uri="{BB962C8B-B14F-4D97-AF65-F5344CB8AC3E}">
        <p14:creationId xmlns:p14="http://schemas.microsoft.com/office/powerpoint/2010/main" val="18690709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60D0B1C-AC9E-4DFB-9834-6511C542A179}"/>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Recorrido de una solicitud</a:t>
            </a:r>
          </a:p>
        </p:txBody>
      </p:sp>
      <p:sp>
        <p:nvSpPr>
          <p:cNvPr id="2" name="">
            <a:extLst xmlns:a="http://schemas.openxmlformats.org/drawingml/2006/main">
              <a:ext uri="{FF2B5EF4-FFF2-40B4-BE49-F238E27FC236}">
                <a16:creationId xmlns:a16="http://schemas.microsoft.com/office/drawing/2014/main" id="{3AE79398-569D-4E94-A46E-BAEBDF366E57}"/>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07 / 14     Facundo     5:00–6:30     1:30</a:t>
            </a:r>
          </a:p>
        </p:txBody>
      </p:sp>
      <p:sp>
        <p:nvSpPr>
          <p:cNvPr id="3" name="">
            <a:extLst xmlns:a="http://schemas.openxmlformats.org/drawingml/2006/main">
              <a:ext uri="{FF2B5EF4-FFF2-40B4-BE49-F238E27FC236}">
                <a16:creationId xmlns:a16="http://schemas.microsoft.com/office/drawing/2014/main" id="{337FF6AB-6A79-47CC-897D-AA3C227A8788}"/>
              </a:ext>
            </a:extLst>
          </p:cNvPr>
          <p:cNvSpPr>
            <a:spLocks xmlns:a="http://schemas.openxmlformats.org/drawingml/2006/main" noGrp="1"/>
          </p:cNvSpPr>
          <p:nvPr/>
        </p:nvSpPr>
        <p:spPr>
          <a:xfrm xmlns:a="http://schemas.openxmlformats.org/drawingml/2006/main">
            <a:off x="1047750" y="145732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Navegador</a:t>
            </a:r>
          </a:p>
        </p:txBody>
      </p:sp>
      <p:sp>
        <p:nvSpPr>
          <p:cNvPr id="4" name="">
            <a:extLst xmlns:a="http://schemas.openxmlformats.org/drawingml/2006/main">
              <a:ext uri="{FF2B5EF4-FFF2-40B4-BE49-F238E27FC236}">
                <a16:creationId xmlns:a16="http://schemas.microsoft.com/office/drawing/2014/main" id="{31E160DD-A593-499A-9C5B-E59294C45A50}"/>
              </a:ext>
            </a:extLst>
          </p:cNvPr>
          <p:cNvSpPr>
            <a:spLocks xmlns:a="http://schemas.openxmlformats.org/drawingml/2006/main" noGrp="1"/>
          </p:cNvSpPr>
          <p:nvPr/>
        </p:nvSpPr>
        <p:spPr>
          <a:xfrm xmlns:a="http://schemas.openxmlformats.org/drawingml/2006/main">
            <a:off x="4714875" y="145732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Formulario Razor</a:t>
            </a:r>
          </a:p>
        </p:txBody>
      </p:sp>
      <p:cxnSp>
        <p:nvCxnSpPr>
          <p:cNvPr id="29" name=""/>
          <p:cNvCxnSpPr>
            <a:stCxn xmlns:a="http://schemas.openxmlformats.org/drawingml/2006/main" id="3" idx="3"/>
            <a:endCxn xmlns:a="http://schemas.openxmlformats.org/drawingml/2006/main" id="4" idx="1"/>
          </p:cNvCxnSpPr>
          <p:nvPr/>
        </p:nvCxnSpPr>
        <p:spPr>
          <a:xfrm xmlns:a="http://schemas.openxmlformats.org/drawingml/2006/main">
            <a:off x="3857625" y="180022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6" name="">
            <a:extLst xmlns:a="http://schemas.openxmlformats.org/drawingml/2006/main">
              <a:ext uri="{FF2B5EF4-FFF2-40B4-BE49-F238E27FC236}">
                <a16:creationId xmlns:a16="http://schemas.microsoft.com/office/drawing/2014/main" id="{F9799E83-D338-499C-9052-33465FB79737}"/>
              </a:ext>
            </a:extLst>
          </p:cNvPr>
          <p:cNvSpPr>
            <a:spLocks xmlns:a="http://schemas.openxmlformats.org/drawingml/2006/main" noGrp="1"/>
          </p:cNvSpPr>
          <p:nvPr/>
        </p:nvSpPr>
        <p:spPr>
          <a:xfrm xmlns:a="http://schemas.openxmlformats.org/drawingml/2006/main">
            <a:off x="8382000" y="145732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Controlador MVC</a:t>
            </a:r>
          </a:p>
        </p:txBody>
      </p:sp>
      <p:cxnSp>
        <p:nvCxnSpPr>
          <p:cNvPr id="31" name=""/>
          <p:cNvCxnSpPr>
            <a:stCxn xmlns:a="http://schemas.openxmlformats.org/drawingml/2006/main" id="4" idx="3"/>
            <a:endCxn xmlns:a="http://schemas.openxmlformats.org/drawingml/2006/main" id="6" idx="1"/>
          </p:cNvCxnSpPr>
          <p:nvPr/>
        </p:nvCxnSpPr>
        <p:spPr>
          <a:xfrm xmlns:a="http://schemas.openxmlformats.org/drawingml/2006/main">
            <a:off x="7524750" y="180022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8" name="">
            <a:extLst xmlns:a="http://schemas.openxmlformats.org/drawingml/2006/main">
              <a:ext uri="{FF2B5EF4-FFF2-40B4-BE49-F238E27FC236}">
                <a16:creationId xmlns:a16="http://schemas.microsoft.com/office/drawing/2014/main" id="{49B73963-C40D-455D-BD4A-178626925D3E}"/>
              </a:ext>
            </a:extLst>
          </p:cNvPr>
          <p:cNvSpPr>
            <a:spLocks xmlns:a="http://schemas.openxmlformats.org/drawingml/2006/main" noGrp="1"/>
          </p:cNvSpPr>
          <p:nvPr/>
        </p:nvSpPr>
        <p:spPr>
          <a:xfrm xmlns:a="http://schemas.openxmlformats.org/drawingml/2006/main">
            <a:off x="8382000" y="250507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Cliente HTTP</a:t>
            </a:r>
          </a:p>
        </p:txBody>
      </p:sp>
      <p:cxnSp>
        <p:nvCxnSpPr>
          <p:cNvPr id="33" name=""/>
          <p:cNvCxnSpPr>
            <a:stCxn xmlns:a="http://schemas.openxmlformats.org/drawingml/2006/main" id="6" idx="2"/>
            <a:endCxn xmlns:a="http://schemas.openxmlformats.org/drawingml/2006/main" id="8" idx="0"/>
          </p:cNvCxnSpPr>
          <p:nvPr/>
        </p:nvCxnSpPr>
        <p:spPr>
          <a:xfrm xmlns:a="http://schemas.openxmlformats.org/drawingml/2006/main">
            <a:off x="9786938" y="2143125"/>
            <a:ext cx="0" cy="36195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0" name="">
            <a:extLst xmlns:a="http://schemas.openxmlformats.org/drawingml/2006/main">
              <a:ext uri="{FF2B5EF4-FFF2-40B4-BE49-F238E27FC236}">
                <a16:creationId xmlns:a16="http://schemas.microsoft.com/office/drawing/2014/main" id="{E9B9C506-F816-4B57-810A-9D5514B43B5E}"/>
              </a:ext>
            </a:extLst>
          </p:cNvPr>
          <p:cNvSpPr>
            <a:spLocks xmlns:a="http://schemas.openxmlformats.org/drawingml/2006/main" noGrp="1"/>
          </p:cNvSpPr>
          <p:nvPr/>
        </p:nvSpPr>
        <p:spPr>
          <a:xfrm xmlns:a="http://schemas.openxmlformats.org/drawingml/2006/main">
            <a:off x="4714875" y="250507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Endpoint API</a:t>
            </a:r>
          </a:p>
        </p:txBody>
      </p:sp>
      <p:cxnSp>
        <p:nvCxnSpPr>
          <p:cNvPr id="35" name=""/>
          <p:cNvCxnSpPr>
            <a:stCxn xmlns:a="http://schemas.openxmlformats.org/drawingml/2006/main" id="8" idx="1"/>
            <a:endCxn xmlns:a="http://schemas.openxmlformats.org/drawingml/2006/main" id="10" idx="3"/>
          </p:cNvCxnSpPr>
          <p:nvPr/>
        </p:nvCxnSpPr>
        <p:spPr>
          <a:xfrm xmlns:a="http://schemas.openxmlformats.org/drawingml/2006/main" flipH="1">
            <a:off x="7524750" y="284797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2" name="">
            <a:extLst xmlns:a="http://schemas.openxmlformats.org/drawingml/2006/main">
              <a:ext uri="{FF2B5EF4-FFF2-40B4-BE49-F238E27FC236}">
                <a16:creationId xmlns:a16="http://schemas.microsoft.com/office/drawing/2014/main" id="{26C52205-C27D-4940-8099-75147882B5F3}"/>
              </a:ext>
            </a:extLst>
          </p:cNvPr>
          <p:cNvSpPr>
            <a:spLocks xmlns:a="http://schemas.openxmlformats.org/drawingml/2006/main" noGrp="1"/>
          </p:cNvSpPr>
          <p:nvPr/>
        </p:nvSpPr>
        <p:spPr>
          <a:xfrm xmlns:a="http://schemas.openxmlformats.org/drawingml/2006/main">
            <a:off x="1047750" y="250507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Lógica</a:t>
            </a:r>
          </a:p>
        </p:txBody>
      </p:sp>
      <p:cxnSp>
        <p:nvCxnSpPr>
          <p:cNvPr id="37" name=""/>
          <p:cNvCxnSpPr>
            <a:stCxn xmlns:a="http://schemas.openxmlformats.org/drawingml/2006/main" id="10" idx="1"/>
            <a:endCxn xmlns:a="http://schemas.openxmlformats.org/drawingml/2006/main" id="12" idx="3"/>
          </p:cNvCxnSpPr>
          <p:nvPr/>
        </p:nvCxnSpPr>
        <p:spPr>
          <a:xfrm xmlns:a="http://schemas.openxmlformats.org/drawingml/2006/main" flipH="1">
            <a:off x="3857625" y="284797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4" name="">
            <a:extLst xmlns:a="http://schemas.openxmlformats.org/drawingml/2006/main">
              <a:ext uri="{FF2B5EF4-FFF2-40B4-BE49-F238E27FC236}">
                <a16:creationId xmlns:a16="http://schemas.microsoft.com/office/drawing/2014/main" id="{7CCECA33-F7E2-4452-897A-394E9CC5C657}"/>
              </a:ext>
            </a:extLst>
          </p:cNvPr>
          <p:cNvSpPr>
            <a:spLocks xmlns:a="http://schemas.openxmlformats.org/drawingml/2006/main" noGrp="1"/>
          </p:cNvSpPr>
          <p:nvPr/>
        </p:nvSpPr>
        <p:spPr>
          <a:xfrm xmlns:a="http://schemas.openxmlformats.org/drawingml/2006/main">
            <a:off x="1047750" y="355282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Persistencia</a:t>
            </a:r>
          </a:p>
        </p:txBody>
      </p:sp>
      <p:cxnSp>
        <p:nvCxnSpPr>
          <p:cNvPr id="39" name=""/>
          <p:cNvCxnSpPr>
            <a:stCxn xmlns:a="http://schemas.openxmlformats.org/drawingml/2006/main" id="12" idx="2"/>
            <a:endCxn xmlns:a="http://schemas.openxmlformats.org/drawingml/2006/main" id="14" idx="0"/>
          </p:cNvCxnSpPr>
          <p:nvPr/>
        </p:nvCxnSpPr>
        <p:spPr>
          <a:xfrm xmlns:a="http://schemas.openxmlformats.org/drawingml/2006/main">
            <a:off x="2452688" y="3190875"/>
            <a:ext cx="0" cy="36195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6" name="">
            <a:extLst xmlns:a="http://schemas.openxmlformats.org/drawingml/2006/main">
              <a:ext uri="{FF2B5EF4-FFF2-40B4-BE49-F238E27FC236}">
                <a16:creationId xmlns:a16="http://schemas.microsoft.com/office/drawing/2014/main" id="{6D59E2AC-919A-43BC-B1B2-13FE84783C68}"/>
              </a:ext>
            </a:extLst>
          </p:cNvPr>
          <p:cNvSpPr>
            <a:spLocks xmlns:a="http://schemas.openxmlformats.org/drawingml/2006/main" noGrp="1"/>
          </p:cNvSpPr>
          <p:nvPr/>
        </p:nvSpPr>
        <p:spPr>
          <a:xfrm xmlns:a="http://schemas.openxmlformats.org/drawingml/2006/main">
            <a:off x="4714875" y="355282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SQL Server</a:t>
            </a:r>
          </a:p>
        </p:txBody>
      </p:sp>
      <p:cxnSp>
        <p:nvCxnSpPr>
          <p:cNvPr id="41" name=""/>
          <p:cNvCxnSpPr>
            <a:stCxn xmlns:a="http://schemas.openxmlformats.org/drawingml/2006/main" id="14" idx="3"/>
            <a:endCxn xmlns:a="http://schemas.openxmlformats.org/drawingml/2006/main" id="16" idx="1"/>
          </p:cNvCxnSpPr>
          <p:nvPr/>
        </p:nvCxnSpPr>
        <p:spPr>
          <a:xfrm xmlns:a="http://schemas.openxmlformats.org/drawingml/2006/main">
            <a:off x="3857625" y="389572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8" name="">
            <a:extLst xmlns:a="http://schemas.openxmlformats.org/drawingml/2006/main">
              <a:ext uri="{FF2B5EF4-FFF2-40B4-BE49-F238E27FC236}">
                <a16:creationId xmlns:a16="http://schemas.microsoft.com/office/drawing/2014/main" id="{78221775-0A7E-4805-9ECB-2EA42DD6A813}"/>
              </a:ext>
            </a:extLst>
          </p:cNvPr>
          <p:cNvSpPr>
            <a:spLocks xmlns:a="http://schemas.openxmlformats.org/drawingml/2006/main" noGrp="1"/>
          </p:cNvSpPr>
          <p:nvPr/>
        </p:nvSpPr>
        <p:spPr>
          <a:xfrm xmlns:a="http://schemas.openxmlformats.org/drawingml/2006/main">
            <a:off x="8382000" y="355282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Respuesta JSON</a:t>
            </a:r>
          </a:p>
        </p:txBody>
      </p:sp>
      <p:cxnSp>
        <p:nvCxnSpPr>
          <p:cNvPr id="43" name=""/>
          <p:cNvCxnSpPr>
            <a:stCxn xmlns:a="http://schemas.openxmlformats.org/drawingml/2006/main" id="16" idx="3"/>
            <a:endCxn xmlns:a="http://schemas.openxmlformats.org/drawingml/2006/main" id="18" idx="1"/>
          </p:cNvCxnSpPr>
          <p:nvPr/>
        </p:nvCxnSpPr>
        <p:spPr>
          <a:xfrm xmlns:a="http://schemas.openxmlformats.org/drawingml/2006/main">
            <a:off x="7524750" y="389572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20" name="">
            <a:extLst xmlns:a="http://schemas.openxmlformats.org/drawingml/2006/main">
              <a:ext uri="{FF2B5EF4-FFF2-40B4-BE49-F238E27FC236}">
                <a16:creationId xmlns:a16="http://schemas.microsoft.com/office/drawing/2014/main" id="{AAD687FE-8281-4757-BB9C-0720FA054434}"/>
              </a:ext>
            </a:extLst>
          </p:cNvPr>
          <p:cNvSpPr>
            <a:spLocks xmlns:a="http://schemas.openxmlformats.org/drawingml/2006/main" noGrp="1"/>
          </p:cNvSpPr>
          <p:nvPr/>
        </p:nvSpPr>
        <p:spPr>
          <a:xfrm xmlns:a="http://schemas.openxmlformats.org/drawingml/2006/main">
            <a:off x="8382000" y="460057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Modelo de pantalla</a:t>
            </a:r>
          </a:p>
        </p:txBody>
      </p:sp>
      <p:cxnSp>
        <p:nvCxnSpPr>
          <p:cNvPr id="45" name=""/>
          <p:cNvCxnSpPr>
            <a:stCxn xmlns:a="http://schemas.openxmlformats.org/drawingml/2006/main" id="18" idx="2"/>
            <a:endCxn xmlns:a="http://schemas.openxmlformats.org/drawingml/2006/main" id="20" idx="0"/>
          </p:cNvCxnSpPr>
          <p:nvPr/>
        </p:nvCxnSpPr>
        <p:spPr>
          <a:xfrm xmlns:a="http://schemas.openxmlformats.org/drawingml/2006/main">
            <a:off x="9786938" y="4238625"/>
            <a:ext cx="0" cy="36195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22" name="">
            <a:extLst xmlns:a="http://schemas.openxmlformats.org/drawingml/2006/main">
              <a:ext uri="{FF2B5EF4-FFF2-40B4-BE49-F238E27FC236}">
                <a16:creationId xmlns:a16="http://schemas.microsoft.com/office/drawing/2014/main" id="{5F21FF5F-C178-47AC-BA87-E2A653789D08}"/>
              </a:ext>
            </a:extLst>
          </p:cNvPr>
          <p:cNvSpPr>
            <a:spLocks xmlns:a="http://schemas.openxmlformats.org/drawingml/2006/main" noGrp="1"/>
          </p:cNvSpPr>
          <p:nvPr/>
        </p:nvSpPr>
        <p:spPr>
          <a:xfrm xmlns:a="http://schemas.openxmlformats.org/drawingml/2006/main">
            <a:off x="4714875" y="4600575"/>
            <a:ext cx="2809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Vista o redirección</a:t>
            </a:r>
          </a:p>
        </p:txBody>
      </p:sp>
      <p:cxnSp>
        <p:nvCxnSpPr>
          <p:cNvPr id="47" name=""/>
          <p:cNvCxnSpPr>
            <a:stCxn xmlns:a="http://schemas.openxmlformats.org/drawingml/2006/main" id="20" idx="1"/>
            <a:endCxn xmlns:a="http://schemas.openxmlformats.org/drawingml/2006/main" id="22" idx="3"/>
          </p:cNvCxnSpPr>
          <p:nvPr/>
        </p:nvCxnSpPr>
        <p:spPr>
          <a:xfrm xmlns:a="http://schemas.openxmlformats.org/drawingml/2006/main" flipH="1">
            <a:off x="7524750" y="4943475"/>
            <a:ext cx="857250"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24" name="">
            <a:extLst xmlns:a="http://schemas.openxmlformats.org/drawingml/2006/main">
              <a:ext uri="{FF2B5EF4-FFF2-40B4-BE49-F238E27FC236}">
                <a16:creationId xmlns:a16="http://schemas.microsoft.com/office/drawing/2014/main" id="{6B23DECF-387A-4F9C-9887-A16ADB5DBCF5}"/>
              </a:ext>
            </a:extLst>
          </p:cNvPr>
          <p:cNvSpPr>
            <a:spLocks xmlns:a="http://schemas.openxmlformats.org/drawingml/2006/main" noGrp="1"/>
          </p:cNvSpPr>
          <p:nvPr/>
        </p:nvSpPr>
        <p:spPr>
          <a:xfrm xmlns:a="http://schemas.openxmlformats.org/drawingml/2006/main">
            <a:off x="609600" y="5762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46772"/>
                </a:solidFill>
                <a:latin typeface="Arial"/>
                <a:ea typeface="Arial"/>
                <a:cs typeface="Arial"/>
              </a:defRPr>
            </a:pPr>
            <a:r>
              <a:rPr sz="1725" b="0">
                <a:solidFill>
                  <a:srgbClr val="546772"/>
                </a:solidFill>
                <a:latin typeface="Arial"/>
                <a:ea typeface="Arial"/>
                <a:cs typeface="Arial"/>
              </a:rPr>
              <a:t>Registro y login: IHttpClientFactory. Carrito activo: ciertos accesos directos a DbContext.</a:t>
            </a:r>
          </a:p>
        </p:txBody>
      </p:sp>
    </p:spTree>
    <p:extLst>
      <p:ext uri="{BB962C8B-B14F-4D97-AF65-F5344CB8AC3E}">
        <p14:creationId xmlns:p14="http://schemas.microsoft.com/office/powerpoint/2010/main" val="6285599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E04FB7-FAAC-4445-A589-65FE643BDD2E}"/>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CU01 · Registro de clientes</a:t>
            </a:r>
          </a:p>
        </p:txBody>
      </p:sp>
      <p:sp>
        <p:nvSpPr>
          <p:cNvPr id="2" name="">
            <a:extLst xmlns:a="http://schemas.openxmlformats.org/drawingml/2006/main">
              <a:ext uri="{FF2B5EF4-FFF2-40B4-BE49-F238E27FC236}">
                <a16:creationId xmlns:a16="http://schemas.microsoft.com/office/drawing/2014/main" id="{323C0EAE-F91B-451E-B42D-C1FB7A69832F}"/>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08 / 14     Daiana     6:30–8:00     1:30</a:t>
            </a:r>
          </a:p>
        </p:txBody>
      </p:sp>
      <p:sp>
        <p:nvSpPr>
          <p:cNvPr id="3" name="">
            <a:extLst xmlns:a="http://schemas.openxmlformats.org/drawingml/2006/main">
              <a:ext uri="{FF2B5EF4-FFF2-40B4-BE49-F238E27FC236}">
                <a16:creationId xmlns:a16="http://schemas.microsoft.com/office/drawing/2014/main" id="{8D0FA462-E125-4EF0-BA32-18933D8F39BB}"/>
              </a:ext>
            </a:extLst>
          </p:cNvPr>
          <p:cNvSpPr>
            <a:spLocks xmlns:a="http://schemas.openxmlformats.org/drawingml/2006/main" noGrp="1"/>
          </p:cNvSpPr>
          <p:nvPr/>
        </p:nvSpPr>
        <p:spPr>
          <a:xfrm xmlns:a="http://schemas.openxmlformats.org/drawingml/2006/main">
            <a:off x="609600" y="1266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Arial"/>
                <a:ea typeface="Arial"/>
                <a:cs typeface="Arial"/>
              </a:defRPr>
            </a:pPr>
            <a:r>
              <a:rPr sz="1950" b="1">
                <a:solidFill>
                  <a:srgbClr val="007F86"/>
                </a:solidFill>
                <a:latin typeface="Arial"/>
                <a:ea typeface="Arial"/>
                <a:cs typeface="Arial"/>
              </a:rPr>
              <a:t>RF01 · POST /auth/registro</a:t>
            </a:r>
          </a:p>
        </p:txBody>
      </p:sp>
      <p:sp>
        <p:nvSpPr>
          <p:cNvPr id="4" name="">
            <a:extLst xmlns:a="http://schemas.openxmlformats.org/drawingml/2006/main">
              <a:ext uri="{FF2B5EF4-FFF2-40B4-BE49-F238E27FC236}">
                <a16:creationId xmlns:a16="http://schemas.microsoft.com/office/drawing/2014/main" id="{FE852655-6772-4DC4-BCDC-578AC3AB688C}"/>
              </a:ext>
            </a:extLst>
          </p:cNvPr>
          <p:cNvSpPr>
            <a:spLocks xmlns:a="http://schemas.openxmlformats.org/drawingml/2006/main" noGrp="1"/>
          </p:cNvSpPr>
          <p:nvPr/>
        </p:nvSpPr>
        <p:spPr>
          <a:xfrm xmlns:a="http://schemas.openxmlformats.org/drawingml/2006/main">
            <a:off x="609600" y="18859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638"/>
                </a:solidFill>
                <a:latin typeface="Arial"/>
                <a:ea typeface="Arial"/>
                <a:cs typeface="Arial"/>
              </a:defRPr>
            </a:pPr>
            <a:r>
              <a:rPr sz="1875" b="1">
                <a:solidFill>
                  <a:srgbClr val="102638"/>
                </a:solidFill>
                <a:latin typeface="Arial"/>
                <a:ea typeface="Arial"/>
                <a:cs typeface="Arial"/>
              </a:rPr>
              <a:t>HomeController.Register</a:t>
            </a:r>
          </a:p>
        </p:txBody>
      </p:sp>
      <p:sp>
        <p:nvSpPr>
          <p:cNvPr id="5" name="">
            <a:extLst xmlns:a="http://schemas.openxmlformats.org/drawingml/2006/main">
              <a:ext uri="{FF2B5EF4-FFF2-40B4-BE49-F238E27FC236}">
                <a16:creationId xmlns:a16="http://schemas.microsoft.com/office/drawing/2014/main" id="{87502A1E-CD30-4CC8-8BBC-3688BCE3F83D}"/>
              </a:ext>
            </a:extLst>
          </p:cNvPr>
          <p:cNvSpPr>
            <a:spLocks xmlns:a="http://schemas.openxmlformats.org/drawingml/2006/main" noGrp="1"/>
          </p:cNvSpPr>
          <p:nvPr/>
        </p:nvSpPr>
        <p:spPr>
          <a:xfrm xmlns:a="http://schemas.openxmlformats.org/drawingml/2006/main">
            <a:off x="609600" y="259080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var client = _httpClientFactory</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.CreateClient("TotaltechApi");</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var response = await client</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.PostAsJsonAsync("auth/registro", …);</a:t>
            </a:r>
          </a:p>
        </p:txBody>
      </p:sp>
      <p:sp>
        <p:nvSpPr>
          <p:cNvPr id="6" name="">
            <a:extLst xmlns:a="http://schemas.openxmlformats.org/drawingml/2006/main">
              <a:ext uri="{FF2B5EF4-FFF2-40B4-BE49-F238E27FC236}">
                <a16:creationId xmlns:a16="http://schemas.microsoft.com/office/drawing/2014/main" id="{21AA61FC-3511-48C3-9A3A-8ED1CAD2087E}"/>
              </a:ext>
            </a:extLst>
          </p:cNvPr>
          <p:cNvSpPr>
            <a:spLocks xmlns:a="http://schemas.openxmlformats.org/drawingml/2006/main" noGrp="1"/>
          </p:cNvSpPr>
          <p:nvPr/>
        </p:nvSpPr>
        <p:spPr>
          <a:xfrm xmlns:a="http://schemas.openxmlformats.org/drawingml/2006/main">
            <a:off x="7239000" y="259080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201: cuenta creada y redirección a login.</a:t>
            </a:r>
          </a:p>
        </p:txBody>
      </p:sp>
      <p:sp>
        <p:nvSpPr>
          <p:cNvPr id="7" name="">
            <a:extLst xmlns:a="http://schemas.openxmlformats.org/drawingml/2006/main">
              <a:ext uri="{FF2B5EF4-FFF2-40B4-BE49-F238E27FC236}">
                <a16:creationId xmlns:a16="http://schemas.microsoft.com/office/drawing/2014/main" id="{C53EE768-0C77-433B-B348-CAE7A6420EA0}"/>
              </a:ext>
            </a:extLst>
          </p:cNvPr>
          <p:cNvSpPr>
            <a:spLocks xmlns:a="http://schemas.openxmlformats.org/drawingml/2006/main" noGrp="1"/>
          </p:cNvSpPr>
          <p:nvPr/>
        </p:nvSpPr>
        <p:spPr>
          <a:xfrm xmlns:a="http://schemas.openxmlformats.org/drawingml/2006/main">
            <a:off x="7239000" y="3476625"/>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409: email ya registrado.</a:t>
            </a:r>
          </a:p>
        </p:txBody>
      </p:sp>
      <p:sp>
        <p:nvSpPr>
          <p:cNvPr id="8" name="">
            <a:extLst xmlns:a="http://schemas.openxmlformats.org/drawingml/2006/main">
              <a:ext uri="{FF2B5EF4-FFF2-40B4-BE49-F238E27FC236}">
                <a16:creationId xmlns:a16="http://schemas.microsoft.com/office/drawing/2014/main" id="{A367667A-C8F3-4304-89D1-7083D4B5B70C}"/>
              </a:ext>
            </a:extLst>
          </p:cNvPr>
          <p:cNvSpPr>
            <a:spLocks xmlns:a="http://schemas.openxmlformats.org/drawingml/2006/main" noGrp="1"/>
          </p:cNvSpPr>
          <p:nvPr/>
        </p:nvSpPr>
        <p:spPr>
          <a:xfrm xmlns:a="http://schemas.openxmlformats.org/drawingml/2006/main">
            <a:off x="7239000" y="436245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La API fuerza el rol Cliente y guarda un hash.</a:t>
            </a:r>
          </a:p>
        </p:txBody>
      </p:sp>
      <p:sp>
        <p:nvSpPr>
          <p:cNvPr id="9" name="">
            <a:extLst xmlns:a="http://schemas.openxmlformats.org/drawingml/2006/main">
              <a:ext uri="{FF2B5EF4-FFF2-40B4-BE49-F238E27FC236}">
                <a16:creationId xmlns:a16="http://schemas.microsoft.com/office/drawing/2014/main" id="{65B43A9B-1A05-4730-A27D-66D32D2AB4C3}"/>
              </a:ext>
            </a:extLst>
          </p:cNvPr>
          <p:cNvSpPr>
            <a:spLocks xmlns:a="http://schemas.openxmlformats.org/drawingml/2006/main" noGrp="1"/>
          </p:cNvSpPr>
          <p:nvPr/>
        </p:nvSpPr>
        <p:spPr>
          <a:xfrm xmlns:a="http://schemas.openxmlformats.org/drawingml/2006/main">
            <a:off x="60960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Razor y MVC</a:t>
            </a:r>
          </a:p>
        </p:txBody>
      </p:sp>
      <p:sp>
        <p:nvSpPr>
          <p:cNvPr id="10" name="">
            <a:extLst xmlns:a="http://schemas.openxmlformats.org/drawingml/2006/main">
              <a:ext uri="{FF2B5EF4-FFF2-40B4-BE49-F238E27FC236}">
                <a16:creationId xmlns:a16="http://schemas.microsoft.com/office/drawing/2014/main" id="{9D5FD0FE-AA5D-4DCB-8917-D2F61C387DBB}"/>
              </a:ext>
            </a:extLst>
          </p:cNvPr>
          <p:cNvSpPr>
            <a:spLocks xmlns:a="http://schemas.openxmlformats.org/drawingml/2006/main" noGrp="1"/>
          </p:cNvSpPr>
          <p:nvPr/>
        </p:nvSpPr>
        <p:spPr>
          <a:xfrm xmlns:a="http://schemas.openxmlformats.org/drawingml/2006/main">
            <a:off x="337185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POST /auth/registro</a:t>
            </a:r>
          </a:p>
        </p:txBody>
      </p:sp>
      <p:cxnSp>
        <p:nvCxnSpPr>
          <p:cNvPr id="26" name=""/>
          <p:cNvCxnSpPr>
            <a:stCxn xmlns:a="http://schemas.openxmlformats.org/drawingml/2006/main" id="9" idx="3"/>
            <a:endCxn xmlns:a="http://schemas.openxmlformats.org/drawingml/2006/main" id="10" idx="1"/>
          </p:cNvCxnSpPr>
          <p:nvPr/>
        </p:nvCxnSpPr>
        <p:spPr>
          <a:xfrm xmlns:a="http://schemas.openxmlformats.org/drawingml/2006/main">
            <a:off x="303847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2" name="">
            <a:extLst xmlns:a="http://schemas.openxmlformats.org/drawingml/2006/main">
              <a:ext uri="{FF2B5EF4-FFF2-40B4-BE49-F238E27FC236}">
                <a16:creationId xmlns:a16="http://schemas.microsoft.com/office/drawing/2014/main" id="{B05F257E-35C6-4B6F-8814-879C7B3E5E02}"/>
              </a:ext>
            </a:extLst>
          </p:cNvPr>
          <p:cNvSpPr>
            <a:spLocks xmlns:a="http://schemas.openxmlformats.org/drawingml/2006/main" noGrp="1"/>
          </p:cNvSpPr>
          <p:nvPr/>
        </p:nvSpPr>
        <p:spPr>
          <a:xfrm xmlns:a="http://schemas.openxmlformats.org/drawingml/2006/main">
            <a:off x="613410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Hash y SQL</a:t>
            </a:r>
          </a:p>
        </p:txBody>
      </p:sp>
      <p:cxnSp>
        <p:nvCxnSpPr>
          <p:cNvPr id="28" name=""/>
          <p:cNvCxnSpPr>
            <a:stCxn xmlns:a="http://schemas.openxmlformats.org/drawingml/2006/main" id="10" idx="3"/>
            <a:endCxn xmlns:a="http://schemas.openxmlformats.org/drawingml/2006/main" id="12" idx="1"/>
          </p:cNvCxnSpPr>
          <p:nvPr/>
        </p:nvCxnSpPr>
        <p:spPr>
          <a:xfrm xmlns:a="http://schemas.openxmlformats.org/drawingml/2006/main">
            <a:off x="580072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4" name="">
            <a:extLst xmlns:a="http://schemas.openxmlformats.org/drawingml/2006/main">
              <a:ext uri="{FF2B5EF4-FFF2-40B4-BE49-F238E27FC236}">
                <a16:creationId xmlns:a16="http://schemas.microsoft.com/office/drawing/2014/main" id="{71DE746A-B4D7-4492-8D88-6F20550225BC}"/>
              </a:ext>
            </a:extLst>
          </p:cNvPr>
          <p:cNvSpPr>
            <a:spLocks xmlns:a="http://schemas.openxmlformats.org/drawingml/2006/main" noGrp="1"/>
          </p:cNvSpPr>
          <p:nvPr/>
        </p:nvSpPr>
        <p:spPr>
          <a:xfrm xmlns:a="http://schemas.openxmlformats.org/drawingml/2006/main">
            <a:off x="889635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201 y login</a:t>
            </a:r>
          </a:p>
        </p:txBody>
      </p:sp>
      <p:cxnSp>
        <p:nvCxnSpPr>
          <p:cNvPr id="30" name=""/>
          <p:cNvCxnSpPr>
            <a:stCxn xmlns:a="http://schemas.openxmlformats.org/drawingml/2006/main" id="12" idx="3"/>
            <a:endCxn xmlns:a="http://schemas.openxmlformats.org/drawingml/2006/main" id="14" idx="1"/>
          </p:cNvCxnSpPr>
          <p:nvPr/>
        </p:nvCxnSpPr>
        <p:spPr>
          <a:xfrm xmlns:a="http://schemas.openxmlformats.org/drawingml/2006/main">
            <a:off x="856297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Tree>
    <p:extLst>
      <p:ext uri="{BB962C8B-B14F-4D97-AF65-F5344CB8AC3E}">
        <p14:creationId xmlns:p14="http://schemas.microsoft.com/office/powerpoint/2010/main" val="12656322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BD40330-ECDE-4CE4-9E7C-6868F948FB6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CU02 · Login, cookie y JWT</a:t>
            </a:r>
          </a:p>
        </p:txBody>
      </p:sp>
      <p:sp>
        <p:nvSpPr>
          <p:cNvPr id="2" name="">
            <a:extLst xmlns:a="http://schemas.openxmlformats.org/drawingml/2006/main">
              <a:ext uri="{FF2B5EF4-FFF2-40B4-BE49-F238E27FC236}">
                <a16:creationId xmlns:a16="http://schemas.microsoft.com/office/drawing/2014/main" id="{DCFEC8EE-7BCF-4CBA-951A-AEC978A5A835}"/>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09 / 14     Facundo     8:00–9:30     1:30</a:t>
            </a:r>
          </a:p>
        </p:txBody>
      </p:sp>
      <p:sp>
        <p:nvSpPr>
          <p:cNvPr id="3" name="">
            <a:extLst xmlns:a="http://schemas.openxmlformats.org/drawingml/2006/main">
              <a:ext uri="{FF2B5EF4-FFF2-40B4-BE49-F238E27FC236}">
                <a16:creationId xmlns:a16="http://schemas.microsoft.com/office/drawing/2014/main" id="{DF544C27-D49F-48CB-AAA0-6DC477D5EB68}"/>
              </a:ext>
            </a:extLst>
          </p:cNvPr>
          <p:cNvSpPr>
            <a:spLocks xmlns:a="http://schemas.openxmlformats.org/drawingml/2006/main" noGrp="1"/>
          </p:cNvSpPr>
          <p:nvPr/>
        </p:nvSpPr>
        <p:spPr>
          <a:xfrm xmlns:a="http://schemas.openxmlformats.org/drawingml/2006/main">
            <a:off x="609600" y="1266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Arial"/>
                <a:ea typeface="Arial"/>
                <a:cs typeface="Arial"/>
              </a:defRPr>
            </a:pPr>
            <a:r>
              <a:rPr sz="1950" b="1">
                <a:solidFill>
                  <a:srgbClr val="007F86"/>
                </a:solidFill>
                <a:latin typeface="Arial"/>
                <a:ea typeface="Arial"/>
                <a:cs typeface="Arial"/>
              </a:rPr>
              <a:t>RF02 · POST /auth/login</a:t>
            </a:r>
          </a:p>
        </p:txBody>
      </p:sp>
      <p:sp>
        <p:nvSpPr>
          <p:cNvPr id="4" name="">
            <a:extLst xmlns:a="http://schemas.openxmlformats.org/drawingml/2006/main">
              <a:ext uri="{FF2B5EF4-FFF2-40B4-BE49-F238E27FC236}">
                <a16:creationId xmlns:a16="http://schemas.microsoft.com/office/drawing/2014/main" id="{9320DC7F-6848-465D-83D3-7C4FB7C23F53}"/>
              </a:ext>
            </a:extLst>
          </p:cNvPr>
          <p:cNvSpPr>
            <a:spLocks xmlns:a="http://schemas.openxmlformats.org/drawingml/2006/main" noGrp="1"/>
          </p:cNvSpPr>
          <p:nvPr/>
        </p:nvSpPr>
        <p:spPr>
          <a:xfrm xmlns:a="http://schemas.openxmlformats.org/drawingml/2006/main">
            <a:off x="609600" y="18859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638"/>
                </a:solidFill>
                <a:latin typeface="Arial"/>
                <a:ea typeface="Arial"/>
                <a:cs typeface="Arial"/>
              </a:defRPr>
            </a:pPr>
            <a:r>
              <a:rPr sz="1875" b="1">
                <a:solidFill>
                  <a:srgbClr val="102638"/>
                </a:solidFill>
                <a:latin typeface="Arial"/>
                <a:ea typeface="Arial"/>
                <a:cs typeface="Arial"/>
              </a:rPr>
              <a:t>HomeController.Login</a:t>
            </a:r>
          </a:p>
        </p:txBody>
      </p:sp>
      <p:sp>
        <p:nvSpPr>
          <p:cNvPr id="5" name="">
            <a:extLst xmlns:a="http://schemas.openxmlformats.org/drawingml/2006/main">
              <a:ext uri="{FF2B5EF4-FFF2-40B4-BE49-F238E27FC236}">
                <a16:creationId xmlns:a16="http://schemas.microsoft.com/office/drawing/2014/main" id="{2BB6FC37-279D-488F-9E05-AD83441C0364}"/>
              </a:ext>
            </a:extLst>
          </p:cNvPr>
          <p:cNvSpPr>
            <a:spLocks xmlns:a="http://schemas.openxmlformats.org/drawingml/2006/main" noGrp="1"/>
          </p:cNvSpPr>
          <p:nvPr/>
        </p:nvSpPr>
        <p:spPr>
          <a:xfrm xmlns:a="http://schemas.openxmlformats.org/drawingml/2006/main">
            <a:off x="609600" y="259080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propiedades.StoreTokens(</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[new AuthenticationToken {</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Name = "access_token",</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Value = usuario.AccessToken</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a:t>
            </a:r>
          </a:p>
        </p:txBody>
      </p:sp>
      <p:sp>
        <p:nvSpPr>
          <p:cNvPr id="6" name="">
            <a:extLst xmlns:a="http://schemas.openxmlformats.org/drawingml/2006/main">
              <a:ext uri="{FF2B5EF4-FFF2-40B4-BE49-F238E27FC236}">
                <a16:creationId xmlns:a16="http://schemas.microsoft.com/office/drawing/2014/main" id="{9F10EFF4-4508-41E5-90A7-CE32559D4B80}"/>
              </a:ext>
            </a:extLst>
          </p:cNvPr>
          <p:cNvSpPr>
            <a:spLocks xmlns:a="http://schemas.openxmlformats.org/drawingml/2006/main" noGrp="1"/>
          </p:cNvSpPr>
          <p:nvPr/>
        </p:nvSpPr>
        <p:spPr>
          <a:xfrm xmlns:a="http://schemas.openxmlformats.org/drawingml/2006/main">
            <a:off x="7239000" y="259080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La API valida el hash y emite un JWT.</a:t>
            </a:r>
          </a:p>
        </p:txBody>
      </p:sp>
      <p:sp>
        <p:nvSpPr>
          <p:cNvPr id="7" name="">
            <a:extLst xmlns:a="http://schemas.openxmlformats.org/drawingml/2006/main">
              <a:ext uri="{FF2B5EF4-FFF2-40B4-BE49-F238E27FC236}">
                <a16:creationId xmlns:a16="http://schemas.microsoft.com/office/drawing/2014/main" id="{B71F9163-F093-40A5-8035-06563B309FB8}"/>
              </a:ext>
            </a:extLst>
          </p:cNvPr>
          <p:cNvSpPr>
            <a:spLocks xmlns:a="http://schemas.openxmlformats.org/drawingml/2006/main" noGrp="1"/>
          </p:cNvSpPr>
          <p:nvPr/>
        </p:nvSpPr>
        <p:spPr>
          <a:xfrm xmlns:a="http://schemas.openxmlformats.org/drawingml/2006/main">
            <a:off x="7239000" y="3476625"/>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MVC crea la cookie Totaltech.Auth.</a:t>
            </a:r>
          </a:p>
        </p:txBody>
      </p:sp>
      <p:sp>
        <p:nvSpPr>
          <p:cNvPr id="8" name="">
            <a:extLst xmlns:a="http://schemas.openxmlformats.org/drawingml/2006/main">
              <a:ext uri="{FF2B5EF4-FFF2-40B4-BE49-F238E27FC236}">
                <a16:creationId xmlns:a16="http://schemas.microsoft.com/office/drawing/2014/main" id="{D099D06A-8207-4A93-89EC-949CB15EDE23}"/>
              </a:ext>
            </a:extLst>
          </p:cNvPr>
          <p:cNvSpPr>
            <a:spLocks xmlns:a="http://schemas.openxmlformats.org/drawingml/2006/main" noGrp="1"/>
          </p:cNvSpPr>
          <p:nvPr/>
        </p:nvSpPr>
        <p:spPr>
          <a:xfrm xmlns:a="http://schemas.openxmlformats.org/drawingml/2006/main">
            <a:off x="7239000" y="436245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ApiBearerTokenHandler adjunta el token a la API.</a:t>
            </a:r>
          </a:p>
        </p:txBody>
      </p:sp>
      <p:sp>
        <p:nvSpPr>
          <p:cNvPr id="9" name="">
            <a:extLst xmlns:a="http://schemas.openxmlformats.org/drawingml/2006/main">
              <a:ext uri="{FF2B5EF4-FFF2-40B4-BE49-F238E27FC236}">
                <a16:creationId xmlns:a16="http://schemas.microsoft.com/office/drawing/2014/main" id="{6BCB8E76-C04F-4BA1-B606-1403DDB6B4F8}"/>
              </a:ext>
            </a:extLst>
          </p:cNvPr>
          <p:cNvSpPr>
            <a:spLocks xmlns:a="http://schemas.openxmlformats.org/drawingml/2006/main" noGrp="1"/>
          </p:cNvSpPr>
          <p:nvPr/>
        </p:nvSpPr>
        <p:spPr>
          <a:xfrm xmlns:a="http://schemas.openxmlformats.org/drawingml/2006/main">
            <a:off x="60960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Credenciales</a:t>
            </a:r>
          </a:p>
        </p:txBody>
      </p:sp>
      <p:sp>
        <p:nvSpPr>
          <p:cNvPr id="10" name="">
            <a:extLst xmlns:a="http://schemas.openxmlformats.org/drawingml/2006/main">
              <a:ext uri="{FF2B5EF4-FFF2-40B4-BE49-F238E27FC236}">
                <a16:creationId xmlns:a16="http://schemas.microsoft.com/office/drawing/2014/main" id="{B7EA6C97-5340-416C-981A-0BC2605E64BA}"/>
              </a:ext>
            </a:extLst>
          </p:cNvPr>
          <p:cNvSpPr>
            <a:spLocks xmlns:a="http://schemas.openxmlformats.org/drawingml/2006/main" noGrp="1"/>
          </p:cNvSpPr>
          <p:nvPr/>
        </p:nvSpPr>
        <p:spPr>
          <a:xfrm xmlns:a="http://schemas.openxmlformats.org/drawingml/2006/main">
            <a:off x="337185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Hash y JWT</a:t>
            </a:r>
          </a:p>
        </p:txBody>
      </p:sp>
      <p:cxnSp>
        <p:nvCxnSpPr>
          <p:cNvPr id="26" name=""/>
          <p:cNvCxnSpPr>
            <a:stCxn xmlns:a="http://schemas.openxmlformats.org/drawingml/2006/main" id="9" idx="3"/>
            <a:endCxn xmlns:a="http://schemas.openxmlformats.org/drawingml/2006/main" id="10" idx="1"/>
          </p:cNvCxnSpPr>
          <p:nvPr/>
        </p:nvCxnSpPr>
        <p:spPr>
          <a:xfrm xmlns:a="http://schemas.openxmlformats.org/drawingml/2006/main">
            <a:off x="303847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2" name="">
            <a:extLst xmlns:a="http://schemas.openxmlformats.org/drawingml/2006/main">
              <a:ext uri="{FF2B5EF4-FFF2-40B4-BE49-F238E27FC236}">
                <a16:creationId xmlns:a16="http://schemas.microsoft.com/office/drawing/2014/main" id="{E9F0434A-F443-4397-905C-B09AFF0A7FD8}"/>
              </a:ext>
            </a:extLst>
          </p:cNvPr>
          <p:cNvSpPr>
            <a:spLocks xmlns:a="http://schemas.openxmlformats.org/drawingml/2006/main" noGrp="1"/>
          </p:cNvSpPr>
          <p:nvPr/>
        </p:nvSpPr>
        <p:spPr>
          <a:xfrm xmlns:a="http://schemas.openxmlformats.org/drawingml/2006/main">
            <a:off x="613410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Cookie MVC</a:t>
            </a:r>
          </a:p>
        </p:txBody>
      </p:sp>
      <p:cxnSp>
        <p:nvCxnSpPr>
          <p:cNvPr id="28" name=""/>
          <p:cNvCxnSpPr>
            <a:stCxn xmlns:a="http://schemas.openxmlformats.org/drawingml/2006/main" id="10" idx="3"/>
            <a:endCxn xmlns:a="http://schemas.openxmlformats.org/drawingml/2006/main" id="12" idx="1"/>
          </p:cNvCxnSpPr>
          <p:nvPr/>
        </p:nvCxnSpPr>
        <p:spPr>
          <a:xfrm xmlns:a="http://schemas.openxmlformats.org/drawingml/2006/main">
            <a:off x="580072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4" name="">
            <a:extLst xmlns:a="http://schemas.openxmlformats.org/drawingml/2006/main">
              <a:ext uri="{FF2B5EF4-FFF2-40B4-BE49-F238E27FC236}">
                <a16:creationId xmlns:a16="http://schemas.microsoft.com/office/drawing/2014/main" id="{FEC59468-74AB-4C9C-A408-8D6EA1C10143}"/>
              </a:ext>
            </a:extLst>
          </p:cNvPr>
          <p:cNvSpPr>
            <a:spLocks xmlns:a="http://schemas.openxmlformats.org/drawingml/2006/main" noGrp="1"/>
          </p:cNvSpPr>
          <p:nvPr/>
        </p:nvSpPr>
        <p:spPr>
          <a:xfrm xmlns:a="http://schemas.openxmlformats.org/drawingml/2006/main">
            <a:off x="889635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Bearer a la API</a:t>
            </a:r>
          </a:p>
        </p:txBody>
      </p:sp>
      <p:cxnSp>
        <p:nvCxnSpPr>
          <p:cNvPr id="30" name=""/>
          <p:cNvCxnSpPr>
            <a:stCxn xmlns:a="http://schemas.openxmlformats.org/drawingml/2006/main" id="12" idx="3"/>
            <a:endCxn xmlns:a="http://schemas.openxmlformats.org/drawingml/2006/main" id="14" idx="1"/>
          </p:cNvCxnSpPr>
          <p:nvPr/>
        </p:nvCxnSpPr>
        <p:spPr>
          <a:xfrm xmlns:a="http://schemas.openxmlformats.org/drawingml/2006/main">
            <a:off x="856297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Tree>
    <p:extLst>
      <p:ext uri="{BB962C8B-B14F-4D97-AF65-F5344CB8AC3E}">
        <p14:creationId xmlns:p14="http://schemas.microsoft.com/office/powerpoint/2010/main" val="8029180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93A94D-2811-4FC2-8A26-E4812E4C2371}"/>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CU03 · Catálogo y detalle</a:t>
            </a:r>
          </a:p>
        </p:txBody>
      </p:sp>
      <p:sp>
        <p:nvSpPr>
          <p:cNvPr id="2" name="">
            <a:extLst xmlns:a="http://schemas.openxmlformats.org/drawingml/2006/main">
              <a:ext uri="{FF2B5EF4-FFF2-40B4-BE49-F238E27FC236}">
                <a16:creationId xmlns:a16="http://schemas.microsoft.com/office/drawing/2014/main" id="{F8C82E2E-B2F3-4C44-8FAC-7E973EBDEE63}"/>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10 / 14     Daiana     9:30–12:00     2:30</a:t>
            </a:r>
          </a:p>
        </p:txBody>
      </p:sp>
      <p:sp>
        <p:nvSpPr>
          <p:cNvPr id="3" name="">
            <a:extLst xmlns:a="http://schemas.openxmlformats.org/drawingml/2006/main">
              <a:ext uri="{FF2B5EF4-FFF2-40B4-BE49-F238E27FC236}">
                <a16:creationId xmlns:a16="http://schemas.microsoft.com/office/drawing/2014/main" id="{21FF2693-E6D3-4492-A11C-7577282F9935}"/>
              </a:ext>
            </a:extLst>
          </p:cNvPr>
          <p:cNvSpPr>
            <a:spLocks xmlns:a="http://schemas.openxmlformats.org/drawingml/2006/main" noGrp="1"/>
          </p:cNvSpPr>
          <p:nvPr/>
        </p:nvSpPr>
        <p:spPr>
          <a:xfrm xmlns:a="http://schemas.openxmlformats.org/drawingml/2006/main">
            <a:off x="609600" y="1266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Arial"/>
                <a:ea typeface="Arial"/>
                <a:cs typeface="Arial"/>
              </a:defRPr>
            </a:pPr>
            <a:r>
              <a:rPr sz="1950" b="1">
                <a:solidFill>
                  <a:srgbClr val="007F86"/>
                </a:solidFill>
                <a:latin typeface="Arial"/>
                <a:ea typeface="Arial"/>
                <a:cs typeface="Arial"/>
              </a:rPr>
              <a:t>RF03 · GET /productos/catalogo y /productos/{id}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3d6ef3db1ff4165"/>
          <a:stretch xmlns:a="http://schemas.openxmlformats.org/drawingml/2006/main"/>
        </p:blipFill>
        <p:spPr>
          <a:xfrm xmlns:a="http://schemas.openxmlformats.org/drawingml/2006/main">
            <a:off x="1111736" y="1866900"/>
            <a:ext cx="4234479" cy="3829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A7731F-27EC-4570-A3CF-07EF82F864F6}"/>
              </a:ext>
            </a:extLst>
          </p:cNvPr>
          <p:cNvSpPr>
            <a:spLocks xmlns:a="http://schemas.openxmlformats.org/drawingml/2006/main" noGrp="1"/>
          </p:cNvSpPr>
          <p:nvPr/>
        </p:nvSpPr>
        <p:spPr>
          <a:xfrm xmlns:a="http://schemas.openxmlformats.org/drawingml/2006/main">
            <a:off x="609600" y="5819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46772"/>
                </a:solidFill>
                <a:latin typeface="Arial"/>
                <a:ea typeface="Arial"/>
                <a:cs typeface="Arial"/>
              </a:defRPr>
            </a:pPr>
            <a:r>
              <a:rPr sz="1500" b="0">
                <a:solidFill>
                  <a:srgbClr val="546772"/>
                </a:solidFill>
                <a:latin typeface="Arial"/>
                <a:ea typeface="Arial"/>
                <a:cs typeface="Arial"/>
              </a:rPr>
              <a:t>Captura real de respaldo · ejecución anterior</a:t>
            </a:r>
          </a:p>
        </p:txBody>
      </p:sp>
      <p:sp>
        <p:nvSpPr>
          <p:cNvPr id="6" name="">
            <a:extLst xmlns:a="http://schemas.openxmlformats.org/drawingml/2006/main">
              <a:ext uri="{FF2B5EF4-FFF2-40B4-BE49-F238E27FC236}">
                <a16:creationId xmlns:a16="http://schemas.microsoft.com/office/drawing/2014/main" id="{D137F6C7-2244-47DA-A4C9-428A67AAC1CA}"/>
              </a:ext>
            </a:extLst>
          </p:cNvPr>
          <p:cNvSpPr>
            <a:spLocks xmlns:a="http://schemas.openxmlformats.org/drawingml/2006/main" noGrp="1"/>
          </p:cNvSpPr>
          <p:nvPr/>
        </p:nvSpPr>
        <p:spPr>
          <a:xfrm xmlns:a="http://schemas.openxmlformats.org/drawingml/2006/main">
            <a:off x="6238875" y="188595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638"/>
                </a:solidFill>
                <a:latin typeface="Arial"/>
                <a:ea typeface="Arial"/>
                <a:cs typeface="Arial"/>
              </a:defRPr>
            </a:pPr>
            <a:r>
              <a:rPr sz="1875" b="1">
                <a:solidFill>
                  <a:srgbClr val="102638"/>
                </a:solidFill>
                <a:latin typeface="Arial"/>
                <a:ea typeface="Arial"/>
                <a:cs typeface="Arial"/>
              </a:rPr>
              <a:t>ProductosRepositorio.ObtenerCatalogoAsync</a:t>
            </a:r>
          </a:p>
        </p:txBody>
      </p:sp>
      <p:sp>
        <p:nvSpPr>
          <p:cNvPr id="7" name="">
            <a:extLst xmlns:a="http://schemas.openxmlformats.org/drawingml/2006/main">
              <a:ext uri="{FF2B5EF4-FFF2-40B4-BE49-F238E27FC236}">
                <a16:creationId xmlns:a16="http://schemas.microsoft.com/office/drawing/2014/main" id="{4D014934-9C7C-4BC5-BB82-7DCBB88CC35F}"/>
              </a:ext>
            </a:extLst>
          </p:cNvPr>
          <p:cNvSpPr>
            <a:spLocks xmlns:a="http://schemas.openxmlformats.org/drawingml/2006/main" noGrp="1"/>
          </p:cNvSpPr>
          <p:nvPr/>
        </p:nvSpPr>
        <p:spPr>
          <a:xfrm xmlns:a="http://schemas.openxmlformats.org/drawingml/2006/main">
            <a:off x="6238875" y="25908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.OrderBy(p =&gt; p.Nombre)</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.ThenBy(p =&gt; p.IdProducto)</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.Skip((pagina - 1) * tamano)</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.Take(tamano)</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.Select(p =&gt; new DTO { … })</a:t>
            </a:r>
          </a:p>
        </p:txBody>
      </p:sp>
      <p:sp>
        <p:nvSpPr>
          <p:cNvPr id="8" name="">
            <a:extLst xmlns:a="http://schemas.openxmlformats.org/drawingml/2006/main">
              <a:ext uri="{FF2B5EF4-FFF2-40B4-BE49-F238E27FC236}">
                <a16:creationId xmlns:a16="http://schemas.microsoft.com/office/drawing/2014/main" id="{999B97A6-A9C6-48CA-99F6-40761301DCDA}"/>
              </a:ext>
            </a:extLst>
          </p:cNvPr>
          <p:cNvSpPr>
            <a:spLocks xmlns:a="http://schemas.openxmlformats.org/drawingml/2006/main" noGrp="1"/>
          </p:cNvSpPr>
          <p:nvPr/>
        </p:nvSpPr>
        <p:spPr>
          <a:xfrm xmlns:a="http://schemas.openxmlformats.org/drawingml/2006/main">
            <a:off x="6238875" y="4524375"/>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Arial"/>
                <a:ea typeface="Arial"/>
                <a:cs typeface="Arial"/>
              </a:defRPr>
            </a:pPr>
            <a:r>
              <a:rPr sz="1800" b="0">
                <a:solidFill>
                  <a:srgbClr val="102638"/>
                </a:solidFill>
                <a:latin typeface="Arial"/>
                <a:ea typeface="Arial"/>
                <a:cs typeface="Arial"/>
              </a:rPr>
              <a:t>Filtros y paginación ejecutan la consulta en SQL.</a:t>
            </a:r>
          </a:p>
        </p:txBody>
      </p:sp>
      <p:sp>
        <p:nvSpPr>
          <p:cNvPr id="9" name="">
            <a:extLst xmlns:a="http://schemas.openxmlformats.org/drawingml/2006/main">
              <a:ext uri="{FF2B5EF4-FFF2-40B4-BE49-F238E27FC236}">
                <a16:creationId xmlns:a16="http://schemas.microsoft.com/office/drawing/2014/main" id="{212AA028-7BF3-4803-B839-B02B29A09752}"/>
              </a:ext>
            </a:extLst>
          </p:cNvPr>
          <p:cNvSpPr>
            <a:spLocks xmlns:a="http://schemas.openxmlformats.org/drawingml/2006/main" noGrp="1"/>
          </p:cNvSpPr>
          <p:nvPr/>
        </p:nvSpPr>
        <p:spPr>
          <a:xfrm xmlns:a="http://schemas.openxmlformats.org/drawingml/2006/main">
            <a:off x="6238875" y="50292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Arial"/>
                <a:ea typeface="Arial"/>
                <a:cs typeface="Arial"/>
              </a:defRPr>
            </a:pPr>
            <a:r>
              <a:rPr sz="1800" b="0">
                <a:solidFill>
                  <a:srgbClr val="102638"/>
                </a:solidFill>
                <a:latin typeface="Arial"/>
                <a:ea typeface="Arial"/>
                <a:cs typeface="Arial"/>
              </a:rPr>
              <a:t>El detalle abre un producto por su identificador.</a:t>
            </a:r>
          </a:p>
        </p:txBody>
      </p:sp>
    </p:spTree>
    <p:extLst>
      <p:ext uri="{BB962C8B-B14F-4D97-AF65-F5344CB8AC3E}">
        <p14:creationId xmlns:p14="http://schemas.microsoft.com/office/powerpoint/2010/main" val="1783734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71D2FC-8288-4A00-83C2-2F47C86FC8D6}"/>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CU04 · Carrito propio</a:t>
            </a:r>
          </a:p>
        </p:txBody>
      </p:sp>
      <p:sp>
        <p:nvSpPr>
          <p:cNvPr id="2" name="">
            <a:extLst xmlns:a="http://schemas.openxmlformats.org/drawingml/2006/main">
              <a:ext uri="{FF2B5EF4-FFF2-40B4-BE49-F238E27FC236}">
                <a16:creationId xmlns:a16="http://schemas.microsoft.com/office/drawing/2014/main" id="{BC2BA3F3-F135-453C-B228-987000E0E4C8}"/>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11 / 14     Facundo     12:00–14:30     2:30</a:t>
            </a:r>
          </a:p>
        </p:txBody>
      </p:sp>
      <p:sp>
        <p:nvSpPr>
          <p:cNvPr id="3" name="">
            <a:extLst xmlns:a="http://schemas.openxmlformats.org/drawingml/2006/main">
              <a:ext uri="{FF2B5EF4-FFF2-40B4-BE49-F238E27FC236}">
                <a16:creationId xmlns:a16="http://schemas.microsoft.com/office/drawing/2014/main" id="{6E97DDC8-473E-45F3-B786-10C866C99AAD}"/>
              </a:ext>
            </a:extLst>
          </p:cNvPr>
          <p:cNvSpPr>
            <a:spLocks xmlns:a="http://schemas.openxmlformats.org/drawingml/2006/main" noGrp="1"/>
          </p:cNvSpPr>
          <p:nvPr/>
        </p:nvSpPr>
        <p:spPr>
          <a:xfrm xmlns:a="http://schemas.openxmlformats.org/drawingml/2006/main">
            <a:off x="609600" y="1266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Arial"/>
                <a:ea typeface="Arial"/>
                <a:cs typeface="Arial"/>
              </a:defRPr>
            </a:pPr>
            <a:r>
              <a:rPr sz="1950" b="1">
                <a:solidFill>
                  <a:srgbClr val="007F86"/>
                </a:solidFill>
                <a:latin typeface="Arial"/>
                <a:ea typeface="Arial"/>
                <a:cs typeface="Arial"/>
              </a:rPr>
              <a:t>RF04 · /carritos/actual/productos</a:t>
            </a:r>
          </a:p>
        </p:txBody>
      </p:sp>
      <p:sp>
        <p:nvSpPr>
          <p:cNvPr id="4" name="">
            <a:extLst xmlns:a="http://schemas.openxmlformats.org/drawingml/2006/main">
              <a:ext uri="{FF2B5EF4-FFF2-40B4-BE49-F238E27FC236}">
                <a16:creationId xmlns:a16="http://schemas.microsoft.com/office/drawing/2014/main" id="{5EBDA9EB-E08F-4C3F-8D2C-18D9E429D1F9}"/>
              </a:ext>
            </a:extLst>
          </p:cNvPr>
          <p:cNvSpPr>
            <a:spLocks xmlns:a="http://schemas.openxmlformats.org/drawingml/2006/main" noGrp="1"/>
          </p:cNvSpPr>
          <p:nvPr/>
        </p:nvSpPr>
        <p:spPr>
          <a:xfrm xmlns:a="http://schemas.openxmlformats.org/drawingml/2006/main">
            <a:off x="609600" y="18859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638"/>
                </a:solidFill>
                <a:latin typeface="Arial"/>
                <a:ea typeface="Arial"/>
                <a:cs typeface="Arial"/>
              </a:defRPr>
            </a:pPr>
            <a:r>
              <a:rPr sz="1875" b="1">
                <a:solidFill>
                  <a:srgbClr val="102638"/>
                </a:solidFill>
                <a:latin typeface="Arial"/>
                <a:ea typeface="Arial"/>
                <a:cs typeface="Arial"/>
              </a:rPr>
              <a:t>CarritoController y CarritosLogica</a:t>
            </a:r>
          </a:p>
        </p:txBody>
      </p:sp>
      <p:sp>
        <p:nvSpPr>
          <p:cNvPr id="5" name="">
            <a:extLst xmlns:a="http://schemas.openxmlformats.org/drawingml/2006/main">
              <a:ext uri="{FF2B5EF4-FFF2-40B4-BE49-F238E27FC236}">
                <a16:creationId xmlns:a16="http://schemas.microsoft.com/office/drawing/2014/main" id="{35051AE6-6D56-42AC-87BA-20D026D1E38E}"/>
              </a:ext>
            </a:extLst>
          </p:cNvPr>
          <p:cNvSpPr>
            <a:spLocks xmlns:a="http://schemas.openxmlformats.org/drawingml/2006/main" noGrp="1"/>
          </p:cNvSpPr>
          <p:nvPr/>
        </p:nvSpPr>
        <p:spPr>
          <a:xfrm xmlns:a="http://schemas.openxmlformats.org/drawingml/2006/main">
            <a:off x="609600" y="259080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[HttpPost, ValidateAntiForgeryToken]</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Agregar / ActualizarCantidad / Eliminar</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_carritos.AgregarAsync(idProducto, cantidad)</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_carritos.ActualizarCantidadAsync(…)</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_carritos.EliminarAsync(idProducto)</a:t>
            </a:r>
          </a:p>
        </p:txBody>
      </p:sp>
      <p:sp>
        <p:nvSpPr>
          <p:cNvPr id="6" name="">
            <a:extLst xmlns:a="http://schemas.openxmlformats.org/drawingml/2006/main">
              <a:ext uri="{FF2B5EF4-FFF2-40B4-BE49-F238E27FC236}">
                <a16:creationId xmlns:a16="http://schemas.microsoft.com/office/drawing/2014/main" id="{0AE585FE-D508-4CD6-AC03-667EA94D8567}"/>
              </a:ext>
            </a:extLst>
          </p:cNvPr>
          <p:cNvSpPr>
            <a:spLocks xmlns:a="http://schemas.openxmlformats.org/drawingml/2006/main" noGrp="1"/>
          </p:cNvSpPr>
          <p:nvPr/>
        </p:nvSpPr>
        <p:spPr>
          <a:xfrm xmlns:a="http://schemas.openxmlformats.org/drawingml/2006/main">
            <a:off x="7239000" y="259080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El JWT identifica al dueño del carrito.</a:t>
            </a:r>
          </a:p>
        </p:txBody>
      </p:sp>
      <p:sp>
        <p:nvSpPr>
          <p:cNvPr id="7" name="">
            <a:extLst xmlns:a="http://schemas.openxmlformats.org/drawingml/2006/main">
              <a:ext uri="{FF2B5EF4-FFF2-40B4-BE49-F238E27FC236}">
                <a16:creationId xmlns:a16="http://schemas.microsoft.com/office/drawing/2014/main" id="{8C102777-D3CF-4E27-82C8-6852C3388525}"/>
              </a:ext>
            </a:extLst>
          </p:cNvPr>
          <p:cNvSpPr>
            <a:spLocks xmlns:a="http://schemas.openxmlformats.org/drawingml/2006/main" noGrp="1"/>
          </p:cNvSpPr>
          <p:nvPr/>
        </p:nvSpPr>
        <p:spPr>
          <a:xfrm xmlns:a="http://schemas.openxmlformats.org/drawingml/2006/main">
            <a:off x="7239000" y="3476625"/>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El servidor valida cantidad, stock y precio.</a:t>
            </a:r>
          </a:p>
        </p:txBody>
      </p:sp>
      <p:sp>
        <p:nvSpPr>
          <p:cNvPr id="8" name="">
            <a:extLst xmlns:a="http://schemas.openxmlformats.org/drawingml/2006/main">
              <a:ext uri="{FF2B5EF4-FFF2-40B4-BE49-F238E27FC236}">
                <a16:creationId xmlns:a16="http://schemas.microsoft.com/office/drawing/2014/main" id="{CE02E15F-3E22-44EE-9684-1D71FCB8513C}"/>
              </a:ext>
            </a:extLst>
          </p:cNvPr>
          <p:cNvSpPr>
            <a:spLocks xmlns:a="http://schemas.openxmlformats.org/drawingml/2006/main" noGrp="1"/>
          </p:cNvSpPr>
          <p:nvPr/>
        </p:nvSpPr>
        <p:spPr>
          <a:xfrm xmlns:a="http://schemas.openxmlformats.org/drawingml/2006/main">
            <a:off x="7239000" y="436245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El resumen vuelve como JSON y se muestra en Razor.</a:t>
            </a:r>
          </a:p>
        </p:txBody>
      </p:sp>
      <p:sp>
        <p:nvSpPr>
          <p:cNvPr id="9" name="">
            <a:extLst xmlns:a="http://schemas.openxmlformats.org/drawingml/2006/main">
              <a:ext uri="{FF2B5EF4-FFF2-40B4-BE49-F238E27FC236}">
                <a16:creationId xmlns:a16="http://schemas.microsoft.com/office/drawing/2014/main" id="{DC85EEFF-D8FA-43B0-B72E-751FD2A14209}"/>
              </a:ext>
            </a:extLst>
          </p:cNvPr>
          <p:cNvSpPr>
            <a:spLocks xmlns:a="http://schemas.openxmlformats.org/drawingml/2006/main" noGrp="1"/>
          </p:cNvSpPr>
          <p:nvPr/>
        </p:nvSpPr>
        <p:spPr>
          <a:xfrm xmlns:a="http://schemas.openxmlformats.org/drawingml/2006/main">
            <a:off x="60960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MVC y CSRF</a:t>
            </a:r>
          </a:p>
        </p:txBody>
      </p:sp>
      <p:sp>
        <p:nvSpPr>
          <p:cNvPr id="10" name="">
            <a:extLst xmlns:a="http://schemas.openxmlformats.org/drawingml/2006/main">
              <a:ext uri="{FF2B5EF4-FFF2-40B4-BE49-F238E27FC236}">
                <a16:creationId xmlns:a16="http://schemas.microsoft.com/office/drawing/2014/main" id="{E79B5ED3-63D8-4D9A-9877-CEAEBE2D82E8}"/>
              </a:ext>
            </a:extLst>
          </p:cNvPr>
          <p:cNvSpPr>
            <a:spLocks xmlns:a="http://schemas.openxmlformats.org/drawingml/2006/main" noGrp="1"/>
          </p:cNvSpPr>
          <p:nvPr/>
        </p:nvSpPr>
        <p:spPr>
          <a:xfrm xmlns:a="http://schemas.openxmlformats.org/drawingml/2006/main">
            <a:off x="337185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Servicio con JWT</a:t>
            </a:r>
          </a:p>
        </p:txBody>
      </p:sp>
      <p:cxnSp>
        <p:nvCxnSpPr>
          <p:cNvPr id="26" name=""/>
          <p:cNvCxnSpPr>
            <a:stCxn xmlns:a="http://schemas.openxmlformats.org/drawingml/2006/main" id="9" idx="3"/>
            <a:endCxn xmlns:a="http://schemas.openxmlformats.org/drawingml/2006/main" id="10" idx="1"/>
          </p:cNvCxnSpPr>
          <p:nvPr/>
        </p:nvCxnSpPr>
        <p:spPr>
          <a:xfrm xmlns:a="http://schemas.openxmlformats.org/drawingml/2006/main">
            <a:off x="303847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2" name="">
            <a:extLst xmlns:a="http://schemas.openxmlformats.org/drawingml/2006/main">
              <a:ext uri="{FF2B5EF4-FFF2-40B4-BE49-F238E27FC236}">
                <a16:creationId xmlns:a16="http://schemas.microsoft.com/office/drawing/2014/main" id="{1FA86C22-3378-419B-86D3-647BFD35C18C}"/>
              </a:ext>
            </a:extLst>
          </p:cNvPr>
          <p:cNvSpPr>
            <a:spLocks xmlns:a="http://schemas.openxmlformats.org/drawingml/2006/main" noGrp="1"/>
          </p:cNvSpPr>
          <p:nvPr/>
        </p:nvSpPr>
        <p:spPr>
          <a:xfrm xmlns:a="http://schemas.openxmlformats.org/drawingml/2006/main">
            <a:off x="613410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Reglas y DbContext</a:t>
            </a:r>
          </a:p>
        </p:txBody>
      </p:sp>
      <p:cxnSp>
        <p:nvCxnSpPr>
          <p:cNvPr id="28" name=""/>
          <p:cNvCxnSpPr>
            <a:stCxn xmlns:a="http://schemas.openxmlformats.org/drawingml/2006/main" id="10" idx="3"/>
            <a:endCxn xmlns:a="http://schemas.openxmlformats.org/drawingml/2006/main" id="12" idx="1"/>
          </p:cNvCxnSpPr>
          <p:nvPr/>
        </p:nvCxnSpPr>
        <p:spPr>
          <a:xfrm xmlns:a="http://schemas.openxmlformats.org/drawingml/2006/main">
            <a:off x="580072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
        <p:nvSpPr>
          <p:cNvPr id="14" name="">
            <a:extLst xmlns:a="http://schemas.openxmlformats.org/drawingml/2006/main">
              <a:ext uri="{FF2B5EF4-FFF2-40B4-BE49-F238E27FC236}">
                <a16:creationId xmlns:a16="http://schemas.microsoft.com/office/drawing/2014/main" id="{E8CCBA71-54D4-4D88-9A2E-72B772967F3B}"/>
              </a:ext>
            </a:extLst>
          </p:cNvPr>
          <p:cNvSpPr>
            <a:spLocks xmlns:a="http://schemas.openxmlformats.org/drawingml/2006/main" noGrp="1"/>
          </p:cNvSpPr>
          <p:nvPr/>
        </p:nvSpPr>
        <p:spPr>
          <a:xfrm xmlns:a="http://schemas.openxmlformats.org/drawingml/2006/main">
            <a:off x="8896350" y="5305425"/>
            <a:ext cx="2428875" cy="685800"/>
          </a:xfrm>
          <a:prstGeom xmlns:a="http://schemas.openxmlformats.org/drawingml/2006/main" prst="rect">
            <a:avLst/>
          </a:prstGeom>
          <a:solidFill xmlns:a="http://schemas.openxmlformats.org/drawingml/2006/main">
            <a:srgbClr val="EDF5F6"/>
          </a:solidFill>
          <a:ln xmlns:a="http://schemas.openxmlformats.org/drawingml/2006/main" w="9525">
            <a:solidFill>
              <a:srgbClr val="007F86"/>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02638"/>
                </a:solidFill>
                <a:latin typeface="Arial"/>
                <a:ea typeface="Arial"/>
                <a:cs typeface="Arial"/>
              </a:defRPr>
            </a:pPr>
            <a:r>
              <a:rPr sz="1800">
                <a:solidFill>
                  <a:srgbClr val="102638"/>
                </a:solidFill>
                <a:latin typeface="Arial"/>
                <a:ea typeface="Arial"/>
                <a:cs typeface="Arial"/>
              </a:rPr>
              <a:t>JSON y carrito</a:t>
            </a:r>
          </a:p>
        </p:txBody>
      </p:sp>
      <p:cxnSp>
        <p:nvCxnSpPr>
          <p:cNvPr id="30" name=""/>
          <p:cNvCxnSpPr>
            <a:stCxn xmlns:a="http://schemas.openxmlformats.org/drawingml/2006/main" id="12" idx="3"/>
            <a:endCxn xmlns:a="http://schemas.openxmlformats.org/drawingml/2006/main" id="14" idx="1"/>
          </p:cNvCxnSpPr>
          <p:nvPr/>
        </p:nvCxnSpPr>
        <p:spPr>
          <a:xfrm xmlns:a="http://schemas.openxmlformats.org/drawingml/2006/main">
            <a:off x="8562975" y="5648325"/>
            <a:ext cx="333375" cy="0"/>
          </a:xfrm>
          <a:prstGeom xmlns:a="http://schemas.openxmlformats.org/drawingml/2006/main" prst="straightConnector1">
            <a:avLst/>
          </a:prstGeom>
          <a:ln xmlns:a="http://schemas.openxmlformats.org/drawingml/2006/main" w="19050">
            <a:solidFill>
              <a:srgbClr val="007F86"/>
            </a:solidFill>
            <a:tailEnd type="arrow" w="med" len="med"/>
          </a:ln>
        </p:spPr>
      </p:cxnSp>
    </p:spTree>
    <p:extLst>
      <p:ext uri="{BB962C8B-B14F-4D97-AF65-F5344CB8AC3E}">
        <p14:creationId xmlns:p14="http://schemas.microsoft.com/office/powerpoint/2010/main" val="14986765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CBB522-B6DE-4908-A3BD-FE83E87ADC29}"/>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CU05 · Administración de productos</a:t>
            </a:r>
          </a:p>
        </p:txBody>
      </p:sp>
      <p:sp>
        <p:nvSpPr>
          <p:cNvPr id="2" name="">
            <a:extLst xmlns:a="http://schemas.openxmlformats.org/drawingml/2006/main">
              <a:ext uri="{FF2B5EF4-FFF2-40B4-BE49-F238E27FC236}">
                <a16:creationId xmlns:a16="http://schemas.microsoft.com/office/drawing/2014/main" id="{AFB5508B-C1F7-4DE7-B9A5-CE1B8F900F5C}"/>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12 / 14     Daiana     14:30–17:00     2:30</a:t>
            </a:r>
          </a:p>
        </p:txBody>
      </p:sp>
      <p:sp>
        <p:nvSpPr>
          <p:cNvPr id="3" name="">
            <a:extLst xmlns:a="http://schemas.openxmlformats.org/drawingml/2006/main">
              <a:ext uri="{FF2B5EF4-FFF2-40B4-BE49-F238E27FC236}">
                <a16:creationId xmlns:a16="http://schemas.microsoft.com/office/drawing/2014/main" id="{54ADEA10-E555-41BE-A6EF-0F8D9659F72F}"/>
              </a:ext>
            </a:extLst>
          </p:cNvPr>
          <p:cNvSpPr>
            <a:spLocks xmlns:a="http://schemas.openxmlformats.org/drawingml/2006/main" noGrp="1"/>
          </p:cNvSpPr>
          <p:nvPr/>
        </p:nvSpPr>
        <p:spPr>
          <a:xfrm xmlns:a="http://schemas.openxmlformats.org/drawingml/2006/main">
            <a:off x="609600" y="1266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7F86"/>
                </a:solidFill>
                <a:latin typeface="Arial"/>
                <a:ea typeface="Arial"/>
                <a:cs typeface="Arial"/>
              </a:defRPr>
            </a:pPr>
            <a:r>
              <a:rPr sz="1950" b="1">
                <a:solidFill>
                  <a:srgbClr val="007F86"/>
                </a:solidFill>
                <a:latin typeface="Arial"/>
                <a:ea typeface="Arial"/>
                <a:cs typeface="Arial"/>
              </a:rPr>
              <a:t>RF05 · POST, PUT y DELETE /productos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84855346671461b"/>
          <a:stretch xmlns:a="http://schemas.openxmlformats.org/drawingml/2006/main"/>
        </p:blipFill>
        <p:spPr>
          <a:xfrm xmlns:a="http://schemas.openxmlformats.org/drawingml/2006/main">
            <a:off x="862262" y="1866900"/>
            <a:ext cx="4733425" cy="3829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312DD8-8CC5-445E-BC04-4555E1E2B4F1}"/>
              </a:ext>
            </a:extLst>
          </p:cNvPr>
          <p:cNvSpPr>
            <a:spLocks xmlns:a="http://schemas.openxmlformats.org/drawingml/2006/main" noGrp="1"/>
          </p:cNvSpPr>
          <p:nvPr/>
        </p:nvSpPr>
        <p:spPr>
          <a:xfrm xmlns:a="http://schemas.openxmlformats.org/drawingml/2006/main">
            <a:off x="609600" y="58197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46772"/>
                </a:solidFill>
                <a:latin typeface="Arial"/>
                <a:ea typeface="Arial"/>
                <a:cs typeface="Arial"/>
              </a:defRPr>
            </a:pPr>
            <a:r>
              <a:rPr sz="1500" b="0">
                <a:solidFill>
                  <a:srgbClr val="546772"/>
                </a:solidFill>
                <a:latin typeface="Arial"/>
                <a:ea typeface="Arial"/>
                <a:cs typeface="Arial"/>
              </a:rPr>
              <a:t>Captura real de respaldo · ejecución anterior</a:t>
            </a:r>
          </a:p>
        </p:txBody>
      </p:sp>
      <p:sp>
        <p:nvSpPr>
          <p:cNvPr id="6" name="">
            <a:extLst xmlns:a="http://schemas.openxmlformats.org/drawingml/2006/main">
              <a:ext uri="{FF2B5EF4-FFF2-40B4-BE49-F238E27FC236}">
                <a16:creationId xmlns:a16="http://schemas.microsoft.com/office/drawing/2014/main" id="{BD2EA2B3-FE77-486A-B9C9-F877A3426447}"/>
              </a:ext>
            </a:extLst>
          </p:cNvPr>
          <p:cNvSpPr>
            <a:spLocks xmlns:a="http://schemas.openxmlformats.org/drawingml/2006/main" noGrp="1"/>
          </p:cNvSpPr>
          <p:nvPr/>
        </p:nvSpPr>
        <p:spPr>
          <a:xfrm xmlns:a="http://schemas.openxmlformats.org/drawingml/2006/main">
            <a:off x="6238875" y="1885950"/>
            <a:ext cx="533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638"/>
                </a:solidFill>
                <a:latin typeface="Arial"/>
                <a:ea typeface="Arial"/>
                <a:cs typeface="Arial"/>
              </a:defRPr>
            </a:pPr>
            <a:r>
              <a:rPr sz="1875" b="1">
                <a:solidFill>
                  <a:srgbClr val="102638"/>
                </a:solidFill>
                <a:latin typeface="Arial"/>
                <a:ea typeface="Arial"/>
                <a:cs typeface="Arial"/>
              </a:rPr>
              <a:t>ProductosController.Editar</a:t>
            </a:r>
          </a:p>
        </p:txBody>
      </p:sp>
      <p:sp>
        <p:nvSpPr>
          <p:cNvPr id="7" name="">
            <a:extLst xmlns:a="http://schemas.openxmlformats.org/drawingml/2006/main">
              <a:ext uri="{FF2B5EF4-FFF2-40B4-BE49-F238E27FC236}">
                <a16:creationId xmlns:a16="http://schemas.microsoft.com/office/drawing/2014/main" id="{63CF27B6-7383-4FF9-8CCD-5676DEA61326}"/>
              </a:ext>
            </a:extLst>
          </p:cNvPr>
          <p:cNvSpPr>
            <a:spLocks xmlns:a="http://schemas.openxmlformats.org/drawingml/2006/main" noGrp="1"/>
          </p:cNvSpPr>
          <p:nvPr/>
        </p:nvSpPr>
        <p:spPr>
          <a:xfrm xmlns:a="http://schemas.openxmlformats.org/drawingml/2006/main">
            <a:off x="6238875" y="25908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var resultado = await _imagenStorage</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.GuardarAsync(request.ImagenArchivo,</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HttpContext.RequestAborted);</a:t>
            </a:r>
          </a:p>
          <a:p xmlns:a="http://schemas.openxmlformats.org/drawingml/2006/main">
            <a:pPr algn="l">
              <a:defRPr sz="1800" b="0">
                <a:solidFill>
                  <a:srgbClr val="102638"/>
                </a:solidFill>
                <a:latin typeface="Consolas"/>
                <a:ea typeface="Consolas"/>
                <a:cs typeface="Consolas"/>
              </a:defRPr>
            </a:pPr>
            <a:r>
              <a:rPr sz="1800" b="0">
                <a:solidFill>
                  <a:srgbClr val="102638"/>
                </a:solidFill>
                <a:latin typeface="Consolas"/>
                <a:ea typeface="Consolas"/>
                <a:cs typeface="Consolas"/>
              </a:rPr>
              <a:t>// ActualizarAsync envía PUT /productos/{id}</a:t>
            </a:r>
          </a:p>
        </p:txBody>
      </p:sp>
      <p:sp>
        <p:nvSpPr>
          <p:cNvPr id="8" name="">
            <a:extLst xmlns:a="http://schemas.openxmlformats.org/drawingml/2006/main">
              <a:ext uri="{FF2B5EF4-FFF2-40B4-BE49-F238E27FC236}">
                <a16:creationId xmlns:a16="http://schemas.microsoft.com/office/drawing/2014/main" id="{697EBC2B-F0F3-486C-A65E-67DE08A5E567}"/>
              </a:ext>
            </a:extLst>
          </p:cNvPr>
          <p:cNvSpPr>
            <a:spLocks xmlns:a="http://schemas.openxmlformats.org/drawingml/2006/main" noGrp="1"/>
          </p:cNvSpPr>
          <p:nvPr/>
        </p:nvSpPr>
        <p:spPr>
          <a:xfrm xmlns:a="http://schemas.openxmlformats.org/drawingml/2006/main">
            <a:off x="6238875" y="4524375"/>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Arial"/>
                <a:ea typeface="Arial"/>
                <a:cs typeface="Arial"/>
              </a:defRPr>
            </a:pPr>
            <a:r>
              <a:rPr sz="1800" b="0">
                <a:solidFill>
                  <a:srgbClr val="102638"/>
                </a:solidFill>
                <a:latin typeface="Arial"/>
                <a:ea typeface="Arial"/>
                <a:cs typeface="Arial"/>
              </a:rPr>
              <a:t>Crear con categoría y proveedor activo.</a:t>
            </a:r>
          </a:p>
        </p:txBody>
      </p:sp>
      <p:sp>
        <p:nvSpPr>
          <p:cNvPr id="9" name="">
            <a:extLst xmlns:a="http://schemas.openxmlformats.org/drawingml/2006/main">
              <a:ext uri="{FF2B5EF4-FFF2-40B4-BE49-F238E27FC236}">
                <a16:creationId xmlns:a16="http://schemas.microsoft.com/office/drawing/2014/main" id="{DDFED502-E830-4779-9A88-FEB2F88BDD28}"/>
              </a:ext>
            </a:extLst>
          </p:cNvPr>
          <p:cNvSpPr>
            <a:spLocks xmlns:a="http://schemas.openxmlformats.org/drawingml/2006/main" noGrp="1"/>
          </p:cNvSpPr>
          <p:nvPr/>
        </p:nvSpPr>
        <p:spPr>
          <a:xfrm xmlns:a="http://schemas.openxmlformats.org/drawingml/2006/main">
            <a:off x="6238875" y="50292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Arial"/>
                <a:ea typeface="Arial"/>
                <a:cs typeface="Arial"/>
              </a:defRPr>
            </a:pPr>
            <a:r>
              <a:rPr sz="1800" b="0">
                <a:solidFill>
                  <a:srgbClr val="102638"/>
                </a:solidFill>
                <a:latin typeface="Arial"/>
                <a:ea typeface="Arial"/>
                <a:cs typeface="Arial"/>
              </a:rPr>
              <a:t>Editar stock e imagen validada de hasta 5 MB.</a:t>
            </a:r>
          </a:p>
        </p:txBody>
      </p:sp>
      <p:sp>
        <p:nvSpPr>
          <p:cNvPr id="10" name="">
            <a:extLst xmlns:a="http://schemas.openxmlformats.org/drawingml/2006/main">
              <a:ext uri="{FF2B5EF4-FFF2-40B4-BE49-F238E27FC236}">
                <a16:creationId xmlns:a16="http://schemas.microsoft.com/office/drawing/2014/main" id="{956A3FA7-2F76-4D9A-98E5-93866E27F4D1}"/>
              </a:ext>
            </a:extLst>
          </p:cNvPr>
          <p:cNvSpPr>
            <a:spLocks xmlns:a="http://schemas.openxmlformats.org/drawingml/2006/main" noGrp="1"/>
          </p:cNvSpPr>
          <p:nvPr/>
        </p:nvSpPr>
        <p:spPr>
          <a:xfrm xmlns:a="http://schemas.openxmlformats.org/drawingml/2006/main">
            <a:off x="6238875" y="5534025"/>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638"/>
                </a:solidFill>
                <a:latin typeface="Arial"/>
                <a:ea typeface="Arial"/>
                <a:cs typeface="Arial"/>
              </a:defRPr>
            </a:pPr>
            <a:r>
              <a:rPr sz="1800" b="0">
                <a:solidFill>
                  <a:srgbClr val="102638"/>
                </a:solidFill>
                <a:latin typeface="Arial"/>
                <a:ea typeface="Arial"/>
                <a:cs typeface="Arial"/>
              </a:rPr>
              <a:t>Eliminar sin relaciones: 204. Con relaciones: 409.</a:t>
            </a:r>
          </a:p>
        </p:txBody>
      </p:sp>
    </p:spTree>
    <p:extLst>
      <p:ext uri="{BB962C8B-B14F-4D97-AF65-F5344CB8AC3E}">
        <p14:creationId xmlns:p14="http://schemas.microsoft.com/office/powerpoint/2010/main" val="384118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669FAD-614C-401F-A0F4-9A3019B10BC2}"/>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Pruebas y tratamiento de errores</a:t>
            </a:r>
          </a:p>
        </p:txBody>
      </p:sp>
      <p:sp>
        <p:nvSpPr>
          <p:cNvPr id="2" name="">
            <a:extLst xmlns:a="http://schemas.openxmlformats.org/drawingml/2006/main">
              <a:ext uri="{FF2B5EF4-FFF2-40B4-BE49-F238E27FC236}">
                <a16:creationId xmlns:a16="http://schemas.microsoft.com/office/drawing/2014/main" id="{56261C7B-4EC4-40D0-A4CC-31C6F2E12740}"/>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13 / 14     Facundo     17:00–18:30     1:30</a:t>
            </a:r>
          </a:p>
        </p:txBody>
      </p:sp>
      <p:sp>
        <p:nvSpPr>
          <p:cNvPr id="3" name="">
            <a:extLst xmlns:a="http://schemas.openxmlformats.org/drawingml/2006/main">
              <a:ext uri="{FF2B5EF4-FFF2-40B4-BE49-F238E27FC236}">
                <a16:creationId xmlns:a16="http://schemas.microsoft.com/office/drawing/2014/main" id="{D2F234D9-0569-4080-8D17-763A59E078A7}"/>
              </a:ext>
            </a:extLst>
          </p:cNvPr>
          <p:cNvSpPr>
            <a:spLocks xmlns:a="http://schemas.openxmlformats.org/drawingml/2006/main" noGrp="1"/>
          </p:cNvSpPr>
          <p:nvPr/>
        </p:nvSpPr>
        <p:spPr>
          <a:xfrm xmlns:a="http://schemas.openxmlformats.org/drawingml/2006/main">
            <a:off x="609600" y="1409700"/>
            <a:ext cx="3810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100" b="1">
                <a:solidFill>
                  <a:srgbClr val="007F86"/>
                </a:solidFill>
                <a:latin typeface="Arial"/>
                <a:ea typeface="Arial"/>
                <a:cs typeface="Arial"/>
              </a:defRPr>
            </a:pPr>
            <a:r>
              <a:rPr sz="8100" b="1">
                <a:solidFill>
                  <a:srgbClr val="007F86"/>
                </a:solidFill>
                <a:latin typeface="Arial"/>
                <a:ea typeface="Arial"/>
                <a:cs typeface="Arial"/>
              </a:rPr>
              <a:t>105</a:t>
            </a:r>
          </a:p>
        </p:txBody>
      </p:sp>
      <p:sp>
        <p:nvSpPr>
          <p:cNvPr id="4" name="">
            <a:extLst xmlns:a="http://schemas.openxmlformats.org/drawingml/2006/main">
              <a:ext uri="{FF2B5EF4-FFF2-40B4-BE49-F238E27FC236}">
                <a16:creationId xmlns:a16="http://schemas.microsoft.com/office/drawing/2014/main" id="{AAD20099-5B7C-49A2-A057-64124B23C5BC}"/>
              </a:ext>
            </a:extLst>
          </p:cNvPr>
          <p:cNvSpPr>
            <a:spLocks xmlns:a="http://schemas.openxmlformats.org/drawingml/2006/main" noGrp="1"/>
          </p:cNvSpPr>
          <p:nvPr/>
        </p:nvSpPr>
        <p:spPr>
          <a:xfrm xmlns:a="http://schemas.openxmlformats.org/drawingml/2006/main">
            <a:off x="3333750" y="1781175"/>
            <a:ext cx="8001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102638"/>
                </a:solidFill>
                <a:latin typeface="Arial"/>
                <a:ea typeface="Arial"/>
                <a:cs typeface="Arial"/>
              </a:defRPr>
            </a:pPr>
            <a:r>
              <a:rPr sz="2775" b="1">
                <a:solidFill>
                  <a:srgbClr val="102638"/>
                </a:solidFill>
                <a:latin typeface="Arial"/>
                <a:ea typeface="Arial"/>
                <a:cs typeface="Arial"/>
              </a:rPr>
              <a:t>pruebas aprobadas en la ejecución anterior</a:t>
            </a:r>
          </a:p>
        </p:txBody>
      </p:sp>
      <p:sp>
        <p:nvSpPr>
          <p:cNvPr id="5" name="">
            <a:extLst xmlns:a="http://schemas.openxmlformats.org/drawingml/2006/main">
              <a:ext uri="{FF2B5EF4-FFF2-40B4-BE49-F238E27FC236}">
                <a16:creationId xmlns:a16="http://schemas.microsoft.com/office/drawing/2014/main" id="{BC18ACED-C96D-4B03-8E7C-5FF9D8A5A72A}"/>
              </a:ext>
            </a:extLst>
          </p:cNvPr>
          <p:cNvSpPr>
            <a:spLocks xmlns:a="http://schemas.openxmlformats.org/drawingml/2006/main" noGrp="1"/>
          </p:cNvSpPr>
          <p:nvPr/>
        </p:nvSpPr>
        <p:spPr>
          <a:xfrm xmlns:a="http://schemas.openxmlformats.org/drawingml/2006/main">
            <a:off x="609600" y="3076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07F86"/>
                </a:solidFill>
                <a:latin typeface="Arial"/>
                <a:ea typeface="Arial"/>
                <a:cs typeface="Arial"/>
              </a:defRPr>
            </a:pPr>
            <a:r>
              <a:rPr sz="4500" b="1">
                <a:solidFill>
                  <a:srgbClr val="007F86"/>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EFD0F099-4699-4D5A-9153-A570B14783C4}"/>
              </a:ext>
            </a:extLst>
          </p:cNvPr>
          <p:cNvSpPr>
            <a:spLocks xmlns:a="http://schemas.openxmlformats.org/drawingml/2006/main" noGrp="1"/>
          </p:cNvSpPr>
          <p:nvPr/>
        </p:nvSpPr>
        <p:spPr>
          <a:xfrm xmlns:a="http://schemas.openxmlformats.org/drawingml/2006/main">
            <a:off x="609600" y="3886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02638"/>
                </a:solidFill>
                <a:latin typeface="Arial"/>
                <a:ea typeface="Arial"/>
                <a:cs typeface="Arial"/>
              </a:defRPr>
            </a:pPr>
            <a:r>
              <a:rPr sz="2025" b="0">
                <a:solidFill>
                  <a:srgbClr val="102638"/>
                </a:solidFill>
                <a:latin typeface="Arial"/>
                <a:ea typeface="Arial"/>
                <a:cs typeface="Arial"/>
              </a:rPr>
              <a:t>Unitarias</a:t>
            </a:r>
          </a:p>
        </p:txBody>
      </p:sp>
      <p:sp>
        <p:nvSpPr>
          <p:cNvPr id="7" name="">
            <a:extLst xmlns:a="http://schemas.openxmlformats.org/drawingml/2006/main">
              <a:ext uri="{FF2B5EF4-FFF2-40B4-BE49-F238E27FC236}">
                <a16:creationId xmlns:a16="http://schemas.microsoft.com/office/drawing/2014/main" id="{17ABAF3C-9C9D-49D2-A54A-B2BE4969CBEA}"/>
              </a:ext>
            </a:extLst>
          </p:cNvPr>
          <p:cNvSpPr>
            <a:spLocks xmlns:a="http://schemas.openxmlformats.org/drawingml/2006/main" noGrp="1"/>
          </p:cNvSpPr>
          <p:nvPr/>
        </p:nvSpPr>
        <p:spPr>
          <a:xfrm xmlns:a="http://schemas.openxmlformats.org/drawingml/2006/main">
            <a:off x="4324350" y="3076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07F86"/>
                </a:solidFill>
                <a:latin typeface="Arial"/>
                <a:ea typeface="Arial"/>
                <a:cs typeface="Arial"/>
              </a:defRPr>
            </a:pPr>
            <a:r>
              <a:rPr sz="4500" b="1">
                <a:solidFill>
                  <a:srgbClr val="007F86"/>
                </a:solidFill>
                <a:latin typeface="Arial"/>
                <a:ea typeface="Arial"/>
                <a:cs typeface="Arial"/>
              </a:rPr>
              <a:t>78</a:t>
            </a:r>
          </a:p>
        </p:txBody>
      </p:sp>
      <p:sp>
        <p:nvSpPr>
          <p:cNvPr id="8" name="">
            <a:extLst xmlns:a="http://schemas.openxmlformats.org/drawingml/2006/main">
              <a:ext uri="{FF2B5EF4-FFF2-40B4-BE49-F238E27FC236}">
                <a16:creationId xmlns:a16="http://schemas.microsoft.com/office/drawing/2014/main" id="{D3A82B86-C121-4CD7-9244-EE0AFC42EE9B}"/>
              </a:ext>
            </a:extLst>
          </p:cNvPr>
          <p:cNvSpPr>
            <a:spLocks xmlns:a="http://schemas.openxmlformats.org/drawingml/2006/main" noGrp="1"/>
          </p:cNvSpPr>
          <p:nvPr/>
        </p:nvSpPr>
        <p:spPr>
          <a:xfrm xmlns:a="http://schemas.openxmlformats.org/drawingml/2006/main">
            <a:off x="4324350" y="3886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02638"/>
                </a:solidFill>
                <a:latin typeface="Arial"/>
                <a:ea typeface="Arial"/>
                <a:cs typeface="Arial"/>
              </a:defRPr>
            </a:pPr>
            <a:r>
              <a:rPr sz="2025" b="0">
                <a:solidFill>
                  <a:srgbClr val="102638"/>
                </a:solidFill>
                <a:latin typeface="Arial"/>
                <a:ea typeface="Arial"/>
                <a:cs typeface="Arial"/>
              </a:rPr>
              <a:t>Integración y frontend</a:t>
            </a:r>
          </a:p>
        </p:txBody>
      </p:sp>
      <p:sp>
        <p:nvSpPr>
          <p:cNvPr id="9" name="">
            <a:extLst xmlns:a="http://schemas.openxmlformats.org/drawingml/2006/main">
              <a:ext uri="{FF2B5EF4-FFF2-40B4-BE49-F238E27FC236}">
                <a16:creationId xmlns:a16="http://schemas.microsoft.com/office/drawing/2014/main" id="{7964B656-25FE-49B7-BA29-A445F12CC77A}"/>
              </a:ext>
            </a:extLst>
          </p:cNvPr>
          <p:cNvSpPr>
            <a:spLocks xmlns:a="http://schemas.openxmlformats.org/drawingml/2006/main" noGrp="1"/>
          </p:cNvSpPr>
          <p:nvPr/>
        </p:nvSpPr>
        <p:spPr>
          <a:xfrm xmlns:a="http://schemas.openxmlformats.org/drawingml/2006/main">
            <a:off x="8039100" y="3076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07F86"/>
                </a:solidFill>
                <a:latin typeface="Arial"/>
                <a:ea typeface="Arial"/>
                <a:cs typeface="Arial"/>
              </a:defRPr>
            </a:pPr>
            <a:r>
              <a:rPr sz="4500" b="1">
                <a:solidFill>
                  <a:srgbClr val="007F86"/>
                </a:solidFill>
                <a:latin typeface="Arial"/>
                <a:ea typeface="Arial"/>
                <a:cs typeface="Arial"/>
              </a:rPr>
              <a:t>19</a:t>
            </a:r>
          </a:p>
        </p:txBody>
      </p:sp>
      <p:sp>
        <p:nvSpPr>
          <p:cNvPr id="10" name="">
            <a:extLst xmlns:a="http://schemas.openxmlformats.org/drawingml/2006/main">
              <a:ext uri="{FF2B5EF4-FFF2-40B4-BE49-F238E27FC236}">
                <a16:creationId xmlns:a16="http://schemas.microsoft.com/office/drawing/2014/main" id="{6A85E693-A78F-4A98-988D-B04AE8743D59}"/>
              </a:ext>
            </a:extLst>
          </p:cNvPr>
          <p:cNvSpPr>
            <a:spLocks xmlns:a="http://schemas.openxmlformats.org/drawingml/2006/main" noGrp="1"/>
          </p:cNvSpPr>
          <p:nvPr/>
        </p:nvSpPr>
        <p:spPr>
          <a:xfrm xmlns:a="http://schemas.openxmlformats.org/drawingml/2006/main">
            <a:off x="8039100" y="3886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02638"/>
                </a:solidFill>
                <a:latin typeface="Arial"/>
                <a:ea typeface="Arial"/>
                <a:cs typeface="Arial"/>
              </a:defRPr>
            </a:pPr>
            <a:r>
              <a:rPr sz="2025" b="0">
                <a:solidFill>
                  <a:srgbClr val="102638"/>
                </a:solidFill>
                <a:latin typeface="Arial"/>
                <a:ea typeface="Arial"/>
                <a:cs typeface="Arial"/>
              </a:rPr>
              <a:t>E2E</a:t>
            </a:r>
          </a:p>
        </p:txBody>
      </p:sp>
      <p:sp>
        <p:nvSpPr>
          <p:cNvPr id="11" name="">
            <a:extLst xmlns:a="http://schemas.openxmlformats.org/drawingml/2006/main">
              <a:ext uri="{FF2B5EF4-FFF2-40B4-BE49-F238E27FC236}">
                <a16:creationId xmlns:a16="http://schemas.microsoft.com/office/drawing/2014/main" id="{097B9BC0-B29A-439C-B206-3CAD87D096A5}"/>
              </a:ext>
            </a:extLst>
          </p:cNvPr>
          <p:cNvSpPr>
            <a:spLocks xmlns:a="http://schemas.openxmlformats.org/drawingml/2006/main" noGrp="1"/>
          </p:cNvSpPr>
          <p:nvPr/>
        </p:nvSpPr>
        <p:spPr>
          <a:xfrm xmlns:a="http://schemas.openxmlformats.org/drawingml/2006/main">
            <a:off x="609600" y="5038725"/>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02638"/>
                </a:solidFill>
                <a:latin typeface="Arial"/>
                <a:ea typeface="Arial"/>
                <a:cs typeface="Arial"/>
              </a:defRPr>
            </a:pPr>
            <a:r>
              <a:rPr sz="2100" b="0">
                <a:solidFill>
                  <a:srgbClr val="102638"/>
                </a:solidFill>
                <a:latin typeface="Arial"/>
                <a:ea typeface="Arial"/>
                <a:cs typeface="Arial"/>
              </a:rPr>
              <a:t>400 datos · 401 acceso · 403 permisos · 404 inexistente · 409 conflicto</a:t>
            </a:r>
          </a:p>
        </p:txBody>
      </p:sp>
      <p:sp>
        <p:nvSpPr>
          <p:cNvPr id="12" name="">
            <a:extLst xmlns:a="http://schemas.openxmlformats.org/drawingml/2006/main">
              <a:ext uri="{FF2B5EF4-FFF2-40B4-BE49-F238E27FC236}">
                <a16:creationId xmlns:a16="http://schemas.microsoft.com/office/drawing/2014/main" id="{C743CE85-B24A-47B2-B1CD-6BACB32F4764}"/>
              </a:ext>
            </a:extLst>
          </p:cNvPr>
          <p:cNvSpPr>
            <a:spLocks xmlns:a="http://schemas.openxmlformats.org/drawingml/2006/main" noGrp="1"/>
          </p:cNvSpPr>
          <p:nvPr/>
        </p:nvSpPr>
        <p:spPr>
          <a:xfrm xmlns:a="http://schemas.openxmlformats.org/drawingml/2006/main">
            <a:off x="609600" y="5867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46772"/>
                </a:solidFill>
                <a:latin typeface="Arial"/>
                <a:ea typeface="Arial"/>
                <a:cs typeface="Arial"/>
              </a:defRPr>
            </a:pPr>
            <a:r>
              <a:rPr sz="1800" b="0">
                <a:solidFill>
                  <a:srgbClr val="546772"/>
                </a:solidFill>
                <a:latin typeface="Arial"/>
                <a:ea typeface="Arial"/>
                <a:cs typeface="Arial"/>
              </a:rPr>
              <a:t>Sin afirmar una nueva ejecución de las 105 pruebas.</a:t>
            </a:r>
          </a:p>
        </p:txBody>
      </p:sp>
    </p:spTree>
    <p:extLst>
      <p:ext uri="{BB962C8B-B14F-4D97-AF65-F5344CB8AC3E}">
        <p14:creationId xmlns:p14="http://schemas.microsoft.com/office/powerpoint/2010/main" val="17560011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18F3B1-B5E8-4F14-96A4-B8A356146910}"/>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2638"/>
                </a:solidFill>
                <a:latin typeface="Arial"/>
                <a:ea typeface="Arial"/>
                <a:cs typeface="Arial"/>
              </a:defRPr>
            </a:pPr>
            <a:r>
              <a:rPr sz="3300" b="1">
                <a:solidFill>
                  <a:srgbClr val="102638"/>
                </a:solidFill>
                <a:latin typeface="Arial"/>
                <a:ea typeface="Arial"/>
                <a:cs typeface="Arial"/>
              </a:rPr>
              <a:t>Funciones logradas y pendientes</a:t>
            </a:r>
          </a:p>
        </p:txBody>
      </p:sp>
      <p:sp>
        <p:nvSpPr>
          <p:cNvPr id="2" name="">
            <a:extLst xmlns:a="http://schemas.openxmlformats.org/drawingml/2006/main">
              <a:ext uri="{FF2B5EF4-FFF2-40B4-BE49-F238E27FC236}">
                <a16:creationId xmlns:a16="http://schemas.microsoft.com/office/drawing/2014/main" id="{CD718F5F-2FAD-4009-824A-56F8A28BA25C}"/>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46772"/>
                </a:solidFill>
                <a:latin typeface="Arial"/>
                <a:ea typeface="Arial"/>
                <a:cs typeface="Arial"/>
              </a:defRPr>
            </a:pPr>
            <a:r>
              <a:rPr sz="1425" b="0">
                <a:solidFill>
                  <a:srgbClr val="546772"/>
                </a:solidFill>
                <a:latin typeface="Arial"/>
                <a:ea typeface="Arial"/>
                <a:cs typeface="Arial"/>
              </a:rPr>
              <a:t>14 / 14     Daiana     18:30–20:00     1:30</a:t>
            </a:r>
          </a:p>
        </p:txBody>
      </p:sp>
      <p:sp>
        <p:nvSpPr>
          <p:cNvPr id="3" name="">
            <a:extLst xmlns:a="http://schemas.openxmlformats.org/drawingml/2006/main">
              <a:ext uri="{FF2B5EF4-FFF2-40B4-BE49-F238E27FC236}">
                <a16:creationId xmlns:a16="http://schemas.microsoft.com/office/drawing/2014/main" id="{16F76CD2-64AE-4091-B873-5D47819A3CE9}"/>
              </a:ext>
            </a:extLst>
          </p:cNvPr>
          <p:cNvSpPr>
            <a:spLocks xmlns:a="http://schemas.openxmlformats.org/drawingml/2006/main" noGrp="1"/>
          </p:cNvSpPr>
          <p:nvPr/>
        </p:nvSpPr>
        <p:spPr>
          <a:xfrm xmlns:a="http://schemas.openxmlformats.org/drawingml/2006/main">
            <a:off x="609600" y="15716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007F86"/>
                </a:solidFill>
                <a:latin typeface="Arial"/>
                <a:ea typeface="Arial"/>
                <a:cs typeface="Arial"/>
              </a:defRPr>
            </a:pPr>
            <a:r>
              <a:rPr sz="2400" b="1">
                <a:solidFill>
                  <a:srgbClr val="007F86"/>
                </a:solidFill>
                <a:latin typeface="Arial"/>
                <a:ea typeface="Arial"/>
                <a:cs typeface="Arial"/>
              </a:rPr>
              <a:t>Funciones logradas</a:t>
            </a:r>
          </a:p>
        </p:txBody>
      </p:sp>
      <p:sp>
        <p:nvSpPr>
          <p:cNvPr id="4" name="">
            <a:extLst xmlns:a="http://schemas.openxmlformats.org/drawingml/2006/main">
              <a:ext uri="{FF2B5EF4-FFF2-40B4-BE49-F238E27FC236}">
                <a16:creationId xmlns:a16="http://schemas.microsoft.com/office/drawing/2014/main" id="{C0A2F4CF-F760-4B49-85FA-B607FADA9486}"/>
              </a:ext>
            </a:extLst>
          </p:cNvPr>
          <p:cNvSpPr>
            <a:spLocks xmlns:a="http://schemas.openxmlformats.org/drawingml/2006/main" noGrp="1"/>
          </p:cNvSpPr>
          <p:nvPr/>
        </p:nvSpPr>
        <p:spPr>
          <a:xfrm xmlns:a="http://schemas.openxmlformats.org/drawingml/2006/main">
            <a:off x="609600" y="225742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638"/>
                </a:solidFill>
                <a:latin typeface="Arial"/>
                <a:ea typeface="Arial"/>
                <a:cs typeface="Arial"/>
              </a:defRPr>
            </a:pPr>
            <a:r>
              <a:rPr sz="2400" b="0">
                <a:solidFill>
                  <a:srgbClr val="102638"/>
                </a:solidFill>
                <a:latin typeface="Arial"/>
                <a:ea typeface="Arial"/>
                <a:cs typeface="Arial"/>
              </a:rPr>
              <a:t>Registro y acceso, catálogo, carrito propio y administración de productos.</a:t>
            </a:r>
          </a:p>
        </p:txBody>
      </p:sp>
      <p:sp>
        <p:nvSpPr>
          <p:cNvPr id="5" name="">
            <a:extLst xmlns:a="http://schemas.openxmlformats.org/drawingml/2006/main">
              <a:ext uri="{FF2B5EF4-FFF2-40B4-BE49-F238E27FC236}">
                <a16:creationId xmlns:a16="http://schemas.microsoft.com/office/drawing/2014/main" id="{CA125DC1-5E9D-4236-ACEB-58F07AAE834E}"/>
              </a:ext>
            </a:extLst>
          </p:cNvPr>
          <p:cNvSpPr>
            <a:spLocks xmlns:a="http://schemas.openxmlformats.org/drawingml/2006/main" noGrp="1"/>
          </p:cNvSpPr>
          <p:nvPr/>
        </p:nvSpPr>
        <p:spPr>
          <a:xfrm xmlns:a="http://schemas.openxmlformats.org/drawingml/2006/main">
            <a:off x="609600" y="3476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007F86"/>
                </a:solidFill>
                <a:latin typeface="Arial"/>
                <a:ea typeface="Arial"/>
                <a:cs typeface="Arial"/>
              </a:defRPr>
            </a:pPr>
            <a:r>
              <a:rPr sz="2400" b="1">
                <a:solidFill>
                  <a:srgbClr val="007F86"/>
                </a:solidFill>
                <a:latin typeface="Arial"/>
                <a:ea typeface="Arial"/>
                <a:cs typeface="Arial"/>
              </a:rPr>
              <a:t>Flujos pendientes</a:t>
            </a:r>
          </a:p>
        </p:txBody>
      </p:sp>
      <p:sp>
        <p:nvSpPr>
          <p:cNvPr id="6" name="">
            <a:extLst xmlns:a="http://schemas.openxmlformats.org/drawingml/2006/main">
              <a:ext uri="{FF2B5EF4-FFF2-40B4-BE49-F238E27FC236}">
                <a16:creationId xmlns:a16="http://schemas.microsoft.com/office/drawing/2014/main" id="{2C1B3EC2-B870-44EE-8F61-3ACD9BB4B52A}"/>
              </a:ext>
            </a:extLst>
          </p:cNvPr>
          <p:cNvSpPr>
            <a:spLocks xmlns:a="http://schemas.openxmlformats.org/drawingml/2006/main" noGrp="1"/>
          </p:cNvSpPr>
          <p:nvPr/>
        </p:nvSpPr>
        <p:spPr>
          <a:xfrm xmlns:a="http://schemas.openxmlformats.org/drawingml/2006/main">
            <a:off x="609600" y="41529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02638"/>
                </a:solidFill>
                <a:latin typeface="Arial"/>
                <a:ea typeface="Arial"/>
                <a:cs typeface="Arial"/>
              </a:defRPr>
            </a:pPr>
            <a:r>
              <a:rPr sz="2250" b="0">
                <a:solidFill>
                  <a:srgbClr val="102638"/>
                </a:solidFill>
                <a:latin typeface="Arial"/>
                <a:ea typeface="Arial"/>
                <a:cs typeface="Arial"/>
              </a:rPr>
              <a:t>Checkout MVC · Recuperación completa de contraseña</a:t>
            </a:r>
          </a:p>
          <a:p xmlns:a="http://schemas.openxmlformats.org/drawingml/2006/main">
            <a:pPr algn="l">
              <a:defRPr sz="2250" b="0">
                <a:solidFill>
                  <a:srgbClr val="102638"/>
                </a:solidFill>
                <a:latin typeface="Arial"/>
                <a:ea typeface="Arial"/>
                <a:cs typeface="Arial"/>
              </a:defRPr>
            </a:pPr>
            <a:r>
              <a:rPr sz="2250" b="0">
                <a:solidFill>
                  <a:srgbClr val="102638"/>
                </a:solidFill>
                <a:latin typeface="Arial"/>
                <a:ea typeface="Arial"/>
                <a:cs typeface="Arial"/>
              </a:rPr>
              <a:t>Envío real desde contacto y garantía</a:t>
            </a:r>
          </a:p>
        </p:txBody>
      </p:sp>
      <p:sp>
        <p:nvSpPr>
          <p:cNvPr id="7" name="">
            <a:extLst xmlns:a="http://schemas.openxmlformats.org/drawingml/2006/main">
              <a:ext uri="{FF2B5EF4-FFF2-40B4-BE49-F238E27FC236}">
                <a16:creationId xmlns:a16="http://schemas.microsoft.com/office/drawing/2014/main" id="{3EB3B61B-7871-43AC-A5D8-DD1CC07C70BE}"/>
              </a:ext>
            </a:extLst>
          </p:cNvPr>
          <p:cNvSpPr>
            <a:spLocks xmlns:a="http://schemas.openxmlformats.org/drawingml/2006/main" noGrp="1"/>
          </p:cNvSpPr>
          <p:nvPr/>
        </p:nvSpPr>
        <p:spPr>
          <a:xfrm xmlns:a="http://schemas.openxmlformats.org/drawingml/2006/main">
            <a:off x="609600" y="5676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638"/>
                </a:solidFill>
                <a:latin typeface="Arial"/>
                <a:ea typeface="Arial"/>
                <a:cs typeface="Arial"/>
              </a:defRPr>
            </a:pPr>
            <a:r>
              <a:rPr sz="2175" b="1">
                <a:solidFill>
                  <a:srgbClr val="102638"/>
                </a:solidFill>
                <a:latin typeface="Arial"/>
                <a:ea typeface="Arial"/>
                <a:cs typeface="Arial"/>
              </a:rPr>
              <a:t>Cada función se explica por su solicitud y su respuesta.</a:t>
            </a:r>
          </a:p>
        </p:txBody>
      </p:sp>
    </p:spTree>
    <p:extLst>
      <p:ext uri="{BB962C8B-B14F-4D97-AF65-F5344CB8AC3E}">
        <p14:creationId xmlns:p14="http://schemas.microsoft.com/office/powerpoint/2010/main" val="629811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2026-10-01T22:11:22.8700000Z</dcterms:created>
  <dcterms:modified xsi:type="dcterms:W3CDTF">2026-10-01T22:11:22.8700000Z</dcterms:modified>
</coreProperties>
</file>