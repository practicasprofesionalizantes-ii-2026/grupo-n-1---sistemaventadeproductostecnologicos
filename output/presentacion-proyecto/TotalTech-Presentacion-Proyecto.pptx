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106d331dc94471" /><Relationship Type="http://schemas.openxmlformats.org/officeDocument/2006/relationships/extended-properties" Target="/docProps/app.xml" Id="Rf19240b3591341ff" /><Relationship Type="http://schemas.openxmlformats.org/officeDocument/2006/relationships/officeDocument" Target="/ppt/presentation.xml" Id="R4bb183040d214874" /></Relationships>
</file>

<file path=ppt/presentation.xml><?xml version="1.0" encoding="utf-8"?>
<p:presentation xmlns:p="http://schemas.openxmlformats.org/presentationml/2006/main">
  <p:sldMasterIdLst>
    <p:sldMasterId xmlns:r="http://schemas.openxmlformats.org/officeDocument/2006/relationships" id="2147483648" r:id="Rb6360b5d23da4cba"/>
  </p:sldMasterIdLst>
  <p:notesMasterIdLst>
    <p:notesMasterId xmlns:r="http://schemas.openxmlformats.org/officeDocument/2006/relationships" r:id="R53d4920f603540fb"/>
  </p:notesMasterIdLst>
  <p:sldIdLst>
    <p:sldId xmlns:r="http://schemas.openxmlformats.org/officeDocument/2006/relationships" id="256" r:id="Rc96a1bbdcb484453"/>
    <p:sldId xmlns:r="http://schemas.openxmlformats.org/officeDocument/2006/relationships" id="257" r:id="R53ea737f95954903"/>
    <p:sldId xmlns:r="http://schemas.openxmlformats.org/officeDocument/2006/relationships" id="258" r:id="Rb5610defd3dd4823"/>
    <p:sldId xmlns:r="http://schemas.openxmlformats.org/officeDocument/2006/relationships" id="259" r:id="Rd56862f16e5b4c77"/>
    <p:sldId xmlns:r="http://schemas.openxmlformats.org/officeDocument/2006/relationships" id="260" r:id="R7305a9f91c27475c"/>
    <p:sldId xmlns:r="http://schemas.openxmlformats.org/officeDocument/2006/relationships" id="261" r:id="R2ebe41ab4b9949e2"/>
    <p:sldId xmlns:r="http://schemas.openxmlformats.org/officeDocument/2006/relationships" id="262" r:id="R2686190281a84a78"/>
    <p:sldId xmlns:r="http://schemas.openxmlformats.org/officeDocument/2006/relationships" id="263" r:id="R92b800b982a4491e"/>
    <p:sldId xmlns:r="http://schemas.openxmlformats.org/officeDocument/2006/relationships" id="264" r:id="R82a221e06e914512"/>
    <p:sldId xmlns:r="http://schemas.openxmlformats.org/officeDocument/2006/relationships" id="265" r:id="Rfe53fae277504e6e"/>
    <p:sldId xmlns:r="http://schemas.openxmlformats.org/officeDocument/2006/relationships" id="266" r:id="Rfb6c2a6afd1b4587"/>
    <p:sldId xmlns:r="http://schemas.openxmlformats.org/officeDocument/2006/relationships" id="267" r:id="R3b23fb57f4d747a0"/>
    <p:sldId xmlns:r="http://schemas.openxmlformats.org/officeDocument/2006/relationships" id="268" r:id="Rc8b110d760ec45d4"/>
    <p:sldId xmlns:r="http://schemas.openxmlformats.org/officeDocument/2006/relationships" id="269" r:id="R672ef7a7bb6144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ccefa6bfd04f5d" /><Relationship Type="http://schemas.openxmlformats.org/officeDocument/2006/relationships/slideMaster" Target="/ppt/slideMasters/slideMaster1.xml" Id="Rb6360b5d23da4cba" /><Relationship Type="http://schemas.openxmlformats.org/officeDocument/2006/relationships/notesMaster" Target="/ppt/notesMasters/notesMaster1.xml" Id="R53d4920f603540fb" /><Relationship Type="http://schemas.openxmlformats.org/officeDocument/2006/relationships/presProps" Target="/ppt/presProps.xml" Id="R9f929a60e4b34168" /><Relationship Type="http://schemas.openxmlformats.org/officeDocument/2006/relationships/tableStyles" Target="/ppt/tableStyles.xml" Id="Ra806de295bb94c0c" /><Relationship Type="http://schemas.openxmlformats.org/officeDocument/2006/relationships/slide" Target="/ppt/slides/slide1.xml" Id="Rc96a1bbdcb484453" /><Relationship Type="http://schemas.openxmlformats.org/officeDocument/2006/relationships/slide" Target="/ppt/slides/slide2.xml" Id="R53ea737f95954903" /><Relationship Type="http://schemas.openxmlformats.org/officeDocument/2006/relationships/slide" Target="/ppt/slides/slide3.xml" Id="Rb5610defd3dd4823" /><Relationship Type="http://schemas.openxmlformats.org/officeDocument/2006/relationships/slide" Target="/ppt/slides/slide4.xml" Id="Rd56862f16e5b4c77" /><Relationship Type="http://schemas.openxmlformats.org/officeDocument/2006/relationships/slide" Target="/ppt/slides/slide5.xml" Id="R7305a9f91c27475c" /><Relationship Type="http://schemas.openxmlformats.org/officeDocument/2006/relationships/slide" Target="/ppt/slides/slide6.xml" Id="R2ebe41ab4b9949e2" /><Relationship Type="http://schemas.openxmlformats.org/officeDocument/2006/relationships/slide" Target="/ppt/slides/slide7.xml" Id="R2686190281a84a78" /><Relationship Type="http://schemas.openxmlformats.org/officeDocument/2006/relationships/slide" Target="/ppt/slides/slide8.xml" Id="R92b800b982a4491e" /><Relationship Type="http://schemas.openxmlformats.org/officeDocument/2006/relationships/slide" Target="/ppt/slides/slide9.xml" Id="R82a221e06e914512" /><Relationship Type="http://schemas.openxmlformats.org/officeDocument/2006/relationships/slide" Target="/ppt/slides/slide10.xml" Id="Rfe53fae277504e6e" /><Relationship Type="http://schemas.openxmlformats.org/officeDocument/2006/relationships/slide" Target="/ppt/slides/slide11.xml" Id="Rfb6c2a6afd1b4587" /><Relationship Type="http://schemas.openxmlformats.org/officeDocument/2006/relationships/slide" Target="/ppt/slides/slide12.xml" Id="R3b23fb57f4d747a0" /><Relationship Type="http://schemas.openxmlformats.org/officeDocument/2006/relationships/slide" Target="/ppt/slides/slide13.xml" Id="Rc8b110d760ec45d4" /><Relationship Type="http://schemas.openxmlformats.org/officeDocument/2006/relationships/slide" Target="/ppt/slides/slide14.xml" Id="R672ef7a7bb6144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293d13e7ac4d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85be1e527641fb" /><Relationship Type="http://schemas.openxmlformats.org/officeDocument/2006/relationships/notesMaster" Target="/ppt/notesMasters/notesMaster1.xml" Id="Rdb2aef4249a24e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989295282c44b1" /><Relationship Type="http://schemas.openxmlformats.org/officeDocument/2006/relationships/notesMaster" Target="/ppt/notesMasters/notesMaster1.xml" Id="Re83ba30844ed49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2789ff2e35496a" /><Relationship Type="http://schemas.openxmlformats.org/officeDocument/2006/relationships/notesMaster" Target="/ppt/notesMasters/notesMaster1.xml" Id="Rf1b97b57fbc44b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4bd104a38f4825" /><Relationship Type="http://schemas.openxmlformats.org/officeDocument/2006/relationships/notesMaster" Target="/ppt/notesMasters/notesMaster1.xml" Id="R83b95b6701b249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7955674c034bc2" /><Relationship Type="http://schemas.openxmlformats.org/officeDocument/2006/relationships/notesMaster" Target="/ppt/notesMasters/notesMaster1.xml" Id="R0d141188312341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1e6d25661641b4" /><Relationship Type="http://schemas.openxmlformats.org/officeDocument/2006/relationships/notesMaster" Target="/ppt/notesMasters/notesMaster1.xml" Id="R1da611b210c244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8c38c745c64c17" /><Relationship Type="http://schemas.openxmlformats.org/officeDocument/2006/relationships/notesMaster" Target="/ppt/notesMasters/notesMaster1.xml" Id="R55530d617ea140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d6d5a995294586" /><Relationship Type="http://schemas.openxmlformats.org/officeDocument/2006/relationships/notesMaster" Target="/ppt/notesMasters/notesMaster1.xml" Id="Rca843c8a44a84e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3fd60dd26845bd" /><Relationship Type="http://schemas.openxmlformats.org/officeDocument/2006/relationships/notesMaster" Target="/ppt/notesMasters/notesMaster1.xml" Id="R2f86eec702f246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8e1dd8bce74e79" /><Relationship Type="http://schemas.openxmlformats.org/officeDocument/2006/relationships/notesMaster" Target="/ppt/notesMasters/notesMaster1.xml" Id="R60a3ae02ce644c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d1d483924246fb" /><Relationship Type="http://schemas.openxmlformats.org/officeDocument/2006/relationships/notesMaster" Target="/ppt/notesMasters/notesMaster1.xml" Id="R5185ae9703df4d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a8dfe4b41c4ede" /><Relationship Type="http://schemas.openxmlformats.org/officeDocument/2006/relationships/notesMaster" Target="/ppt/notesMasters/notesMaster1.xml" Id="R09a52b8a9f124f8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1cd11d7cb2418d" /><Relationship Type="http://schemas.openxmlformats.org/officeDocument/2006/relationships/notesMaster" Target="/ppt/notesMasters/notesMaster1.xml" Id="R0d7740467bfb47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18142bddd64bda" /><Relationship Type="http://schemas.openxmlformats.org/officeDocument/2006/relationships/notesMaster" Target="/ppt/notesMasters/notesMaster1.xml" Id="R570e1adc0ca745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Facundo · 0:00–0:30 · 0:30</a:t>
            </a:r>
          </a:p>
          <a:p xmlns:a="http://schemas.openxmlformats.org/drawingml/2006/main">
            <a:r>
              <a:t/>
            </a:r>
          </a:p>
          <a:p xmlns:a="http://schemas.openxmlformats.org/drawingml/2006/main">
            <a:r>
              <a:t>Presentar equipo y objetivo. No enumerar tecnologías todavía.</a:t>
            </a:r>
          </a:p>
          <a:p xmlns:a="http://schemas.openxmlformats.org/drawingml/2006/main">
            <a:r>
              <a:t/>
            </a:r>
          </a:p>
          <a:p xmlns:a="http://schemas.openxmlformats.org/drawingml/2006/main">
            <a:r>
              <a:t>INTERVENCIÓN</a:t>
            </a:r>
          </a:p>
          <a:p xmlns:a="http://schemas.openxmlformats.org/drawingml/2006/main">
            <a:r>
              <a:t>Somos Facundo Sola y Daiana Chinellato. Presentamos TotalTech, un sistema de venta de productos tecnológicos. Vamos a mostrar el problema que aborda, el alcance disponible y cómo una acción del usuario llega al código y vuelve a la pantalla. Seguiremos a un cliente que prepara su compra y al administrador que mantiene el catálogo.</a:t>
            </a:r>
          </a:p>
          <a:p xmlns:a="http://schemas.openxmlformats.org/drawingml/2006/main">
            <a:r>
              <a:t/>
            </a:r>
          </a:p>
          <a:p xmlns:a="http://schemas.openxmlformats.org/drawingml/2006/main">
            <a:r>
              <a:t>TRANSICIÓN</a:t>
            </a:r>
          </a:p>
          <a:p xmlns:a="http://schemas.openxmlformats.org/drawingml/2006/main">
            <a:r>
              <a:t>Daiana presenta el problema que dio origen al proyecto.</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3</a:t>
            </a:r>
          </a:p>
          <a:p xmlns:a="http://schemas.openxmlformats.org/drawingml/2006/main">
            <a:r>
              <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Daiana · 0:30–1:15 · 0:45</a:t>
            </a:r>
          </a:p>
          <a:p xmlns:a="http://schemas.openxmlformats.org/drawingml/2006/main">
            <a:r>
              <a:t/>
            </a:r>
          </a:p>
          <a:p xmlns:a="http://schemas.openxmlformats.org/drawingml/2006/main">
            <a:r>
              <a:t>Relacionar cada problema con su consecuencia. No inventar porcentajes de mejora.</a:t>
            </a:r>
          </a:p>
          <a:p xmlns:a="http://schemas.openxmlformats.org/drawingml/2006/main">
            <a:r>
              <a:t/>
            </a:r>
          </a:p>
          <a:p xmlns:a="http://schemas.openxmlformats.org/drawingml/2006/main">
            <a:r>
              <a:t>INTERVENCIÓN</a:t>
            </a:r>
          </a:p>
          <a:p xmlns:a="http://schemas.openxmlformats.org/drawingml/2006/main">
            <a:r>
              <a:t>La documentación describe una operación con herramientas dispersas y tareas manuales. Esa situación provoca demoras, errores en la disponibilidad de stock y dificultades para seguir las ventas. TotalTech propone centralizar la información y los procesos comerciales. El objetivo de negocio es que el cliente encuentre información clara y que la administración mantenga los productos desde un mismo sistema. Estos problemas provienen del diagnóstico documental; no son mediciones de impacto obtenidas después de implantar el proyecto.</a:t>
            </a:r>
          </a:p>
          <a:p xmlns:a="http://schemas.openxmlformats.org/drawingml/2006/main">
            <a:r>
              <a:t/>
            </a:r>
          </a:p>
          <a:p xmlns:a="http://schemas.openxmlformats.org/drawingml/2006/main">
            <a:r>
              <a:t>TRANSICIÓN</a:t>
            </a:r>
          </a:p>
          <a:p xmlns:a="http://schemas.openxmlformats.org/drawingml/2006/main">
            <a:r>
              <a:t>Facundo conecta ese problema con las personas que usan la solución.</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3</a:t>
            </a:r>
          </a:p>
          <a:p xmlns:a="http://schemas.openxmlformats.org/drawingml/2006/main">
            <a:r>
              <a:t>C:/Users/facu_/Documents/GitHub/Grupo-N-1---SistemaVentaDeProductosTecnologicos/Grupo-N-1---SistemaVentaDeProductosTecnologicos/Documentacion/Documentación - Grupo 1 -TotalTech.pdf · página 4</a:t>
            </a:r>
          </a:p>
          <a:p xmlns:a="http://schemas.openxmlformats.org/drawingml/2006/main">
            <a:r>
              <a:t>C:/Users/facu_/Documents/GitHub/Grupo-N-1---SistemaVentaDeProductosTecnologicos/Grupo-N-1---SistemaVentaDeProductosTecnologicos/Documentacion/Documentación - Grupo 1 -TotalTech.pdf · página 5</a:t>
            </a:r>
          </a:p>
          <a:p xmlns:a="http://schemas.openxmlformats.org/drawingml/2006/main">
            <a:r>
              <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Facundo · 1:15–2:00 · 0:45</a:t>
            </a:r>
          </a:p>
          <a:p xmlns:a="http://schemas.openxmlformats.org/drawingml/2006/main">
            <a:r>
              <a:t/>
            </a:r>
          </a:p>
          <a:p xmlns:a="http://schemas.openxmlformats.org/drawingml/2006/main">
            <a:r>
              <a:t>Señalar los dos recorridos. No afirmar que solo existen dos roles documentados.</a:t>
            </a:r>
          </a:p>
          <a:p xmlns:a="http://schemas.openxmlformats.org/drawingml/2006/main">
            <a:r>
              <a:t/>
            </a:r>
          </a:p>
          <a:p xmlns:a="http://schemas.openxmlformats.org/drawingml/2006/main">
            <a:r>
              <a:t>INTERVENCIÓN</a:t>
            </a:r>
          </a:p>
          <a:p xmlns:a="http://schemas.openxmlformats.org/drawingml/2006/main">
            <a:r>
              <a:t>Para explicar esta entrega elegimos dos actores. El cliente quiere encontrar un producto, conocer su disponibilidad y organizar lo que desea comprar. El administrador necesita mantener precio, stock e imágenes. Usaremos un cliente ficticio que busca una notebook y un administrador que incorpora un producto para la exposición. Sus recorridos se encuentran en el catálogo: lo que administra uno es lo que consulta el otro. La documentación incluye otros interesados, pero estos dos actores permiten mostrar las capacidades elegidas en veinte minutos.</a:t>
            </a:r>
          </a:p>
          <a:p xmlns:a="http://schemas.openxmlformats.org/drawingml/2006/main">
            <a:r>
              <a:t/>
            </a:r>
          </a:p>
          <a:p xmlns:a="http://schemas.openxmlformats.org/drawingml/2006/main">
            <a:r>
              <a:t>TRANSICIÓN</a:t>
            </a:r>
          </a:p>
          <a:p xmlns:a="http://schemas.openxmlformats.org/drawingml/2006/main">
            <a:r>
              <a:t>Daiana delimita qué parte de esa visión está disponible hoy.</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6</a:t>
            </a:r>
          </a:p>
          <a:p xmlns:a="http://schemas.openxmlformats.org/drawingml/2006/main">
            <a:r>
              <a:t>C:/Users/facu_/Documents/GitHub/Grupo-N-1---SistemaVentaDeProductosTecnologicos/Grupo-N-1---SistemaVentaDeProductosTecnologicos/Documentacion/Casos de Uso- Totaltech.pdf · página 2</a:t>
            </a:r>
          </a:p>
          <a:p xmlns:a="http://schemas.openxmlformats.org/drawingml/2006/main">
            <a:r>
              <a:t>C:/Users/facu_/Documents/GitHub/Grupo-N-1---SistemaVentaDeProductosTecnologicos/Grupo-N-1---SistemaVentaDeProductosTecnologicos/Documentacion/Casos de Uso- Totaltech.pdf · página 3</a:t>
            </a:r>
          </a:p>
          <a:p xmlns:a="http://schemas.openxmlformats.org/drawingml/2006/main">
            <a:r>
              <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Daiana · 2:00–3:00 · 1:00</a:t>
            </a:r>
          </a:p>
          <a:p xmlns:a="http://schemas.openxmlformats.org/drawingml/2006/main">
            <a:r>
              <a:t/>
            </a:r>
          </a:p>
          <a:p xmlns:a="http://schemas.openxmlformats.org/drawingml/2006/main">
            <a:r>
              <a:t>Distinguir visión, entrega y pendientes sin recorrer todos los módulos.</a:t>
            </a:r>
          </a:p>
          <a:p xmlns:a="http://schemas.openxmlformats.org/drawingml/2006/main">
            <a:r>
              <a:t/>
            </a:r>
          </a:p>
          <a:p xmlns:a="http://schemas.openxmlformats.org/drawingml/2006/main">
            <a:r>
              <a:t>INTERVENCIÓN</a:t>
            </a:r>
          </a:p>
          <a:p xmlns:a="http://schemas.openxmlformats.org/drawingml/2006/main">
            <a:r>
              <a:t>La visión original abarca comercio electrónico, pedidos, pagos y atención al cliente. La entrega que mostraremos permite registrarse, iniciar sesión, consultar el catálogo, gestionar un carrito propio y administrar productos. Para delimitar el alcance contrastamos tres fuentes: requisitos, casos de uso y documentación actual de API. Después seguimos sus rutas en el código. Un endpoint existente no demuestra por sí solo que el recorrido desde una pantalla esté completo. Por eso el checkout MVC, la recuperación integral de contraseña y el envío desde contacto o garantía aparecen como pendientes. Esta separación permite evaluar lo entregado con evidencia concreta.</a:t>
            </a:r>
          </a:p>
          <a:p xmlns:a="http://schemas.openxmlformats.org/drawingml/2006/main">
            <a:r>
              <a:t/>
            </a:r>
          </a:p>
          <a:p xmlns:a="http://schemas.openxmlformats.org/drawingml/2006/main">
            <a:r>
              <a:t>TRANSICIÓN</a:t>
            </a:r>
          </a:p>
          <a:p xmlns:a="http://schemas.openxmlformats.org/drawingml/2006/main">
            <a:r>
              <a:t>Facundo muestra el listado de capacidades y su referencia oficial.</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7</a:t>
            </a:r>
          </a:p>
          <a:p xmlns:a="http://schemas.openxmlformats.org/drawingml/2006/main">
            <a:r>
              <a:t>C:/Users/facu_/Documents/GitHub/Grupo-N-1---SistemaVentaDeProductosTecnologicos/Grupo-N-1---SistemaVentaDeProductosTecnologicos/Documentacion/Documentación de API.pdf · página 3</a:t>
            </a:r>
          </a:p>
          <a:p xmlns:a="http://schemas.openxmlformats.org/drawingml/2006/main">
            <a:r>
              <a:t>C:/Users/facu_/Documents/GitHub/Grupo-N-1---SistemaVentaDeProductosTecnologicos/Grupo-N-1---SistemaVentaDeProductosTecnologicos/Documentacion/Documentación de API.pdf · página 35</a:t>
            </a:r>
          </a:p>
          <a:p xmlns:a="http://schemas.openxmlformats.org/drawingml/2006/main">
            <a:r>
              <a:t>C:/Users/facu_/Documents/GitHub/Grupo-N-1---SistemaVentaDeProductosTecnologicos/Grupo-N-1---SistemaVentaDeProductosTecnologicos/Documentacion/Documentación de API.pdf · página 36</a:t>
            </a:r>
          </a:p>
          <a:p xmlns:a="http://schemas.openxmlformats.org/drawingml/2006/main">
            <a:r>
              <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Facundo · 3:00–4:15 · 1:15</a:t>
            </a:r>
          </a:p>
          <a:p xmlns:a="http://schemas.openxmlformats.org/drawingml/2006/main">
            <a:r>
              <a:t/>
            </a:r>
          </a:p>
          <a:p xmlns:a="http://schemas.openxmlformats.org/drawingml/2006/main">
            <a:r>
              <a:t>Leer los cinco escenarios y explicar brevemente la discrepancia del carrito.</a:t>
            </a:r>
          </a:p>
          <a:p xmlns:a="http://schemas.openxmlformats.org/drawingml/2006/main">
            <a:r>
              <a:t/>
            </a:r>
          </a:p>
          <a:p xmlns:a="http://schemas.openxmlformats.org/drawingml/2006/main">
            <a:r>
              <a:t>INTERVENCIÓN</a:t>
            </a:r>
          </a:p>
          <a:p xmlns:a="http://schemas.openxmlformats.org/drawingml/2006/main">
            <a:r>
              <a:t>Esta tabla reúne los cinco requerimientos funcionales concretos de la exposición. Registro e inicio de sesión provienen de RF5, gestión de usuarios, y se relacionan con UC-01 y UC-02. Catálogo y detalle pertenecen a RF2 y combinan explorar, buscar y consultar, identificados como UC-07, UC-08 y UC-09. El carrito se apoya en RF3 y en la API actual. La administración de productos corresponde a RF1 y UC-19. No estamos cambiando la numeración oficial: seleccionamos capacidades dentro de esos grupos. Hay una diferencia documental relevante: el listado histórico de casos de uso plantea checkout sin carrito, mientras que los requisitos y el código actual sí incluyen carrito. La presentación conserva esa diferencia y explica el comportamiento vigente.</a:t>
            </a:r>
          </a:p>
          <a:p xmlns:a="http://schemas.openxmlformats.org/drawingml/2006/main">
            <a:r>
              <a:t/>
            </a:r>
          </a:p>
          <a:p xmlns:a="http://schemas.openxmlformats.org/drawingml/2006/main">
            <a:r>
              <a:t>TRANSICIÓN</a:t>
            </a:r>
          </a:p>
          <a:p xmlns:a="http://schemas.openxmlformats.org/drawingml/2006/main">
            <a:r>
              <a:t>Daiana inicia el recorrido del cliente con el registro.</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8</a:t>
            </a:r>
          </a:p>
          <a:p xmlns:a="http://schemas.openxmlformats.org/drawingml/2006/main">
            <a:r>
              <a:t>C:/Users/facu_/Documents/GitHub/Grupo-N-1---SistemaVentaDeProductosTecnologicos/Grupo-N-1---SistemaVentaDeProductosTecnologicos/Documentacion/Casos de Uso- Totaltech.pdf · página 2</a:t>
            </a:r>
          </a:p>
          <a:p xmlns:a="http://schemas.openxmlformats.org/drawingml/2006/main">
            <a:r>
              <a:t>C:/Users/facu_/Documents/GitHub/Grupo-N-1---SistemaVentaDeProductosTecnologicos/Grupo-N-1---SistemaVentaDeProductosTecnologicos/Documentacion/Casos de Uso- Totaltech.pdf · página 3</a:t>
            </a:r>
          </a:p>
          <a:p xmlns:a="http://schemas.openxmlformats.org/drawingml/2006/main">
            <a:r>
              <a:t>C:/Users/facu_/Documents/GitHub/Grupo-N-1---SistemaVentaDeProductosTecnologicos/Grupo-N-1---SistemaVentaDeProductosTecnologicos/Documentacion/Casos de Uso- Totaltech.pdf · página 5</a:t>
            </a:r>
          </a:p>
          <a:p xmlns:a="http://schemas.openxmlformats.org/drawingml/2006/main">
            <a:r>
              <a:t>C:/Users/facu_/Documents/GitHub/Grupo-N-1---SistemaVentaDeProductosTecnologicos/Grupo-N-1---SistemaVentaDeProductosTecnologicos/Documentacion/Documentación de API.pdf · página 9</a:t>
            </a:r>
          </a:p>
          <a:p xmlns:a="http://schemas.openxmlformats.org/drawingml/2006/main">
            <a:r>
              <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Daiana · 4:15–5:45 · 1:30</a:t>
            </a:r>
          </a:p>
          <a:p xmlns:a="http://schemas.openxmlformats.org/drawingml/2006/main">
            <a:r>
              <a:t/>
            </a:r>
          </a:p>
          <a:p xmlns:a="http://schemas.openxmlformats.org/drawingml/2006/main">
            <a:r>
              <a:t>30 s de demostración. 60 s de explicación. Sin captura de registro: usar el diagrama como respaldo.</a:t>
            </a:r>
          </a:p>
          <a:p xmlns:a="http://schemas.openxmlformats.org/drawingml/2006/main">
            <a:r>
              <a:t/>
            </a:r>
          </a:p>
          <a:p xmlns:a="http://schemas.openxmlformats.org/drawingml/2006/main">
            <a:r>
              <a:t>DEMOSTRACIÓN</a:t>
            </a:r>
          </a:p>
          <a:p xmlns:a="http://schemas.openxmlformats.org/drawingml/2006/main">
            <a:r>
              <a:t>0–10 s: abrir /Home/Register con datos ficticios preparados.</a:t>
            </a:r>
          </a:p>
          <a:p xmlns:a="http://schemas.openxmlformats.org/drawingml/2006/main">
            <a:r>
              <a:t>10–22 s: enviar el formulario válido.</a:t>
            </a:r>
          </a:p>
          <a:p xmlns:a="http://schemas.openxmlformats.org/drawingml/2006/main">
            <a:r>
              <a:t>22–30 s: señalar la redirección a Login.</a:t>
            </a:r>
          </a:p>
          <a:p xmlns:a="http://schemas.openxmlformats.org/drawingml/2006/main">
            <a:r>
              <a:t/>
            </a:r>
          </a:p>
          <a:p xmlns:a="http://schemas.openxmlformats.org/drawingml/2006/main">
            <a:r>
              <a:t>INTERVENCIÓN</a:t>
            </a:r>
          </a:p>
          <a:p xmlns:a="http://schemas.openxmlformats.org/drawingml/2006/main">
            <a:r>
              <a:t>El registro responde a RF5 y UC-01. La vista Register.cshtml envía los datos a HomeController.Register. MVC valida el formulario y normaliza el email; luego utiliza IHttpClientFactory para enviar POST auth/registro. El endpoint convierte el contrato recibido y llama a UsuariosLogica.RegistrarAsync. Allí se fija el rol Cliente. CrearAsync verifica el duplicado, valida la contraseña y genera su hash. UsuariosRepositorio guarda el usuario mediante Entity Framework en SQL Server. El endpoint devuelve un usuario público con estado 201 y MVC redirige a Login. Si el email ya existe, la API responde 409 y el controlador lo convierte en un mensaje junto al campo. La contraseña no se devuelve en la respuesta. La prueba de registro con rol administrativo comprueba que el servidor fuerza Cliente.</a:t>
            </a:r>
          </a:p>
          <a:p xmlns:a="http://schemas.openxmlformats.org/drawingml/2006/main">
            <a:r>
              <a:t/>
            </a:r>
          </a:p>
          <a:p xmlns:a="http://schemas.openxmlformats.org/drawingml/2006/main">
            <a:r>
              <a:t>TRANSICIÓN</a:t>
            </a:r>
          </a:p>
          <a:p xmlns:a="http://schemas.openxmlformats.org/drawingml/2006/main">
            <a:r>
              <a:t>La cuenta ya existe. Facundo explica cómo se inicia y se conserva la sesión.</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8</a:t>
            </a:r>
          </a:p>
          <a:p xmlns:a="http://schemas.openxmlformats.org/drawingml/2006/main">
            <a:r>
              <a:t>C:/Users/facu_/Documents/GitHub/Grupo-N-1---SistemaVentaDeProductosTecnologicos/Grupo-N-1---SistemaVentaDeProductosTecnologicos/Documentacion/Casos de Uso- Totaltech.pdf · página 2</a:t>
            </a:r>
          </a:p>
          <a:p xmlns:a="http://schemas.openxmlformats.org/drawingml/2006/main">
            <a:r>
              <a:t>C:/Users/facu_/Documents/GitHub/Grupo-N-1---SistemaVentaDeProductosTecnologicos/Grupo-N-1---SistemaVentaDeProductosTecnologicos/Documentacion/Documentación de API.pdf · página 7</a:t>
            </a:r>
          </a:p>
          <a:p xmlns:a="http://schemas.openxmlformats.org/drawingml/2006/main">
            <a:r>
              <a:t>view: Frontend/Views/Home/Register.cshtml</a:t>
            </a:r>
          </a:p>
          <a:p xmlns:a="http://schemas.openxmlformats.org/drawingml/2006/main">
            <a:r>
              <a:t>mvc: Frontend/Controllers/HomeController.cs</a:t>
            </a:r>
          </a:p>
          <a:p xmlns:a="http://schemas.openxmlformats.org/drawingml/2006/main">
            <a:r>
              <a:t>service: IHttpClientFactory.CreateClient("TotaltechApi")</a:t>
            </a:r>
          </a:p>
          <a:p xmlns:a="http://schemas.openxmlformats.org/drawingml/2006/main">
            <a:r>
              <a:t>endpointFile: Totaltech/Endpoints/AuthEndpoints.cs</a:t>
            </a:r>
          </a:p>
          <a:p xmlns:a="http://schemas.openxmlformats.org/drawingml/2006/main">
            <a:r>
              <a:t>logic: Totaltech/Logica/UsuariosLogica.cs</a:t>
            </a:r>
          </a:p>
          <a:p xmlns:a="http://schemas.openxmlformats.org/drawingml/2006/main">
            <a:r>
              <a:t>repo: Totaltech/Repositorios/UsuariosRepositorio.cs</a:t>
            </a:r>
          </a:p>
          <a:p xmlns:a="http://schemas.openxmlformats.org/drawingml/2006/main">
            <a:r>
              <a:t>testFile: Tests/Totaltech.IntegrationTests/Endpoints/SeguridadEndpointsTests.cs</a:t>
            </a:r>
          </a:p>
          <a:p xmlns:a="http://schemas.openxmlformats.org/drawingml/2006/main">
            <a:r>
              <a:t>Métodos: HomeController.Register; UsuariosLogica.RegistrarAsync / CrearAsync; UsuariosRepositorio.CrearAsync</a:t>
            </a:r>
          </a:p>
          <a:p xmlns:a="http://schemas.openxmlformats.org/drawingml/2006/main">
            <a:r>
              <a:t>Prueba existente: RegistroConRolAdministrador_FuerzaClienteYHasheaPassword</a:t>
            </a:r>
          </a:p>
          <a:p xmlns:a="http://schemas.openxmlformats.org/drawingml/2006/main">
            <a:r>
              <a:t>201: usuario público. MVC redirige a Login. Email duplicado: 409.</a:t>
            </a:r>
          </a:p>
          <a:p xmlns:a="http://schemas.openxmlformats.org/drawingml/2006/main">
            <a:r>
              <a:t>La API fija el rol Cliente y almacena un hash de la contraseña.</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Facundo · 5:45–7:15 · 1:30</a:t>
            </a:r>
          </a:p>
          <a:p xmlns:a="http://schemas.openxmlformats.org/drawingml/2006/main">
            <a:r>
              <a:t/>
            </a:r>
          </a:p>
          <a:p xmlns:a="http://schemas.openxmlformats.org/drawingml/2006/main">
            <a:r>
              <a:t>30 s de demostración y 60 s de código. Nunca mostrar tokens o contraseñas.</a:t>
            </a:r>
          </a:p>
          <a:p xmlns:a="http://schemas.openxmlformats.org/drawingml/2006/main">
            <a:r>
              <a:t/>
            </a:r>
          </a:p>
          <a:p xmlns:a="http://schemas.openxmlformats.org/drawingml/2006/main">
            <a:r>
              <a:t>DEMOSTRACIÓN</a:t>
            </a:r>
          </a:p>
          <a:p xmlns:a="http://schemas.openxmlformats.org/drawingml/2006/main">
            <a:r>
              <a:t>0–10 s: abrir Login con el email del cliente de demostración.</a:t>
            </a:r>
          </a:p>
          <a:p xmlns:a="http://schemas.openxmlformats.org/drawingml/2006/main">
            <a:r>
              <a:t>10–23 s: ingresar credenciales y enviar.</a:t>
            </a:r>
          </a:p>
          <a:p xmlns:a="http://schemas.openxmlformats.org/drawingml/2006/main">
            <a:r>
              <a:t>23–30 s: mostrar la sesión iniciada.</a:t>
            </a:r>
          </a:p>
          <a:p xmlns:a="http://schemas.openxmlformats.org/drawingml/2006/main">
            <a:r>
              <a:t/>
            </a:r>
          </a:p>
          <a:p xmlns:a="http://schemas.openxmlformats.org/drawingml/2006/main">
            <a:r>
              <a:t>INTERVENCIÓN</a:t>
            </a:r>
          </a:p>
          <a:p xmlns:a="http://schemas.openxmlformats.org/drawingml/2006/main">
            <a:r>
              <a:t>Login.cshtml envía las credenciales a HomeController.Login. De nuevo se usa IHttpClientFactory para llamar a auth/login. La API busca el usuario y UsuariosLogica verifica el hash. Con credenciales válidas, JwtTokenService emite el token. El JSON vuelve al controlador con los datos públicos y el vencimiento. MVC crea los claims, guarda access_token en las propiedades de autenticación y ejecuta SignInAsync. Así se crea la cookie Totaltech.Auth para navegar por el sitio. Para las llamadas posteriores, ApiBearerTokenHandler agrega el JWT como Bearer. La cookie y el token cumplen funciones diferentes. Una contraseña incorrecta produce 401; un email inexistente produce 404 y el frontend ofrece el registro. Los permisos administrativos se verifican también del lado servidor.</a:t>
            </a:r>
          </a:p>
          <a:p xmlns:a="http://schemas.openxmlformats.org/drawingml/2006/main">
            <a:r>
              <a:t/>
            </a:r>
          </a:p>
          <a:p xmlns:a="http://schemas.openxmlformats.org/drawingml/2006/main">
            <a:r>
              <a:t>TRANSICIÓN</a:t>
            </a:r>
          </a:p>
          <a:p xmlns:a="http://schemas.openxmlformats.org/drawingml/2006/main">
            <a:r>
              <a:t>Con la sesión iniciada, Daiana muestra cómo encontrar un producto.</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de API.pdf · página 5</a:t>
            </a:r>
          </a:p>
          <a:p xmlns:a="http://schemas.openxmlformats.org/drawingml/2006/main">
            <a:r>
              <a:t>C:/Users/facu_/Documents/GitHub/Grupo-N-1---SistemaVentaDeProductosTecnologicos/Grupo-N-1---SistemaVentaDeProductosTecnologicos/Documentacion/Documentación de API.pdf · página 7</a:t>
            </a:r>
          </a:p>
          <a:p xmlns:a="http://schemas.openxmlformats.org/drawingml/2006/main">
            <a:r>
              <a:t>C:/Users/facu_/Documents/GitHub/Grupo-N-1---SistemaVentaDeProductosTecnologicos/Grupo-N-1---SistemaVentaDeProductosTecnologicos/Documentacion/Casos de Uso- Totaltech.pdf · página 2</a:t>
            </a:r>
          </a:p>
          <a:p xmlns:a="http://schemas.openxmlformats.org/drawingml/2006/main">
            <a:r>
              <a:t>view: Frontend/Views/Home/Login.cshtml</a:t>
            </a:r>
          </a:p>
          <a:p xmlns:a="http://schemas.openxmlformats.org/drawingml/2006/main">
            <a:r>
              <a:t>mvc: Frontend/Controllers/HomeController.cs</a:t>
            </a:r>
          </a:p>
          <a:p xmlns:a="http://schemas.openxmlformats.org/drawingml/2006/main">
            <a:r>
              <a:t>service: IHttpClientFactory.CreateClient("TotaltechApi")</a:t>
            </a:r>
          </a:p>
          <a:p xmlns:a="http://schemas.openxmlformats.org/drawingml/2006/main">
            <a:r>
              <a:t>endpointFile: Totaltech/Endpoints/AuthEndpoints.cs</a:t>
            </a:r>
          </a:p>
          <a:p xmlns:a="http://schemas.openxmlformats.org/drawingml/2006/main">
            <a:r>
              <a:t>logic: Totaltech/Logica/UsuariosLogica.cs</a:t>
            </a:r>
          </a:p>
          <a:p xmlns:a="http://schemas.openxmlformats.org/drawingml/2006/main">
            <a:r>
              <a:t>repo: Totaltech/Repositorios/UsuariosRepositorio.cs</a:t>
            </a:r>
          </a:p>
          <a:p xmlns:a="http://schemas.openxmlformats.org/drawingml/2006/main">
            <a:r>
              <a:t>testFile: Tests/Totaltech.IntegrationTests/Endpoints/SeguridadEndpointsTests.cs</a:t>
            </a:r>
          </a:p>
          <a:p xmlns:a="http://schemas.openxmlformats.org/drawingml/2006/main">
            <a:r>
              <a:t>Métodos: HomeController.Login; UsuariosLogica.LoginAsync; UsuariosRepositorio.ObtenerPorEmailAsync; JwtTokenService.Crear; ApiBearerTokenHandler.SendAsync</a:t>
            </a:r>
          </a:p>
          <a:p xmlns:a="http://schemas.openxmlformats.org/drawingml/2006/main">
            <a:r>
              <a:t>Prueba existente: LoginClienteCorrecto_DevuelveTokenRolClienteYSinPassword; LoginConPasswordIncorrecto_DevuelveUnauthorized</a:t>
            </a:r>
          </a:p>
          <a:p xmlns:a="http://schemas.openxmlformats.org/drawingml/2006/main">
            <a:r>
              <a:t>200: datos públicos, JWT y vencimiento. MVC crea cookie y redirige. Contraseña incorrecta: 401.</a:t>
            </a:r>
          </a:p>
          <a:p xmlns:a="http://schemas.openxmlformats.org/drawingml/2006/main">
            <a:r>
              <a:t>La cookie autentica MVC; el JWT autoriza llamadas a la API.</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Daiana · 7:15–9:30 · 2:15</a:t>
            </a:r>
          </a:p>
          <a:p xmlns:a="http://schemas.openxmlformats.org/drawingml/2006/main">
            <a:r>
              <a:t/>
            </a:r>
          </a:p>
          <a:p xmlns:a="http://schemas.openxmlformats.org/drawingml/2006/main">
            <a:r>
              <a:t>60 s de demostración y 75 s de explicación. Captura real disponible de catálogo.</a:t>
            </a:r>
          </a:p>
          <a:p xmlns:a="http://schemas.openxmlformats.org/drawingml/2006/main">
            <a:r>
              <a:t/>
            </a:r>
          </a:p>
          <a:p xmlns:a="http://schemas.openxmlformats.org/drawingml/2006/main">
            <a:r>
              <a:t>DEMOSTRACIÓN</a:t>
            </a:r>
          </a:p>
          <a:p xmlns:a="http://schemas.openxmlformats.org/drawingml/2006/main">
            <a:r>
              <a:t>0–15 s: buscar notebook y aplicar.</a:t>
            </a:r>
          </a:p>
          <a:p xmlns:a="http://schemas.openxmlformats.org/drawingml/2006/main">
            <a:r>
              <a:t>15–30 s: filtrar disponibilidad, categoría o precio.</a:t>
            </a:r>
          </a:p>
          <a:p xmlns:a="http://schemas.openxmlformats.org/drawingml/2006/main">
            <a:r>
              <a:t>30–45 s: avanzar de página conservando los filtros.</a:t>
            </a:r>
          </a:p>
          <a:p xmlns:a="http://schemas.openxmlformats.org/drawingml/2006/main">
            <a:r>
              <a:t>45–60 s: abrir el detalle y señalar precio y stock.</a:t>
            </a:r>
          </a:p>
          <a:p xmlns:a="http://schemas.openxmlformats.org/drawingml/2006/main">
            <a:r>
              <a:t/>
            </a:r>
          </a:p>
          <a:p xmlns:a="http://schemas.openxmlformats.org/drawingml/2006/main">
            <a:r>
              <a:t>INTERVENCIÓN</a:t>
            </a:r>
          </a:p>
          <a:p xmlns:a="http://schemas.openxmlformats.org/drawingml/2006/main">
            <a:r>
              <a:t>El catálogo reúne los casos de explorar, buscar y consultar detalle. La vista envía texto, categoría, precios y disponibilidad por query string. ProductosController.Index solicita categorías y catálogo en paralelo mediante Task.WhenAll. ProductosApiService construye GET productos/catalogo y deserializa la respuesta. El endpoint crea el filtro; la lógica valida sus límites y el repositorio construye la consulta. AsNoTracking evita seguimiento de entidades en esta lectura. Where aplica los filtros. Count obtiene el total y el orden por nombre e identificador hace estable la paginación. Skip y Take seleccionan la página; Select devuelve solo los campos del contrato. SQL Server ejecuta esa consulta. El JSON contiene Items y totales. MVC arma CatalogoViewModel y Razor muestra las tarjetas. El detalle consulta el producto por identificador. Una búsqueda vacía tiene mensaje y opción de limpiar filtros; un identificador inexistente produce 404. Marca y destacados, previstos en el documento histórico, no forman parte de lo demostrado.</a:t>
            </a:r>
          </a:p>
          <a:p xmlns:a="http://schemas.openxmlformats.org/drawingml/2006/main">
            <a:r>
              <a:t/>
            </a:r>
          </a:p>
          <a:p xmlns:a="http://schemas.openxmlformats.org/drawingml/2006/main">
            <a:r>
              <a:t>TRANSICIÓN</a:t>
            </a:r>
          </a:p>
          <a:p xmlns:a="http://schemas.openxmlformats.org/drawingml/2006/main">
            <a:r>
              <a:t>Facundo toma ese producto y explica el carrito del cliente.</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8</a:t>
            </a:r>
          </a:p>
          <a:p xmlns:a="http://schemas.openxmlformats.org/drawingml/2006/main">
            <a:r>
              <a:t>C:/Users/facu_/Documents/GitHub/Grupo-N-1---SistemaVentaDeProductosTecnologicos/Grupo-N-1---SistemaVentaDeProductosTecnologicos/Documentacion/Casos de Uso- Totaltech.pdf · página 2</a:t>
            </a:r>
          </a:p>
          <a:p xmlns:a="http://schemas.openxmlformats.org/drawingml/2006/main">
            <a:r>
              <a:t>C:/Users/facu_/Documents/GitHub/Grupo-N-1---SistemaVentaDeProductosTecnologicos/Grupo-N-1---SistemaVentaDeProductosTecnologicos/Documentacion/Documentación de API.pdf · página 6</a:t>
            </a:r>
          </a:p>
          <a:p xmlns:a="http://schemas.openxmlformats.org/drawingml/2006/main">
            <a:r>
              <a:t>C:/Users/facu_/Documents/GitHub/Grupo-N-1---SistemaVentaDeProductosTecnologicos/Grupo-N-1---SistemaVentaDeProductosTecnologicos/Documentacion/Documentación de API.pdf · página 7</a:t>
            </a:r>
          </a:p>
          <a:p xmlns:a="http://schemas.openxmlformats.org/drawingml/2006/main">
            <a:r>
              <a:t>C:/Users/facu_/Documents/GitHub/Grupo-N-1---SistemaVentaDeProductosTecnologicos/Grupo-N-1---SistemaVentaDeProductosTecnologicos/Documentacion/Documentación de API.pdf · página 8</a:t>
            </a:r>
          </a:p>
          <a:p xmlns:a="http://schemas.openxmlformats.org/drawingml/2006/main">
            <a:r>
              <a:t>view: Frontend/Views/Productos/Index.cshtml; Frontend/Views/Productos/Detalle.cshtml</a:t>
            </a:r>
          </a:p>
          <a:p xmlns:a="http://schemas.openxmlformats.org/drawingml/2006/main">
            <a:r>
              <a:t>mvc: Frontend/Controllers/ProductosController.cs</a:t>
            </a:r>
          </a:p>
          <a:p xmlns:a="http://schemas.openxmlformats.org/drawingml/2006/main">
            <a:r>
              <a:t>service: Frontend/Services/ProductosApiService.cs</a:t>
            </a:r>
          </a:p>
          <a:p xmlns:a="http://schemas.openxmlformats.org/drawingml/2006/main">
            <a:r>
              <a:t>endpointFile: Totaltech/Endpoints/ProductosEndpoints.cs</a:t>
            </a:r>
          </a:p>
          <a:p xmlns:a="http://schemas.openxmlformats.org/drawingml/2006/main">
            <a:r>
              <a:t>logic: Totaltech/Logica/ProductosLogica.cs</a:t>
            </a:r>
          </a:p>
          <a:p xmlns:a="http://schemas.openxmlformats.org/drawingml/2006/main">
            <a:r>
              <a:t>repo: Totaltech/Repositorios/ProductosRepositorio.cs</a:t>
            </a:r>
          </a:p>
          <a:p xmlns:a="http://schemas.openxmlformats.org/drawingml/2006/main">
            <a:r>
              <a:t>testFile: Tests/Totaltech.IntegrationTests/E2E/CatalogoE2ETests.cs</a:t>
            </a:r>
          </a:p>
          <a:p xmlns:a="http://schemas.openxmlformats.org/drawingml/2006/main">
            <a:r>
              <a:t>Métodos: ProductosController.Index / Detalle; ProductosApiService.ObtenerCatalogoAsync; ProductosLogica.ObtenerCatalogoAsync; ProductosRepositorio.ObtenerCatalogoAsync</a:t>
            </a:r>
          </a:p>
          <a:p xmlns:a="http://schemas.openxmlformats.org/drawingml/2006/main">
            <a:r>
              <a:t>Prueba existente: Catalogo_BuscaFiltraPaginaYAbreDetalle; Catalogo_CeroResultadosSePuedeLimpiarYProductoInexistenteEs404</a:t>
            </a:r>
          </a:p>
          <a:p xmlns:a="http://schemas.openxmlformats.org/drawingml/2006/main">
            <a:r>
              <a:t>200: página de productos y totales. El detalle inexistente devuelve 404.</a:t>
            </a:r>
          </a:p>
          <a:p xmlns:a="http://schemas.openxmlformats.org/drawingml/2006/main">
            <a:r>
              <a:t>Filtros por texto, categoría, precio y disponibilidad; orden estable y paginación en SQL.</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Facundo · 9:30–11:45 · 2:15</a:t>
            </a:r>
          </a:p>
          <a:p xmlns:a="http://schemas.openxmlformats.org/drawingml/2006/main">
            <a:r>
              <a:t/>
            </a:r>
          </a:p>
          <a:p xmlns:a="http://schemas.openxmlformats.org/drawingml/2006/main">
            <a:r>
              <a:t>60 s de demostración y 75 s de código. Respaldo: diagrama, sin fingir captura de carrito.</a:t>
            </a:r>
          </a:p>
          <a:p xmlns:a="http://schemas.openxmlformats.org/drawingml/2006/main">
            <a:r>
              <a:t/>
            </a:r>
          </a:p>
          <a:p xmlns:a="http://schemas.openxmlformats.org/drawingml/2006/main">
            <a:r>
              <a:t>DEMOSTRACIÓN</a:t>
            </a:r>
          </a:p>
          <a:p xmlns:a="http://schemas.openxmlformats.org/drawingml/2006/main">
            <a:r>
              <a:t>0–15 s: desde un detalle con stock, agregar una unidad.</a:t>
            </a:r>
          </a:p>
          <a:p xmlns:a="http://schemas.openxmlformats.org/drawingml/2006/main">
            <a:r>
              <a:t>15–35 s: cambiar cantidad a dos y actualizar.</a:t>
            </a:r>
          </a:p>
          <a:p xmlns:a="http://schemas.openxmlformats.org/drawingml/2006/main">
            <a:r>
              <a:t>35–45 s: señalar subtotal y total.</a:t>
            </a:r>
          </a:p>
          <a:p xmlns:a="http://schemas.openxmlformats.org/drawingml/2006/main">
            <a:r>
              <a:t>45–60 s: eliminar la línea y mostrar carrito vacío.</a:t>
            </a:r>
          </a:p>
          <a:p xmlns:a="http://schemas.openxmlformats.org/drawingml/2006/main">
            <a:r>
              <a:t/>
            </a:r>
          </a:p>
          <a:p xmlns:a="http://schemas.openxmlformats.org/drawingml/2006/main">
            <a:r>
              <a:t>INTERVENCIÓN</a:t>
            </a:r>
          </a:p>
          <a:p xmlns:a="http://schemas.openxmlformats.org/drawingml/2006/main">
            <a:r>
              <a:t>Este flujo se apoya en RF3 y en las rutas actuales de la API. Desde Detalle.cshtml, el formulario llama a CarritoController.Agregar. MVC exige autenticación y valida antiforgery. CarritosApiService transforma las acciones en POST, PATCH o DELETE y el handler adjunta Bearer. El endpoint obtiene el usuario desde su identidad autenticada, no desde un campo editable. CarritosLogica busca o crea el carrito activo y aplica reglas: cantidad positiva, stock suficiente y precio consultado en el servidor. Agregar otra vez el mismo producto consolida cantidades. Algunas escrituras acceden directamente a TotaltechDbContext y usan una transacción serializable en bases relacionales. No corresponde dibujar un repositorio intermedio que aquí no se usa. CrearResumenAsync devuelve líneas y totales; el controlador redirige a Index y CarritoViewModel.Desde prepara la vista. Si no hay líneas, se muestra el estado vacío. Agregar al carrito no reserva ni descuenta stock. La cantidad excesiva se rechaza con conflicto.</a:t>
            </a:r>
          </a:p>
          <a:p xmlns:a="http://schemas.openxmlformats.org/drawingml/2006/main">
            <a:r>
              <a:t/>
            </a:r>
          </a:p>
          <a:p xmlns:a="http://schemas.openxmlformats.org/drawingml/2006/main">
            <a:r>
              <a:t>TRANSICIÓN</a:t>
            </a:r>
          </a:p>
          <a:p xmlns:a="http://schemas.openxmlformats.org/drawingml/2006/main">
            <a:r>
              <a:t>Daiana cambia al rol administrador para mantener la oferta del catálogo.</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8</a:t>
            </a:r>
          </a:p>
          <a:p xmlns:a="http://schemas.openxmlformats.org/drawingml/2006/main">
            <a:r>
              <a:t>C:/Users/facu_/Documents/GitHub/Grupo-N-1---SistemaVentaDeProductosTecnologicos/Grupo-N-1---SistemaVentaDeProductosTecnologicos/Documentacion/Casos de Uso- Totaltech.pdf · página 5</a:t>
            </a:r>
          </a:p>
          <a:p xmlns:a="http://schemas.openxmlformats.org/drawingml/2006/main">
            <a:r>
              <a:t>C:/Users/facu_/Documents/GitHub/Grupo-N-1---SistemaVentaDeProductosTecnologicos/Grupo-N-1---SistemaVentaDeProductosTecnologicos/Documentacion/Documentación de API.pdf · página 9</a:t>
            </a:r>
          </a:p>
          <a:p xmlns:a="http://schemas.openxmlformats.org/drawingml/2006/main">
            <a:r>
              <a:t>view: Frontend/Views/Carrito/Index.cshtml; Frontend/Views/Productos/Detalle.cshtml</a:t>
            </a:r>
          </a:p>
          <a:p xmlns:a="http://schemas.openxmlformats.org/drawingml/2006/main">
            <a:r>
              <a:t>mvc: Frontend/Controllers/CarritoController.cs</a:t>
            </a:r>
          </a:p>
          <a:p xmlns:a="http://schemas.openxmlformats.org/drawingml/2006/main">
            <a:r>
              <a:t>service: Frontend/Services/CarritosApiService.cs</a:t>
            </a:r>
          </a:p>
          <a:p xmlns:a="http://schemas.openxmlformats.org/drawingml/2006/main">
            <a:r>
              <a:t>endpointFile: Totaltech/Endpoints/CarritosEndpoints.cs</a:t>
            </a:r>
          </a:p>
          <a:p xmlns:a="http://schemas.openxmlformats.org/drawingml/2006/main">
            <a:r>
              <a:t>logic: Totaltech/Logica/CarritosLogica.cs</a:t>
            </a:r>
          </a:p>
          <a:p xmlns:a="http://schemas.openxmlformats.org/drawingml/2006/main">
            <a:r>
              <a:t>repo: Totaltech/Datos/TotaltechDbContext.cs</a:t>
            </a:r>
          </a:p>
          <a:p xmlns:a="http://schemas.openxmlformats.org/drawingml/2006/main">
            <a:r>
              <a:t>testFile: Tests/Totaltech.IntegrationTests/E2E/CatalogoE2ETests.cs</a:t>
            </a:r>
          </a:p>
          <a:p xmlns:a="http://schemas.openxmlformats.org/drawingml/2006/main">
            <a:r>
              <a:t>Métodos: CarritoController.Agregar / ActualizarCantidad / Eliminar; CarritosApiService.EnviarAsync; CarritosLogica.ModificarCarritoActivoAsync / CrearResumenAsync</a:t>
            </a:r>
          </a:p>
          <a:p xmlns:a="http://schemas.openxmlformats.org/drawingml/2006/main">
            <a:r>
              <a:t>Prueba existente: Carrito_DetalleAgregarModificarEliminarYEstadoVacio</a:t>
            </a:r>
          </a:p>
          <a:p xmlns:a="http://schemas.openxmlformats.org/drawingml/2006/main">
            <a:r>
              <a:t>200: resumen actualizado. Stock insuficiente: 409. Cantidad inválida: 400.</a:t>
            </a:r>
          </a:p>
          <a:p xmlns:a="http://schemas.openxmlformats.org/drawingml/2006/main">
            <a:r>
              <a:t>El usuario se obtiene del JWT. Precio y total se calculan en el servidor. Agregar no reserva ni descuenta stock.</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Daiana · 11:45–14:15 · 2:30</a:t>
            </a:r>
          </a:p>
          <a:p xmlns:a="http://schemas.openxmlformats.org/drawingml/2006/main">
            <a:r>
              <a:t/>
            </a:r>
          </a:p>
          <a:p xmlns:a="http://schemas.openxmlformats.org/drawingml/2006/main">
            <a:r>
              <a:t>70 s de demostración y 80 s de explicación. Captura real disponible de edición.</a:t>
            </a:r>
          </a:p>
          <a:p xmlns:a="http://schemas.openxmlformats.org/drawingml/2006/main">
            <a:r>
              <a:t/>
            </a:r>
          </a:p>
          <a:p xmlns:a="http://schemas.openxmlformats.org/drawingml/2006/main">
            <a:r>
              <a:t>DEMOSTRACIÓN</a:t>
            </a:r>
          </a:p>
          <a:p xmlns:a="http://schemas.openxmlformats.org/drawingml/2006/main">
            <a:r>
              <a:t>0–25 s: crear Notebook exposición TotalTech con categoría y proveedor válidos.</a:t>
            </a:r>
          </a:p>
          <a:p xmlns:a="http://schemas.openxmlformats.org/drawingml/2006/main">
            <a:r>
              <a:t>25–50 s: editar stock de 5 a 7 y elegir una imagen PNG válida.</a:t>
            </a:r>
          </a:p>
          <a:p xmlns:a="http://schemas.openxmlformats.org/drawingml/2006/main">
            <a:r>
              <a:t>50–60 s: guardar y verificar el resultado.</a:t>
            </a:r>
          </a:p>
          <a:p xmlns:a="http://schemas.openxmlformats.org/drawingml/2006/main">
            <a:r>
              <a:t>60–70 s: eliminar el producto de demostración sin relaciones.</a:t>
            </a:r>
          </a:p>
          <a:p xmlns:a="http://schemas.openxmlformats.org/drawingml/2006/main">
            <a:r>
              <a:t/>
            </a:r>
          </a:p>
          <a:p xmlns:a="http://schemas.openxmlformats.org/drawingml/2006/main">
            <a:r>
              <a:t>INTERVENCIÓN</a:t>
            </a:r>
          </a:p>
          <a:p xmlns:a="http://schemas.openxmlformats.org/drawingml/2006/main">
            <a:r>
              <a:t>La administración implementa las operaciones elegidas de RF1 y UC-19. ProductosController coordina Crear, Editar y Eliminar, y ProductosApiService llama los endpoints protegidos. Para crear, la lógica valida datos y relaciones con categoría y proveedor. En edición, el archivo llega a ProductoImagenStorage.GuardarAsync. Se verifican extensión, MIME, firma y tamaño máximo de cinco megabytes. El archivo se guarda en uploads/productos y se envía su URL junto con los datos al PUT de producto. SQL Server conserva la URL, no los bytes de la imagen. Si no se selecciona otro archivo se conserva la anterior. Para eliminar usamos un producto de demostración sin relaciones. La base de datos rechaza la eliminación con relaciones; el endpoint convierte DbUpdateException en 409 y MVC explica el motivo. El éxito devuelve 204. El documento histórico propone baja lógica y auditoría; el código actual elimina físicamente cuando las relaciones lo permiten. Esa diferencia delimita el alcance de la entrega.</a:t>
            </a:r>
          </a:p>
          <a:p xmlns:a="http://schemas.openxmlformats.org/drawingml/2006/main">
            <a:r>
              <a:t/>
            </a:r>
          </a:p>
          <a:p xmlns:a="http://schemas.openxmlformats.org/drawingml/2006/main">
            <a:r>
              <a:t>TRANSICIÓN</a:t>
            </a:r>
          </a:p>
          <a:p xmlns:a="http://schemas.openxmlformats.org/drawingml/2006/main">
            <a:r>
              <a:t>Facundo reúne los recorridos en una sola solicitud de ida y vuelta.</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8</a:t>
            </a:r>
          </a:p>
          <a:p xmlns:a="http://schemas.openxmlformats.org/drawingml/2006/main">
            <a:r>
              <a:t>C:/Users/facu_/Documents/GitHub/Grupo-N-1---SistemaVentaDeProductosTecnologicos/Grupo-N-1---SistemaVentaDeProductosTecnologicos/Documentacion/Casos de Uso- Totaltech.pdf · página 3</a:t>
            </a:r>
          </a:p>
          <a:p xmlns:a="http://schemas.openxmlformats.org/drawingml/2006/main">
            <a:r>
              <a:t>C:/Users/facu_/Documents/GitHub/Grupo-N-1---SistemaVentaDeProductosTecnologicos/Grupo-N-1---SistemaVentaDeProductosTecnologicos/Documentacion/Casos de Uso- Totaltech.pdf · página 5</a:t>
            </a:r>
          </a:p>
          <a:p xmlns:a="http://schemas.openxmlformats.org/drawingml/2006/main">
            <a:r>
              <a:t>C:/Users/facu_/Documents/GitHub/Grupo-N-1---SistemaVentaDeProductosTecnologicos/Grupo-N-1---SistemaVentaDeProductosTecnologicos/Documentacion/Documentación de API.pdf · página 7</a:t>
            </a:r>
          </a:p>
          <a:p xmlns:a="http://schemas.openxmlformats.org/drawingml/2006/main">
            <a:r>
              <a:t>C:/Users/facu_/Documents/GitHub/Grupo-N-1---SistemaVentaDeProductosTecnologicos/Grupo-N-1---SistemaVentaDeProductosTecnologicos/Documentacion/Documentación de API.pdf · página 8</a:t>
            </a:r>
          </a:p>
          <a:p xmlns:a="http://schemas.openxmlformats.org/drawingml/2006/main">
            <a:r>
              <a:t>view: Frontend/Views/Productos/Crear.cshtml; Frontend/Views/Productos/Editar.cshtml</a:t>
            </a:r>
          </a:p>
          <a:p xmlns:a="http://schemas.openxmlformats.org/drawingml/2006/main">
            <a:r>
              <a:t>mvc: Frontend/Controllers/ProductosController.cs</a:t>
            </a:r>
          </a:p>
          <a:p xmlns:a="http://schemas.openxmlformats.org/drawingml/2006/main">
            <a:r>
              <a:t>service: Frontend/Services/ProductosApiService.cs; Frontend/Services/ProductoImagenStorage.cs</a:t>
            </a:r>
          </a:p>
          <a:p xmlns:a="http://schemas.openxmlformats.org/drawingml/2006/main">
            <a:r>
              <a:t>endpointFile: Totaltech/Endpoints/ProductosEndpoints.cs</a:t>
            </a:r>
          </a:p>
          <a:p xmlns:a="http://schemas.openxmlformats.org/drawingml/2006/main">
            <a:r>
              <a:t>logic: Totaltech/Logica/ProductosLogica.cs</a:t>
            </a:r>
          </a:p>
          <a:p xmlns:a="http://schemas.openxmlformats.org/drawingml/2006/main">
            <a:r>
              <a:t>repo: Totaltech/Repositorios/ProductosRepositorio.cs</a:t>
            </a:r>
          </a:p>
          <a:p xmlns:a="http://schemas.openxmlformats.org/drawingml/2006/main">
            <a:r>
              <a:t>testFile: Tests/Totaltech.IntegrationTests/E2E/CatalogoAdministracionE2ETests.cs</a:t>
            </a:r>
          </a:p>
          <a:p xmlns:a="http://schemas.openxmlformats.org/drawingml/2006/main">
            <a:r>
              <a:t>Métodos: ProductosController.Crear / Editar / Eliminar; ProductoImagenStorage.GuardarAsync; ProductosLogica.CrearAsync / ActualizarAsync / EliminarAsync</a:t>
            </a:r>
          </a:p>
          <a:p xmlns:a="http://schemas.openxmlformats.org/drawingml/2006/main">
            <a:r>
              <a:t>Prueba existente: Imagen_SePrevisualizaReemplazaYConservaTrasRenombrarYReiniciar; Eliminar_ProductoAsociadoAUnCarritoSeConservaYMuestraElMotivo</a:t>
            </a:r>
          </a:p>
          <a:p xmlns:a="http://schemas.openxmlformats.org/drawingml/2006/main">
            <a:r>
              <a:t>Creación 201; edición 200; eliminación sin relaciones 204, con relaciones 409.</a:t>
            </a:r>
          </a:p>
          <a:p xmlns:a="http://schemas.openxmlformats.org/drawingml/2006/main">
            <a:r>
              <a:t>Solo administrador. Archivo válido hasta 5 MB; SQL guarda su URL. El borrado actual es físico con control de relaciones.</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Facundo · 14:15–16:00 · 1:45</a:t>
            </a:r>
          </a:p>
          <a:p xmlns:a="http://schemas.openxmlformats.org/drawingml/2006/main">
            <a:r>
              <a:t/>
            </a:r>
          </a:p>
          <a:p xmlns:a="http://schemas.openxmlformats.org/drawingml/2006/main">
            <a:r>
              <a:t>105 s. Seguir ida de izquierda a derecha y vuelta en sentido inverso. Abrir HTML solo si ya está preparado.</a:t>
            </a:r>
          </a:p>
          <a:p xmlns:a="http://schemas.openxmlformats.org/drawingml/2006/main">
            <a:r>
              <a:t/>
            </a:r>
          </a:p>
          <a:p xmlns:a="http://schemas.openxmlformats.org/drawingml/2006/main">
            <a:r>
              <a:t>INTERVENCIÓN</a:t>
            </a:r>
          </a:p>
          <a:p xmlns:a="http://schemas.openxmlformats.org/drawingml/2006/main">
            <a:r>
              <a:t>Tomemos la búsqueda del catálogo como ejemplo completo. El navegador envía los filtros definidos por la vista Razor al controlador MVC. El controlador coordina la operación y delega la comunicación en ProductosApiService. El cliente HTTP llama al endpoint de productos. El endpoint recibe el contrato y la lógica valida las reglas antes de consultar el repositorio. El repositorio utiliza Entity Framework y TotaltechDbContext para llegar a SQL Server. La respuesta vuelve por esas capas: los resultados se proyectan en un DTO, la API lo serializa como JSON, el servicio del frontend lo deserializa y MVC construye el modelo de pantalla. Finalmente Razor produce el HTML que recibe el navegador. Esta separación permite ubicar una falla: validación de pantalla, comunicación, regla de negocio o persistencia. Hay dos particularidades que vimos: registro y login llaman directamente a IHttpClientFactory desde HomeController; algunas escrituras del carrito usan DbContext dentro de la lógica. El diagrama general no elimina esas diferencias. Las dependencias se registran en Program.cs y el navegador nunca consulta directamente SQL Server.</a:t>
            </a:r>
          </a:p>
          <a:p xmlns:a="http://schemas.openxmlformats.org/drawingml/2006/main">
            <a:r>
              <a:t/>
            </a:r>
          </a:p>
          <a:p xmlns:a="http://schemas.openxmlformats.org/drawingml/2006/main">
            <a:r>
              <a:t>TRANSICIÓN</a:t>
            </a:r>
          </a:p>
          <a:p xmlns:a="http://schemas.openxmlformats.org/drawingml/2006/main">
            <a:r>
              <a:t>Daiana explica los criterios de calidad que acompañan estos recorridos.</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de API.pdf · página 36</a:t>
            </a:r>
          </a:p>
          <a:p xmlns:a="http://schemas.openxmlformats.org/drawingml/2006/main">
            <a:r>
              <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Daiana · 16:00–17:30 · 1:30</a:t>
            </a:r>
          </a:p>
          <a:p xmlns:a="http://schemas.openxmlformats.org/drawingml/2006/main">
            <a:r>
              <a:t/>
            </a:r>
          </a:p>
          <a:p xmlns:a="http://schemas.openxmlformats.org/drawingml/2006/main">
            <a:r>
              <a:t>18 s por criterio. El listado conserva los números oficiales RNF4, RNF1, RNF2, RNF3 y RNF5.</a:t>
            </a:r>
          </a:p>
          <a:p xmlns:a="http://schemas.openxmlformats.org/drawingml/2006/main">
            <a:r>
              <a:t/>
            </a:r>
          </a:p>
          <a:p xmlns:a="http://schemas.openxmlformats.org/drawingml/2006/main">
            <a:r>
              <a:t>INTERVENCIÓN</a:t>
            </a:r>
          </a:p>
          <a:p xmlns:a="http://schemas.openxmlformats.org/drawingml/2006/main">
            <a:r>
              <a:t>Los requisitos no funcionales indican cómo debe comportarse el sistema. Seguridad se refleja en hash, JWT, permisos, propiedad del carrito y protección CSRF de formularios. Esto acredita controles concretos, no una certificación general. Rendimiento se contempla con paginación y proyecciones: la evidencia histórica mide cargas locales de catálogo y detalle bajo tres segundos, sin probar capacidad concurrente en producción. Usabilidad aparece en validaciones por campo, mensajes claros, confirmaciones y estados vacíos. Compatibilidad tiene evidencia automatizada en Chromium con anchos de 320, 375, 425, 768, 1024 y 1280 píxeles. Firefox y Edge siguen siendo objetivos del documento, sin afirmar aquí que se verificaron. Mantenibilidad se apoya en responsabilidades, inyección de dependencias y pruebas. Reconocemos la excepción del carrito con DbContext directo. Cada criterio se presenta con su evidencia y su alcance, evitando equiparar una intención documental con una garantía ya comprobada.</a:t>
            </a:r>
          </a:p>
          <a:p xmlns:a="http://schemas.openxmlformats.org/drawingml/2006/main">
            <a:r>
              <a:t/>
            </a:r>
          </a:p>
          <a:p xmlns:a="http://schemas.openxmlformats.org/drawingml/2006/main">
            <a:r>
              <a:t>TRANSICIÓN</a:t>
            </a:r>
          </a:p>
          <a:p xmlns:a="http://schemas.openxmlformats.org/drawingml/2006/main">
            <a:r>
              <a:t>Facundo presenta el balance de la entrega y las prioridades siguientes.</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9</a:t>
            </a:r>
          </a:p>
          <a:p xmlns:a="http://schemas.openxmlformats.org/drawingml/2006/main">
            <a:r>
              <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Facundo · 17:30–19:30 · 2:00</a:t>
            </a:r>
          </a:p>
          <a:p xmlns:a="http://schemas.openxmlformats.org/drawingml/2006/main">
            <a:r>
              <a:t/>
            </a:r>
          </a:p>
          <a:p xmlns:a="http://schemas.openxmlformats.org/drawingml/2006/main">
            <a:r>
              <a:t>40 s de evidencia histórica, 30 s de errores y 50 s de prioridades. No decir que las 105 se ejecutaron hoy.</a:t>
            </a:r>
          </a:p>
          <a:p xmlns:a="http://schemas.openxmlformats.org/drawingml/2006/main">
            <a:r>
              <a:t/>
            </a:r>
          </a:p>
          <a:p xmlns:a="http://schemas.openxmlformats.org/drawingml/2006/main">
            <a:r>
              <a:t>INTERVENCIÓN</a:t>
            </a:r>
          </a:p>
          <a:p xmlns:a="http://schemas.openxmlformats.org/drawingml/2006/main">
            <a:r>
              <a:t>El balance de esta entrega es un conjunto de cinco recorridos trazables entre requisitos, pantallas y código. Como antecedente conservamos el reporte de 105 pruebas aprobadas comunicado en la preparación del primero de octubre: ocho unitarias, setenta y ocho de integración y frontend, y diecinueve E2E. La cifra procede del material anterior y no representa una ejecución nueva. Las pruebas actuales del repositorio permiten localizar escenarios de registro, credenciales, catálogo, carrito, imágenes y eliminación restringida. También muestran cómo tratar errores: 400 para datos inválidos, 401 para credenciales, 403 para permisos, 404 para recursos inexistentes y 409 para conflictos. Desde la gestión del proyecto, el primer paso siguiente es completar el checkout MVC y verificar su integración con pedidos y pagos. El segundo es cerrar la recuperación de contraseña con envío y restablecimiento real, además de conectar contacto y garantía. El tercero es alinear la documentación de casos de uso con el carrito y definir la baja lógica y auditoría previstas. El criterio de cierre de cada hito será un recorrido completo desde la pantalla hasta su resultado y una prueba reproducible. No asignamos fechas ni porcentajes de avance sin una estimación validada.</a:t>
            </a:r>
          </a:p>
          <a:p xmlns:a="http://schemas.openxmlformats.org/drawingml/2006/main">
            <a:r>
              <a:t/>
            </a:r>
          </a:p>
          <a:p xmlns:a="http://schemas.openxmlformats.org/drawingml/2006/main">
            <a:r>
              <a:t>TRANSICIÓN</a:t>
            </a:r>
          </a:p>
          <a:p xmlns:a="http://schemas.openxmlformats.org/drawingml/2006/main">
            <a:r>
              <a:t>Daiana cierra con el resultado que puede mostrar el equipo.</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de API.pdf · página 35</a:t>
            </a:r>
          </a:p>
          <a:p xmlns:a="http://schemas.openxmlformats.org/drawingml/2006/main">
            <a:r>
              <a:t>C:/Users/facu_/Documents/GitHub/Grupo-N-1---SistemaVentaDeProductosTecnologicos/Grupo-N-1---SistemaVentaDeProductosTecnologicos/Documentacion/Documentación de API.pdf · página 36</a:t>
            </a:r>
          </a:p>
          <a:p xmlns:a="http://schemas.openxmlformats.org/drawingml/2006/main">
            <a:r>
              <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Daiana · 19:30–20:00 · 0:30</a:t>
            </a:r>
          </a:p>
          <a:p xmlns:a="http://schemas.openxmlformats.org/drawingml/2006/main">
            <a:r>
              <a:t/>
            </a:r>
          </a:p>
          <a:p xmlns:a="http://schemas.openxmlformats.org/drawingml/2006/main">
            <a:r>
              <a:t>30 s. No iniciar una nueva demostración.</a:t>
            </a:r>
          </a:p>
          <a:p xmlns:a="http://schemas.openxmlformats.org/drawingml/2006/main">
            <a:r>
              <a:t/>
            </a:r>
          </a:p>
          <a:p xmlns:a="http://schemas.openxmlformats.org/drawingml/2006/main">
            <a:r>
              <a:t>INTERVENCIÓN</a:t>
            </a:r>
          </a:p>
          <a:p xmlns:a="http://schemas.openxmlformats.org/drawingml/2006/main">
            <a:r>
              <a:t>TotalTech permite que un cliente cree su cuenta, acceda, encuentre productos y organice su carrito, mientras el administrador mantiene la oferta. Mostramos cómo esas acciones se relacionan con los requisitos y cómo recorren el código hasta volver a la pantalla. La entrega tiene un alcance verificable y próximos pasos definidos. Muchas gracias.</a:t>
            </a:r>
          </a:p>
          <a:p xmlns:a="http://schemas.openxmlformats.org/drawingml/2006/main">
            <a:r>
              <a:t/>
            </a:r>
          </a:p>
          <a:p xmlns:a="http://schemas.openxmlformats.org/drawingml/2006/main">
            <a:r>
              <a:t>TRANSICIÓN</a:t>
            </a:r>
          </a:p>
          <a:p xmlns:a="http://schemas.openxmlformats.org/drawingml/2006/main">
            <a:r>
              <a:t>Cierre a 20:00. Preguntas fuera del bloque cronometrado.</a:t>
            </a:r>
          </a:p>
          <a:p xmlns:a="http://schemas.openxmlformats.org/drawingml/2006/main">
            <a:r>
              <a:t/>
            </a:r>
          </a:p>
          <a:p xmlns:a="http://schemas.openxmlformats.org/drawingml/2006/main">
            <a:r>
              <a:t>FUENTES</a:t>
            </a:r>
          </a:p>
          <a:p xmlns:a="http://schemas.openxmlformats.org/drawingml/2006/main">
            <a:r>
              <a:t>C:/Users/facu_/Documents/GitHub/Grupo-N-1---SistemaVentaDeProductosTecnologicos/Grupo-N-1---SistemaVentaDeProductosTecnologicos/Documentacion/Documentación - Grupo 1 -TotalTech.pdf · página 8</a:t>
            </a:r>
          </a:p>
          <a:p xmlns:a="http://schemas.openxmlformats.org/drawingml/2006/main">
            <a:r>
              <a:t>C:/Users/facu_/Documents/GitHub/Grupo-N-1---SistemaVentaDeProductosTecnologicos/Grupo-N-1---SistemaVentaDeProductosTecnologicos/Documentacion/Documentación de API.pdf · página 36</a:t>
            </a:r>
          </a:p>
          <a:p xmlns:a="http://schemas.openxmlformats.org/drawingml/2006/main">
            <a:r>
              <a:t/>
            </a:r>
          </a:p>
          <a:p xmlns:a="http://schemas.openxmlformats.org/drawingml/2006/main">
            <a:r>
              <a:t/>
            </a:r>
          </a:p>
          <a:p xmlns:a="http://schemas.openxmlformats.org/drawingml/2006/main">
            <a:r>
              <a:t>La cifra histórica de 105 procede del material de exposición preparado el 01/10/2026 (output/presentacion/LEEME.md). No es una ejecución nueva ni una fecha de ejecución reconstruida. Capturas: archivo de evidencia de la preparación anterior.</a:t>
            </a:r>
          </a:p>
          <a:p xmlns:a="http://schemas.openxmlformats.org/drawingml/2006/main">
            <a:r>
              <a:t>Código abreviado en pantalla cuando el bloque muestra solo una parte del método. Consultar fuentes para el cuerpo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184b97b3f743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4c6a9cc49c4a04" /><Relationship Type="http://schemas.openxmlformats.org/officeDocument/2006/relationships/slideLayout" Target="/ppt/slideLayouts/slideLayout1.xml" Id="R778c09244bee48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8c09244bee48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5ecb24201f4e2a" /><Relationship Type="http://schemas.openxmlformats.org/officeDocument/2006/relationships/image" Target="/ppt/media/image.png" Id="Re889337dbc2845ca" /><Relationship Type="http://schemas.openxmlformats.org/officeDocument/2006/relationships/image" Target="/ppt/media/image2.png" Id="Rd03cd0ac93d44220" /><Relationship Type="http://schemas.openxmlformats.org/officeDocument/2006/relationships/notesSlide" Target="/ppt/notesSlides/notesSlide1.xml" Id="Ra127d6dd4b0147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9d2fff002e4bdb" /><Relationship Type="http://schemas.openxmlformats.org/officeDocument/2006/relationships/notesSlide" Target="/ppt/notesSlides/notesSlide2.xml" Id="R6eb003282fb843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b7fdc9a7744efb" /><Relationship Type="http://schemas.openxmlformats.org/officeDocument/2006/relationships/notesSlide" Target="/ppt/notesSlides/notesSlide3.xml" Id="Re1a636994b754e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4f93bf01e44092" /><Relationship Type="http://schemas.openxmlformats.org/officeDocument/2006/relationships/notesSlide" Target="/ppt/notesSlides/notesSlide4.xml" Id="Rf2293b826e824c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d39be9acd1403b" /><Relationship Type="http://schemas.openxmlformats.org/officeDocument/2006/relationships/notesSlide" Target="/ppt/notesSlides/notesSlide5.xml" Id="R7337faba5c4645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bd6ba490bc4b29" /><Relationship Type="http://schemas.openxmlformats.org/officeDocument/2006/relationships/notesSlide" Target="/ppt/notesSlides/notesSlide6.xml" Id="R604df870636a45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34eaa281de42a6" /><Relationship Type="http://schemas.openxmlformats.org/officeDocument/2006/relationships/notesSlide" Target="/ppt/notesSlides/notesSlide7.xml" Id="R79df73b523d849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473c0f924a4d94" /><Relationship Type="http://schemas.openxmlformats.org/officeDocument/2006/relationships/image" Target="/ppt/media/image3.png" Id="R45e8db376470436b" /><Relationship Type="http://schemas.openxmlformats.org/officeDocument/2006/relationships/notesSlide" Target="/ppt/notesSlides/notesSlide8.xml" Id="Re5cee626ac424d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efa5cd12742468e" /><Relationship Type="http://schemas.openxmlformats.org/officeDocument/2006/relationships/notesSlide" Target="/ppt/notesSlides/notesSlide9.xml" Id="R9c4fd6bb0f204e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1292c132a8452b" /><Relationship Type="http://schemas.openxmlformats.org/officeDocument/2006/relationships/image" Target="/ppt/media/image4.png" Id="Rda81ec50195d437f" /><Relationship Type="http://schemas.openxmlformats.org/officeDocument/2006/relationships/notesSlide" Target="/ppt/notesSlides/notesSlide10.xml" Id="R94314826352d4e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35ee08f3c54ab5" /><Relationship Type="http://schemas.openxmlformats.org/officeDocument/2006/relationships/notesSlide" Target="/ppt/notesSlides/notesSlide11.xml" Id="Rad9ec33c19c14b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7524dff02934f32" /><Relationship Type="http://schemas.openxmlformats.org/officeDocument/2006/relationships/notesSlide" Target="/ppt/notesSlides/notesSlide12.xml" Id="Re36c5cfd468142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d946033972405b" /><Relationship Type="http://schemas.openxmlformats.org/officeDocument/2006/relationships/notesSlide" Target="/ppt/notesSlides/notesSlide13.xml" Id="R9aeab76f454a4e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2099daec2164b5c" /><Relationship Type="http://schemas.openxmlformats.org/officeDocument/2006/relationships/notesSlide" Target="/ppt/notesSlides/notesSlide14.xml" Id="Reb0b2972ba00400d" /></Relationships>
</file>

<file path=ppt/slides/slide1.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0A81E0-3529-4487-A225-B3F039643B08}"/>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BD5E1"/>
                </a:solidFill>
                <a:latin typeface="Arial"/>
                <a:ea typeface="Arial"/>
                <a:cs typeface="Arial"/>
              </a:defRPr>
            </a:pPr>
            <a:r>
              <a:rPr sz="1500" b="0">
                <a:solidFill>
                  <a:srgbClr val="CBD5E1"/>
                </a:solidFill>
                <a:latin typeface="Arial"/>
                <a:ea typeface="Arial"/>
                <a:cs typeface="Arial"/>
              </a:rPr>
              <a:t>01 / 14</a:t>
            </a:r>
          </a:p>
        </p:txBody>
      </p:sp>
      <p:sp>
        <p:nvSpPr>
          <p:cNvPr id="2" name="">
            <a:extLst xmlns:a="http://schemas.openxmlformats.org/drawingml/2006/main">
              <a:ext uri="{FF2B5EF4-FFF2-40B4-BE49-F238E27FC236}">
                <a16:creationId xmlns:a16="http://schemas.microsoft.com/office/drawing/2014/main" id="{88FEC4F7-CFA6-48D6-84AE-4CD48726D42E}"/>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BD5E1"/>
                </a:solidFill>
                <a:latin typeface="Arial"/>
                <a:ea typeface="Arial"/>
                <a:cs typeface="Arial"/>
              </a:defRPr>
            </a:pPr>
            <a:r>
              <a:rPr sz="1500" b="0">
                <a:solidFill>
                  <a:srgbClr val="CBD5E1"/>
                </a:solidFill>
                <a:latin typeface="Arial"/>
                <a:ea typeface="Arial"/>
                <a:cs typeface="Arial"/>
              </a:rPr>
              <a:t>Facundo   0:00–0:30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889337dbc2845ca"/>
          <a:stretch xmlns:a="http://schemas.openxmlformats.org/drawingml/2006/main"/>
        </p:blipFill>
        <p:spPr>
          <a:xfrm xmlns:a="http://schemas.openxmlformats.org/drawingml/2006/main">
            <a:off x="647700" y="171450"/>
            <a:ext cx="1809750" cy="1809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6479FC0-7C04-4AAD-9597-C603D87E4677}"/>
              </a:ext>
            </a:extLst>
          </p:cNvPr>
          <p:cNvSpPr>
            <a:spLocks xmlns:a="http://schemas.openxmlformats.org/drawingml/2006/main" noGrp="1"/>
          </p:cNvSpPr>
          <p:nvPr/>
        </p:nvSpPr>
        <p:spPr>
          <a:xfrm xmlns:a="http://schemas.openxmlformats.org/drawingml/2006/main">
            <a:off x="609600" y="2038350"/>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TotalTech</a:t>
            </a:r>
          </a:p>
        </p:txBody>
      </p:sp>
      <p:sp>
        <p:nvSpPr>
          <p:cNvPr id="5" name="">
            <a:extLst xmlns:a="http://schemas.openxmlformats.org/drawingml/2006/main">
              <a:ext uri="{FF2B5EF4-FFF2-40B4-BE49-F238E27FC236}">
                <a16:creationId xmlns:a16="http://schemas.microsoft.com/office/drawing/2014/main" id="{0652CB6F-9C65-42F5-89C6-4F76CFDD0927}"/>
              </a:ext>
            </a:extLst>
          </p:cNvPr>
          <p:cNvSpPr>
            <a:spLocks xmlns:a="http://schemas.openxmlformats.org/drawingml/2006/main" noGrp="1"/>
          </p:cNvSpPr>
          <p:nvPr/>
        </p:nvSpPr>
        <p:spPr>
          <a:xfrm xmlns:a="http://schemas.openxmlformats.org/drawingml/2006/main">
            <a:off x="609600" y="3048000"/>
            <a:ext cx="676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Proyecto e implementación</a:t>
            </a:r>
          </a:p>
        </p:txBody>
      </p:sp>
      <p:sp>
        <p:nvSpPr>
          <p:cNvPr id="6" name="">
            <a:extLst xmlns:a="http://schemas.openxmlformats.org/drawingml/2006/main">
              <a:ext uri="{FF2B5EF4-FFF2-40B4-BE49-F238E27FC236}">
                <a16:creationId xmlns:a16="http://schemas.microsoft.com/office/drawing/2014/main" id="{BE8B1F84-3F06-4828-AE3D-DA26264D5387}"/>
              </a:ext>
            </a:extLst>
          </p:cNvPr>
          <p:cNvSpPr>
            <a:spLocks xmlns:a="http://schemas.openxmlformats.org/drawingml/2006/main" noGrp="1"/>
          </p:cNvSpPr>
          <p:nvPr/>
        </p:nvSpPr>
        <p:spPr>
          <a:xfrm xmlns:a="http://schemas.openxmlformats.org/drawingml/2006/main">
            <a:off x="609600" y="3952875"/>
            <a:ext cx="647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CBD5E1"/>
                </a:solidFill>
                <a:latin typeface="Arial"/>
                <a:ea typeface="Arial"/>
                <a:cs typeface="Arial"/>
              </a:defRPr>
            </a:pPr>
            <a:r>
              <a:rPr sz="2325" b="0">
                <a:solidFill>
                  <a:srgbClr val="CBD5E1"/>
                </a:solidFill>
                <a:latin typeface="Arial"/>
                <a:ea typeface="Arial"/>
                <a:cs typeface="Arial"/>
              </a:rPr>
              <a:t>La experiencia del cliente</a:t>
            </a:r>
          </a:p>
          <a:p xmlns:a="http://schemas.openxmlformats.org/drawingml/2006/main">
            <a:pPr>
              <a:defRPr sz="2325" b="0">
                <a:solidFill>
                  <a:srgbClr val="CBD5E1"/>
                </a:solidFill>
                <a:latin typeface="Arial"/>
                <a:ea typeface="Arial"/>
                <a:cs typeface="Arial"/>
              </a:defRPr>
            </a:pPr>
            <a:r>
              <a:rPr sz="2325" b="0">
                <a:solidFill>
                  <a:srgbClr val="CBD5E1"/>
                </a:solidFill>
                <a:latin typeface="Arial"/>
                <a:ea typeface="Arial"/>
                <a:cs typeface="Arial"/>
              </a:rPr>
              <a:t>y la gestión del catálogo</a:t>
            </a:r>
          </a:p>
        </p:txBody>
      </p:sp>
      <p:sp>
        <p:nvSpPr>
          <p:cNvPr id="7" name="">
            <a:extLst xmlns:a="http://schemas.openxmlformats.org/drawingml/2006/main">
              <a:ext uri="{FF2B5EF4-FFF2-40B4-BE49-F238E27FC236}">
                <a16:creationId xmlns:a16="http://schemas.microsoft.com/office/drawing/2014/main" id="{1E2EE66D-5ABF-42D0-B239-3C7986A55C0A}"/>
              </a:ext>
            </a:extLst>
          </p:cNvPr>
          <p:cNvSpPr>
            <a:spLocks xmlns:a="http://schemas.openxmlformats.org/drawingml/2006/main" noGrp="1"/>
          </p:cNvSpPr>
          <p:nvPr/>
        </p:nvSpPr>
        <p:spPr>
          <a:xfrm xmlns:a="http://schemas.openxmlformats.org/drawingml/2006/main">
            <a:off x="609600" y="5572125"/>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Facundo Sola y Daiana Chinellato</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03cd0ac93d44220"/>
          <a:stretch xmlns:a="http://schemas.openxmlformats.org/drawingml/2006/main"/>
        </p:blipFill>
        <p:spPr>
          <a:xfrm xmlns:a="http://schemas.openxmlformats.org/drawingml/2006/main">
            <a:off x="9034021" y="419100"/>
            <a:ext cx="1115308" cy="5562600"/>
          </a:xfrm>
          <a:prstGeom xmlns:a="http://schemas.openxmlformats.org/drawingml/2006/main" prst="rect">
            <a:avLst/>
          </a:prstGeom>
        </p:spPr>
      </p:pic>
    </p:spTree>
    <p:extLst>
      <p:ext uri="{BB962C8B-B14F-4D97-AF65-F5344CB8AC3E}">
        <p14:creationId xmlns:p14="http://schemas.microsoft.com/office/powerpoint/2010/main" val="143259187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DADCD9-5F5D-4826-B76E-E5843AEE3115}"/>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El problema de la operación comercial</a:t>
            </a:r>
          </a:p>
        </p:txBody>
      </p:sp>
      <p:sp>
        <p:nvSpPr>
          <p:cNvPr id="2" name="">
            <a:extLst xmlns:a="http://schemas.openxmlformats.org/drawingml/2006/main">
              <a:ext uri="{FF2B5EF4-FFF2-40B4-BE49-F238E27FC236}">
                <a16:creationId xmlns:a16="http://schemas.microsoft.com/office/drawing/2014/main" id="{5FF7AAE3-5DDD-4201-8F18-CE15BDBBABC5}"/>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02 / 14</a:t>
            </a:r>
          </a:p>
        </p:txBody>
      </p:sp>
      <p:sp>
        <p:nvSpPr>
          <p:cNvPr id="3" name="">
            <a:extLst xmlns:a="http://schemas.openxmlformats.org/drawingml/2006/main">
              <a:ext uri="{FF2B5EF4-FFF2-40B4-BE49-F238E27FC236}">
                <a16:creationId xmlns:a16="http://schemas.microsoft.com/office/drawing/2014/main" id="{86854177-9B6E-4371-AEDB-6A5456F18BAA}"/>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Daiana   0:30–1:15</a:t>
            </a:r>
          </a:p>
        </p:txBody>
      </p:sp>
      <p:sp>
        <p:nvSpPr>
          <p:cNvPr id="4" name="">
            <a:extLst xmlns:a="http://schemas.openxmlformats.org/drawingml/2006/main">
              <a:ext uri="{FF2B5EF4-FFF2-40B4-BE49-F238E27FC236}">
                <a16:creationId xmlns:a16="http://schemas.microsoft.com/office/drawing/2014/main" id="{FACFDDCC-30DB-4CF2-9F1E-6B448A29CA5A}"/>
              </a:ext>
            </a:extLst>
          </p:cNvPr>
          <p:cNvSpPr>
            <a:spLocks xmlns:a="http://schemas.openxmlformats.org/drawingml/2006/main" noGrp="1"/>
          </p:cNvSpPr>
          <p:nvPr/>
        </p:nvSpPr>
        <p:spPr>
          <a:xfrm xmlns:a="http://schemas.openxmlformats.org/drawingml/2006/main">
            <a:off x="609600" y="1581150"/>
            <a:ext cx="4857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2563EB"/>
                </a:solidFill>
                <a:latin typeface="Arial"/>
                <a:ea typeface="Arial"/>
                <a:cs typeface="Arial"/>
              </a:defRPr>
            </a:pPr>
            <a:r>
              <a:rPr sz="4050" b="1">
                <a:solidFill>
                  <a:srgbClr val="2563EB"/>
                </a:solidFill>
                <a:latin typeface="Arial"/>
                <a:ea typeface="Arial"/>
                <a:cs typeface="Arial"/>
              </a:rPr>
              <a:t>Una operación dispersa</a:t>
            </a:r>
          </a:p>
        </p:txBody>
      </p:sp>
      <p:sp>
        <p:nvSpPr>
          <p:cNvPr id="5" name="">
            <a:extLst xmlns:a="http://schemas.openxmlformats.org/drawingml/2006/main">
              <a:ext uri="{FF2B5EF4-FFF2-40B4-BE49-F238E27FC236}">
                <a16:creationId xmlns:a16="http://schemas.microsoft.com/office/drawing/2014/main" id="{F587D589-F0A8-4EAC-9727-BFB95AF3207C}"/>
              </a:ext>
            </a:extLst>
          </p:cNvPr>
          <p:cNvSpPr>
            <a:spLocks xmlns:a="http://schemas.openxmlformats.org/drawingml/2006/main" noGrp="1"/>
          </p:cNvSpPr>
          <p:nvPr/>
        </p:nvSpPr>
        <p:spPr>
          <a:xfrm xmlns:a="http://schemas.openxmlformats.org/drawingml/2006/main">
            <a:off x="609600" y="323850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11827"/>
                </a:solidFill>
                <a:latin typeface="Arial"/>
                <a:ea typeface="Arial"/>
                <a:cs typeface="Arial"/>
              </a:defRPr>
            </a:pPr>
            <a:r>
              <a:rPr sz="2400" b="0">
                <a:solidFill>
                  <a:srgbClr val="111827"/>
                </a:solidFill>
                <a:latin typeface="Arial"/>
                <a:ea typeface="Arial"/>
                <a:cs typeface="Arial"/>
              </a:rPr>
              <a:t>La documentación propone centralizar</a:t>
            </a:r>
          </a:p>
          <a:p xmlns:a="http://schemas.openxmlformats.org/drawingml/2006/main">
            <a:pPr>
              <a:defRPr sz="2400" b="0">
                <a:solidFill>
                  <a:srgbClr val="111827"/>
                </a:solidFill>
                <a:latin typeface="Arial"/>
                <a:ea typeface="Arial"/>
                <a:cs typeface="Arial"/>
              </a:defRPr>
            </a:pPr>
            <a:r>
              <a:rPr sz="2400" b="0">
                <a:solidFill>
                  <a:srgbClr val="111827"/>
                </a:solidFill>
                <a:latin typeface="Arial"/>
                <a:ea typeface="Arial"/>
                <a:cs typeface="Arial"/>
              </a:rPr>
              <a:t>la información comercial.</a:t>
            </a:r>
          </a:p>
        </p:txBody>
      </p:sp>
      <p:sp>
        <p:nvSpPr>
          <p:cNvPr id="6" name="">
            <a:extLst xmlns:a="http://schemas.openxmlformats.org/drawingml/2006/main">
              <a:ext uri="{FF2B5EF4-FFF2-40B4-BE49-F238E27FC236}">
                <a16:creationId xmlns:a16="http://schemas.microsoft.com/office/drawing/2014/main" id="{74FB0F2D-4BE3-4806-9DC8-0FEABD0BC666}"/>
              </a:ext>
            </a:extLst>
          </p:cNvPr>
          <p:cNvSpPr>
            <a:spLocks xmlns:a="http://schemas.openxmlformats.org/drawingml/2006/main" noGrp="1"/>
          </p:cNvSpPr>
          <p:nvPr/>
        </p:nvSpPr>
        <p:spPr>
          <a:xfrm xmlns:a="http://schemas.openxmlformats.org/drawingml/2006/main">
            <a:off x="6572250" y="16859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11827"/>
                </a:solidFill>
                <a:latin typeface="Arial"/>
                <a:ea typeface="Arial"/>
                <a:cs typeface="Arial"/>
              </a:defRPr>
            </a:pPr>
            <a:r>
              <a:rPr sz="2325" b="1">
                <a:solidFill>
                  <a:srgbClr val="111827"/>
                </a:solidFill>
                <a:latin typeface="Arial"/>
                <a:ea typeface="Arial"/>
                <a:cs typeface="Arial"/>
              </a:rPr>
              <a:t>Tareas manuales</a:t>
            </a:r>
          </a:p>
        </p:txBody>
      </p:sp>
      <p:sp>
        <p:nvSpPr>
          <p:cNvPr id="7" name="">
            <a:extLst xmlns:a="http://schemas.openxmlformats.org/drawingml/2006/main">
              <a:ext uri="{FF2B5EF4-FFF2-40B4-BE49-F238E27FC236}">
                <a16:creationId xmlns:a16="http://schemas.microsoft.com/office/drawing/2014/main" id="{F93E3B26-863F-42C4-8F65-6949DE30E10D}"/>
              </a:ext>
            </a:extLst>
          </p:cNvPr>
          <p:cNvSpPr>
            <a:spLocks xmlns:a="http://schemas.openxmlformats.org/drawingml/2006/main" noGrp="1"/>
          </p:cNvSpPr>
          <p:nvPr/>
        </p:nvSpPr>
        <p:spPr>
          <a:xfrm xmlns:a="http://schemas.openxmlformats.org/drawingml/2006/main">
            <a:off x="6572250" y="22002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475569"/>
                </a:solidFill>
                <a:latin typeface="Arial"/>
                <a:ea typeface="Arial"/>
                <a:cs typeface="Arial"/>
              </a:defRPr>
            </a:pPr>
            <a:r>
              <a:rPr sz="2100" b="0">
                <a:solidFill>
                  <a:srgbClr val="475569"/>
                </a:solidFill>
                <a:latin typeface="Arial"/>
                <a:ea typeface="Arial"/>
                <a:cs typeface="Arial"/>
              </a:rPr>
              <a:t>Demoras en la atención</a:t>
            </a:r>
          </a:p>
        </p:txBody>
      </p:sp>
      <p:sp>
        <p:nvSpPr>
          <p:cNvPr id="8" name="">
            <a:extLst xmlns:a="http://schemas.openxmlformats.org/drawingml/2006/main">
              <a:ext uri="{FF2B5EF4-FFF2-40B4-BE49-F238E27FC236}">
                <a16:creationId xmlns:a16="http://schemas.microsoft.com/office/drawing/2014/main" id="{9E0E1325-DF5F-4FFB-9065-F2D2061CBEC2}"/>
              </a:ext>
            </a:extLst>
          </p:cNvPr>
          <p:cNvSpPr>
            <a:spLocks xmlns:a="http://schemas.openxmlformats.org/drawingml/2006/main" noGrp="1"/>
          </p:cNvSpPr>
          <p:nvPr/>
        </p:nvSpPr>
        <p:spPr>
          <a:xfrm xmlns:a="http://schemas.openxmlformats.org/drawingml/2006/main">
            <a:off x="6572250" y="30480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11827"/>
                </a:solidFill>
                <a:latin typeface="Arial"/>
                <a:ea typeface="Arial"/>
                <a:cs typeface="Arial"/>
              </a:defRPr>
            </a:pPr>
            <a:r>
              <a:rPr sz="2325" b="1">
                <a:solidFill>
                  <a:srgbClr val="111827"/>
                </a:solidFill>
                <a:latin typeface="Arial"/>
                <a:ea typeface="Arial"/>
                <a:cs typeface="Arial"/>
              </a:rPr>
              <a:t>Stock poco confiable</a:t>
            </a:r>
          </a:p>
        </p:txBody>
      </p:sp>
      <p:sp>
        <p:nvSpPr>
          <p:cNvPr id="9" name="">
            <a:extLst xmlns:a="http://schemas.openxmlformats.org/drawingml/2006/main">
              <a:ext uri="{FF2B5EF4-FFF2-40B4-BE49-F238E27FC236}">
                <a16:creationId xmlns:a16="http://schemas.microsoft.com/office/drawing/2014/main" id="{F752F230-E069-4878-BC06-907C1171190B}"/>
              </a:ext>
            </a:extLst>
          </p:cNvPr>
          <p:cNvSpPr>
            <a:spLocks xmlns:a="http://schemas.openxmlformats.org/drawingml/2006/main" noGrp="1"/>
          </p:cNvSpPr>
          <p:nvPr/>
        </p:nvSpPr>
        <p:spPr>
          <a:xfrm xmlns:a="http://schemas.openxmlformats.org/drawingml/2006/main">
            <a:off x="6572250" y="35623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475569"/>
                </a:solidFill>
                <a:latin typeface="Arial"/>
                <a:ea typeface="Arial"/>
                <a:cs typeface="Arial"/>
              </a:defRPr>
            </a:pPr>
            <a:r>
              <a:rPr sz="2100" b="0">
                <a:solidFill>
                  <a:srgbClr val="475569"/>
                </a:solidFill>
                <a:latin typeface="Arial"/>
                <a:ea typeface="Arial"/>
                <a:cs typeface="Arial"/>
              </a:rPr>
              <a:t>Disponibilidad incorrecta</a:t>
            </a:r>
          </a:p>
        </p:txBody>
      </p:sp>
      <p:sp>
        <p:nvSpPr>
          <p:cNvPr id="10" name="">
            <a:extLst xmlns:a="http://schemas.openxmlformats.org/drawingml/2006/main">
              <a:ext uri="{FF2B5EF4-FFF2-40B4-BE49-F238E27FC236}">
                <a16:creationId xmlns:a16="http://schemas.microsoft.com/office/drawing/2014/main" id="{C7CD744F-FACE-46BA-97DC-3A35AE2ED3E8}"/>
              </a:ext>
            </a:extLst>
          </p:cNvPr>
          <p:cNvSpPr>
            <a:spLocks xmlns:a="http://schemas.openxmlformats.org/drawingml/2006/main" noGrp="1"/>
          </p:cNvSpPr>
          <p:nvPr/>
        </p:nvSpPr>
        <p:spPr>
          <a:xfrm xmlns:a="http://schemas.openxmlformats.org/drawingml/2006/main">
            <a:off x="6572250" y="44100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11827"/>
                </a:solidFill>
                <a:latin typeface="Arial"/>
                <a:ea typeface="Arial"/>
                <a:cs typeface="Arial"/>
              </a:defRPr>
            </a:pPr>
            <a:r>
              <a:rPr sz="2325" b="1">
                <a:solidFill>
                  <a:srgbClr val="111827"/>
                </a:solidFill>
                <a:latin typeface="Arial"/>
                <a:ea typeface="Arial"/>
                <a:cs typeface="Arial"/>
              </a:rPr>
              <a:t>Información separada</a:t>
            </a:r>
          </a:p>
        </p:txBody>
      </p:sp>
      <p:sp>
        <p:nvSpPr>
          <p:cNvPr id="11" name="">
            <a:extLst xmlns:a="http://schemas.openxmlformats.org/drawingml/2006/main">
              <a:ext uri="{FF2B5EF4-FFF2-40B4-BE49-F238E27FC236}">
                <a16:creationId xmlns:a16="http://schemas.microsoft.com/office/drawing/2014/main" id="{A8717F41-7DDB-402D-B35A-D356B6EF6C79}"/>
              </a:ext>
            </a:extLst>
          </p:cNvPr>
          <p:cNvSpPr>
            <a:spLocks xmlns:a="http://schemas.openxmlformats.org/drawingml/2006/main" noGrp="1"/>
          </p:cNvSpPr>
          <p:nvPr/>
        </p:nvSpPr>
        <p:spPr>
          <a:xfrm xmlns:a="http://schemas.openxmlformats.org/drawingml/2006/main">
            <a:off x="6572250" y="49244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475569"/>
                </a:solidFill>
                <a:latin typeface="Arial"/>
                <a:ea typeface="Arial"/>
                <a:cs typeface="Arial"/>
              </a:defRPr>
            </a:pPr>
            <a:r>
              <a:rPr sz="2100" b="0">
                <a:solidFill>
                  <a:srgbClr val="475569"/>
                </a:solidFill>
                <a:latin typeface="Arial"/>
                <a:ea typeface="Arial"/>
                <a:cs typeface="Arial"/>
              </a:rPr>
              <a:t>Seguimiento difícil</a:t>
            </a:r>
          </a:p>
        </p:txBody>
      </p:sp>
      <p:sp>
        <p:nvSpPr>
          <p:cNvPr id="12" name="">
            <a:extLst xmlns:a="http://schemas.openxmlformats.org/drawingml/2006/main">
              <a:ext uri="{FF2B5EF4-FFF2-40B4-BE49-F238E27FC236}">
                <a16:creationId xmlns:a16="http://schemas.microsoft.com/office/drawing/2014/main" id="{8EC08CF7-F8C8-4626-8635-476AA8593590}"/>
              </a:ext>
            </a:extLst>
          </p:cNvPr>
          <p:cNvSpPr>
            <a:spLocks xmlns:a="http://schemas.openxmlformats.org/drawingml/2006/main" noGrp="1"/>
          </p:cNvSpPr>
          <p:nvPr/>
        </p:nvSpPr>
        <p:spPr>
          <a:xfrm xmlns:a="http://schemas.openxmlformats.org/drawingml/2006/main">
            <a:off x="609600" y="58769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Diagnóstico del documento de proyecto, páginas 3–5</a:t>
            </a:r>
          </a:p>
        </p:txBody>
      </p:sp>
    </p:spTree>
    <p:extLst>
      <p:ext uri="{BB962C8B-B14F-4D97-AF65-F5344CB8AC3E}">
        <p14:creationId xmlns:p14="http://schemas.microsoft.com/office/powerpoint/2010/main" val="34952888"/>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F2C04AB-8D24-4B0C-8A59-CC0EC0D905F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Los usuarios de TotalTech</a:t>
            </a:r>
          </a:p>
        </p:txBody>
      </p:sp>
      <p:sp>
        <p:nvSpPr>
          <p:cNvPr id="2" name="">
            <a:extLst xmlns:a="http://schemas.openxmlformats.org/drawingml/2006/main">
              <a:ext uri="{FF2B5EF4-FFF2-40B4-BE49-F238E27FC236}">
                <a16:creationId xmlns:a16="http://schemas.microsoft.com/office/drawing/2014/main" id="{48B6AFCB-590F-4983-B9D5-2599570B657F}"/>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03 / 14</a:t>
            </a:r>
          </a:p>
        </p:txBody>
      </p:sp>
      <p:sp>
        <p:nvSpPr>
          <p:cNvPr id="3" name="">
            <a:extLst xmlns:a="http://schemas.openxmlformats.org/drawingml/2006/main">
              <a:ext uri="{FF2B5EF4-FFF2-40B4-BE49-F238E27FC236}">
                <a16:creationId xmlns:a16="http://schemas.microsoft.com/office/drawing/2014/main" id="{A939DFDF-0DFF-463F-9751-C808760540C0}"/>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Facundo   1:15–2:00</a:t>
            </a:r>
          </a:p>
        </p:txBody>
      </p:sp>
      <p:sp>
        <p:nvSpPr>
          <p:cNvPr id="4" name="">
            <a:extLst xmlns:a="http://schemas.openxmlformats.org/drawingml/2006/main">
              <a:ext uri="{FF2B5EF4-FFF2-40B4-BE49-F238E27FC236}">
                <a16:creationId xmlns:a16="http://schemas.microsoft.com/office/drawing/2014/main" id="{6D79BC17-13AE-45A0-BCCF-B8C29C4D7A43}"/>
              </a:ext>
            </a:extLst>
          </p:cNvPr>
          <p:cNvSpPr>
            <a:spLocks xmlns:a="http://schemas.openxmlformats.org/drawingml/2006/main" noGrp="1"/>
          </p:cNvSpPr>
          <p:nvPr/>
        </p:nvSpPr>
        <p:spPr>
          <a:xfrm xmlns:a="http://schemas.openxmlformats.org/drawingml/2006/main">
            <a:off x="609600" y="15335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2563EB"/>
                </a:solidFill>
                <a:latin typeface="Arial"/>
                <a:ea typeface="Arial"/>
                <a:cs typeface="Arial"/>
              </a:defRPr>
            </a:pPr>
            <a:r>
              <a:rPr sz="2925" b="1">
                <a:solidFill>
                  <a:srgbClr val="2563EB"/>
                </a:solidFill>
                <a:latin typeface="Arial"/>
                <a:ea typeface="Arial"/>
                <a:cs typeface="Arial"/>
              </a:rPr>
              <a:t>Cliente</a:t>
            </a:r>
          </a:p>
        </p:txBody>
      </p:sp>
      <p:sp>
        <p:nvSpPr>
          <p:cNvPr id="5" name="">
            <a:extLst xmlns:a="http://schemas.openxmlformats.org/drawingml/2006/main">
              <a:ext uri="{FF2B5EF4-FFF2-40B4-BE49-F238E27FC236}">
                <a16:creationId xmlns:a16="http://schemas.microsoft.com/office/drawing/2014/main" id="{95EEDB28-68F0-40FB-B58F-67BB020CD712}"/>
              </a:ext>
            </a:extLst>
          </p:cNvPr>
          <p:cNvSpPr>
            <a:spLocks xmlns:a="http://schemas.openxmlformats.org/drawingml/2006/main" noGrp="1"/>
          </p:cNvSpPr>
          <p:nvPr/>
        </p:nvSpPr>
        <p:spPr>
          <a:xfrm xmlns:a="http://schemas.openxmlformats.org/drawingml/2006/main">
            <a:off x="609600" y="2095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Prepara su compra</a:t>
            </a:r>
          </a:p>
        </p:txBody>
      </p:sp>
      <p:sp>
        <p:nvSpPr>
          <p:cNvPr id="6" name="">
            <a:extLst xmlns:a="http://schemas.openxmlformats.org/drawingml/2006/main">
              <a:ext uri="{FF2B5EF4-FFF2-40B4-BE49-F238E27FC236}">
                <a16:creationId xmlns:a16="http://schemas.microsoft.com/office/drawing/2014/main" id="{C2A6AAD7-CA17-490A-934A-1523F124D006}"/>
              </a:ext>
            </a:extLst>
          </p:cNvPr>
          <p:cNvSpPr>
            <a:spLocks xmlns:a="http://schemas.openxmlformats.org/drawingml/2006/main" noGrp="1"/>
          </p:cNvSpPr>
          <p:nvPr/>
        </p:nvSpPr>
        <p:spPr>
          <a:xfrm xmlns:a="http://schemas.openxmlformats.org/drawingml/2006/main">
            <a:off x="6572250" y="153352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2563EB"/>
                </a:solidFill>
                <a:latin typeface="Arial"/>
                <a:ea typeface="Arial"/>
                <a:cs typeface="Arial"/>
              </a:defRPr>
            </a:pPr>
            <a:r>
              <a:rPr sz="2925" b="1">
                <a:solidFill>
                  <a:srgbClr val="2563EB"/>
                </a:solidFill>
                <a:latin typeface="Arial"/>
                <a:ea typeface="Arial"/>
                <a:cs typeface="Arial"/>
              </a:rPr>
              <a:t>Administrador</a:t>
            </a:r>
          </a:p>
        </p:txBody>
      </p:sp>
      <p:sp>
        <p:nvSpPr>
          <p:cNvPr id="7" name="">
            <a:extLst xmlns:a="http://schemas.openxmlformats.org/drawingml/2006/main">
              <a:ext uri="{FF2B5EF4-FFF2-40B4-BE49-F238E27FC236}">
                <a16:creationId xmlns:a16="http://schemas.microsoft.com/office/drawing/2014/main" id="{AC7BA542-B0A6-4F60-9A64-839F63B4725E}"/>
              </a:ext>
            </a:extLst>
          </p:cNvPr>
          <p:cNvSpPr>
            <a:spLocks xmlns:a="http://schemas.openxmlformats.org/drawingml/2006/main" noGrp="1"/>
          </p:cNvSpPr>
          <p:nvPr/>
        </p:nvSpPr>
        <p:spPr>
          <a:xfrm xmlns:a="http://schemas.openxmlformats.org/drawingml/2006/main">
            <a:off x="6572250" y="2095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Mantiene la oferta</a:t>
            </a:r>
          </a:p>
        </p:txBody>
      </p:sp>
      <p:sp>
        <p:nvSpPr>
          <p:cNvPr id="8" name="">
            <a:extLst xmlns:a="http://schemas.openxmlformats.org/drawingml/2006/main">
              <a:ext uri="{FF2B5EF4-FFF2-40B4-BE49-F238E27FC236}">
                <a16:creationId xmlns:a16="http://schemas.microsoft.com/office/drawing/2014/main" id="{45F07547-5F71-4EED-9FB1-8D4D2584A776}"/>
              </a:ext>
            </a:extLst>
          </p:cNvPr>
          <p:cNvSpPr>
            <a:spLocks xmlns:a="http://schemas.openxmlformats.org/drawingml/2006/main" noGrp="1"/>
          </p:cNvSpPr>
          <p:nvPr/>
        </p:nvSpPr>
        <p:spPr>
          <a:xfrm xmlns:a="http://schemas.openxmlformats.org/drawingml/2006/main">
            <a:off x="609600" y="30575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1.  Crear cuenta e ingresar</a:t>
            </a:r>
          </a:p>
        </p:txBody>
      </p:sp>
      <p:sp>
        <p:nvSpPr>
          <p:cNvPr id="9" name="">
            <a:extLst xmlns:a="http://schemas.openxmlformats.org/drawingml/2006/main">
              <a:ext uri="{FF2B5EF4-FFF2-40B4-BE49-F238E27FC236}">
                <a16:creationId xmlns:a16="http://schemas.microsoft.com/office/drawing/2014/main" id="{2039DFD0-D088-4A13-95DD-43AFD21F9E06}"/>
              </a:ext>
            </a:extLst>
          </p:cNvPr>
          <p:cNvSpPr>
            <a:spLocks xmlns:a="http://schemas.openxmlformats.org/drawingml/2006/main" noGrp="1"/>
          </p:cNvSpPr>
          <p:nvPr/>
        </p:nvSpPr>
        <p:spPr>
          <a:xfrm xmlns:a="http://schemas.openxmlformats.org/drawingml/2006/main">
            <a:off x="609600" y="38766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2.  Buscar y consultar</a:t>
            </a:r>
          </a:p>
        </p:txBody>
      </p:sp>
      <p:sp>
        <p:nvSpPr>
          <p:cNvPr id="10" name="">
            <a:extLst xmlns:a="http://schemas.openxmlformats.org/drawingml/2006/main">
              <a:ext uri="{FF2B5EF4-FFF2-40B4-BE49-F238E27FC236}">
                <a16:creationId xmlns:a16="http://schemas.microsoft.com/office/drawing/2014/main" id="{D17D26DC-C5EA-4F2D-9058-9E5783B34ED5}"/>
              </a:ext>
            </a:extLst>
          </p:cNvPr>
          <p:cNvSpPr>
            <a:spLocks xmlns:a="http://schemas.openxmlformats.org/drawingml/2006/main" noGrp="1"/>
          </p:cNvSpPr>
          <p:nvPr/>
        </p:nvSpPr>
        <p:spPr>
          <a:xfrm xmlns:a="http://schemas.openxmlformats.org/drawingml/2006/main">
            <a:off x="609600" y="46958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3.  Organizar su carrito</a:t>
            </a:r>
          </a:p>
        </p:txBody>
      </p:sp>
      <p:sp>
        <p:nvSpPr>
          <p:cNvPr id="11" name="">
            <a:extLst xmlns:a="http://schemas.openxmlformats.org/drawingml/2006/main">
              <a:ext uri="{FF2B5EF4-FFF2-40B4-BE49-F238E27FC236}">
                <a16:creationId xmlns:a16="http://schemas.microsoft.com/office/drawing/2014/main" id="{AA06533C-762F-4314-805C-62D4277E329A}"/>
              </a:ext>
            </a:extLst>
          </p:cNvPr>
          <p:cNvSpPr>
            <a:spLocks xmlns:a="http://schemas.openxmlformats.org/drawingml/2006/main" noGrp="1"/>
          </p:cNvSpPr>
          <p:nvPr/>
        </p:nvSpPr>
        <p:spPr>
          <a:xfrm xmlns:a="http://schemas.openxmlformats.org/drawingml/2006/main">
            <a:off x="6572250" y="30575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1.  Crear un producto</a:t>
            </a:r>
          </a:p>
        </p:txBody>
      </p:sp>
      <p:sp>
        <p:nvSpPr>
          <p:cNvPr id="12" name="">
            <a:extLst xmlns:a="http://schemas.openxmlformats.org/drawingml/2006/main">
              <a:ext uri="{FF2B5EF4-FFF2-40B4-BE49-F238E27FC236}">
                <a16:creationId xmlns:a16="http://schemas.microsoft.com/office/drawing/2014/main" id="{C89A3580-E9DA-439F-9597-BD4EC4D6D1BF}"/>
              </a:ext>
            </a:extLst>
          </p:cNvPr>
          <p:cNvSpPr>
            <a:spLocks xmlns:a="http://schemas.openxmlformats.org/drawingml/2006/main" noGrp="1"/>
          </p:cNvSpPr>
          <p:nvPr/>
        </p:nvSpPr>
        <p:spPr>
          <a:xfrm xmlns:a="http://schemas.openxmlformats.org/drawingml/2006/main">
            <a:off x="6572250" y="38766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2.  Actualizar stock e imagen</a:t>
            </a:r>
          </a:p>
        </p:txBody>
      </p:sp>
      <p:sp>
        <p:nvSpPr>
          <p:cNvPr id="13" name="">
            <a:extLst xmlns:a="http://schemas.openxmlformats.org/drawingml/2006/main">
              <a:ext uri="{FF2B5EF4-FFF2-40B4-BE49-F238E27FC236}">
                <a16:creationId xmlns:a16="http://schemas.microsoft.com/office/drawing/2014/main" id="{C8ADD318-C10B-4D82-A65D-995034A818D8}"/>
              </a:ext>
            </a:extLst>
          </p:cNvPr>
          <p:cNvSpPr>
            <a:spLocks xmlns:a="http://schemas.openxmlformats.org/drawingml/2006/main" noGrp="1"/>
          </p:cNvSpPr>
          <p:nvPr/>
        </p:nvSpPr>
        <p:spPr>
          <a:xfrm xmlns:a="http://schemas.openxmlformats.org/drawingml/2006/main">
            <a:off x="6572250" y="46958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3.  Eliminar cuando corresponde</a:t>
            </a:r>
          </a:p>
        </p:txBody>
      </p:sp>
      <p:sp>
        <p:nvSpPr>
          <p:cNvPr id="14" name="">
            <a:extLst xmlns:a="http://schemas.openxmlformats.org/drawingml/2006/main">
              <a:ext uri="{FF2B5EF4-FFF2-40B4-BE49-F238E27FC236}">
                <a16:creationId xmlns:a16="http://schemas.microsoft.com/office/drawing/2014/main" id="{AD4A8829-BA2D-44D1-9524-DE7DC35FA8D7}"/>
              </a:ext>
            </a:extLst>
          </p:cNvPr>
          <p:cNvSpPr>
            <a:spLocks xmlns:a="http://schemas.openxmlformats.org/drawingml/2006/main" noGrp="1"/>
          </p:cNvSpPr>
          <p:nvPr/>
        </p:nvSpPr>
        <p:spPr>
          <a:xfrm xmlns:a="http://schemas.openxmlformats.org/drawingml/2006/main">
            <a:off x="609600" y="58578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El catálogo conecta ambos recorridos</a:t>
            </a:r>
          </a:p>
        </p:txBody>
      </p:sp>
    </p:spTree>
    <p:extLst>
      <p:ext uri="{BB962C8B-B14F-4D97-AF65-F5344CB8AC3E}">
        <p14:creationId xmlns:p14="http://schemas.microsoft.com/office/powerpoint/2010/main" val="1183525923"/>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126512-6E60-49F4-9C9B-C08FAD661DC8}"/>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Visión y alcance de la entrega</a:t>
            </a:r>
          </a:p>
        </p:txBody>
      </p:sp>
      <p:sp>
        <p:nvSpPr>
          <p:cNvPr id="2" name="">
            <a:extLst xmlns:a="http://schemas.openxmlformats.org/drawingml/2006/main">
              <a:ext uri="{FF2B5EF4-FFF2-40B4-BE49-F238E27FC236}">
                <a16:creationId xmlns:a16="http://schemas.microsoft.com/office/drawing/2014/main" id="{A513BE71-C982-4EDF-B6E7-19BAAA921F49}"/>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04 / 14</a:t>
            </a:r>
          </a:p>
        </p:txBody>
      </p:sp>
      <p:sp>
        <p:nvSpPr>
          <p:cNvPr id="3" name="">
            <a:extLst xmlns:a="http://schemas.openxmlformats.org/drawingml/2006/main">
              <a:ext uri="{FF2B5EF4-FFF2-40B4-BE49-F238E27FC236}">
                <a16:creationId xmlns:a16="http://schemas.microsoft.com/office/drawing/2014/main" id="{4DBC0A12-3CC4-4F6B-80D0-1B11EA6D103B}"/>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Daiana   2:00–3:00</a:t>
            </a:r>
          </a:p>
        </p:txBody>
      </p:sp>
      <p:sp>
        <p:nvSpPr>
          <p:cNvPr id="4" name="">
            <a:extLst xmlns:a="http://schemas.openxmlformats.org/drawingml/2006/main">
              <a:ext uri="{FF2B5EF4-FFF2-40B4-BE49-F238E27FC236}">
                <a16:creationId xmlns:a16="http://schemas.microsoft.com/office/drawing/2014/main" id="{0726A2F9-B364-45D4-AB48-9AE8DE907626}"/>
              </a:ext>
            </a:extLst>
          </p:cNvPr>
          <p:cNvSpPr>
            <a:spLocks xmlns:a="http://schemas.openxmlformats.org/drawingml/2006/main" noGrp="1"/>
          </p:cNvSpPr>
          <p:nvPr/>
        </p:nvSpPr>
        <p:spPr>
          <a:xfrm xmlns:a="http://schemas.openxmlformats.org/drawingml/2006/main">
            <a:off x="609600" y="156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475569"/>
                </a:solidFill>
                <a:latin typeface="Arial"/>
                <a:ea typeface="Arial"/>
                <a:cs typeface="Arial"/>
              </a:defRPr>
            </a:pPr>
            <a:r>
              <a:rPr sz="2625" b="1">
                <a:solidFill>
                  <a:srgbClr val="475569"/>
                </a:solidFill>
                <a:latin typeface="Arial"/>
                <a:ea typeface="Arial"/>
                <a:cs typeface="Arial"/>
              </a:rPr>
              <a:t>Visión documentada</a:t>
            </a:r>
          </a:p>
        </p:txBody>
      </p:sp>
      <p:sp>
        <p:nvSpPr>
          <p:cNvPr id="5" name="">
            <a:extLst xmlns:a="http://schemas.openxmlformats.org/drawingml/2006/main">
              <a:ext uri="{FF2B5EF4-FFF2-40B4-BE49-F238E27FC236}">
                <a16:creationId xmlns:a16="http://schemas.microsoft.com/office/drawing/2014/main" id="{DF65991E-ECF6-4028-B3B0-145337A3DFE5}"/>
              </a:ext>
            </a:extLst>
          </p:cNvPr>
          <p:cNvSpPr>
            <a:spLocks xmlns:a="http://schemas.openxmlformats.org/drawingml/2006/main" noGrp="1"/>
          </p:cNvSpPr>
          <p:nvPr/>
        </p:nvSpPr>
        <p:spPr>
          <a:xfrm xmlns:a="http://schemas.openxmlformats.org/drawingml/2006/main">
            <a:off x="609600" y="2352675"/>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11827"/>
                </a:solidFill>
                <a:latin typeface="Arial"/>
                <a:ea typeface="Arial"/>
                <a:cs typeface="Arial"/>
              </a:defRPr>
            </a:pPr>
            <a:r>
              <a:rPr sz="2400" b="0">
                <a:solidFill>
                  <a:srgbClr val="111827"/>
                </a:solidFill>
                <a:latin typeface="Arial"/>
                <a:ea typeface="Arial"/>
                <a:cs typeface="Arial"/>
              </a:rPr>
              <a:t>Comercio electrónico completo</a:t>
            </a:r>
          </a:p>
          <a:p xmlns:a="http://schemas.openxmlformats.org/drawingml/2006/main">
            <a:pPr>
              <a:defRPr sz="2400" b="0">
                <a:solidFill>
                  <a:srgbClr val="111827"/>
                </a:solidFill>
                <a:latin typeface="Arial"/>
                <a:ea typeface="Arial"/>
                <a:cs typeface="Arial"/>
              </a:defRPr>
            </a:pPr>
            <a:r>
              <a:rPr sz="2400" b="0">
                <a:solidFill>
                  <a:srgbClr val="111827"/>
                </a:solidFill>
                <a:latin typeface="Arial"/>
                <a:ea typeface="Arial"/>
                <a:cs typeface="Arial"/>
              </a:rPr>
              <a:t>Pedidos, pagos y atención al cliente</a:t>
            </a:r>
          </a:p>
        </p:txBody>
      </p:sp>
      <p:sp>
        <p:nvSpPr>
          <p:cNvPr id="6" name="">
            <a:extLst xmlns:a="http://schemas.openxmlformats.org/drawingml/2006/main">
              <a:ext uri="{FF2B5EF4-FFF2-40B4-BE49-F238E27FC236}">
                <a16:creationId xmlns:a16="http://schemas.microsoft.com/office/drawing/2014/main" id="{B3DE7F70-0597-4098-87E4-18383B5524A5}"/>
              </a:ext>
            </a:extLst>
          </p:cNvPr>
          <p:cNvSpPr>
            <a:spLocks xmlns:a="http://schemas.openxmlformats.org/drawingml/2006/main" noGrp="1"/>
          </p:cNvSpPr>
          <p:nvPr/>
        </p:nvSpPr>
        <p:spPr>
          <a:xfrm xmlns:a="http://schemas.openxmlformats.org/drawingml/2006/main">
            <a:off x="6572250" y="156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2563EB"/>
                </a:solidFill>
                <a:latin typeface="Arial"/>
                <a:ea typeface="Arial"/>
                <a:cs typeface="Arial"/>
              </a:defRPr>
            </a:pPr>
            <a:r>
              <a:rPr sz="2625" b="1">
                <a:solidFill>
                  <a:srgbClr val="2563EB"/>
                </a:solidFill>
                <a:latin typeface="Arial"/>
                <a:ea typeface="Arial"/>
                <a:cs typeface="Arial"/>
              </a:rPr>
              <a:t>Entrega demostrable</a:t>
            </a:r>
          </a:p>
        </p:txBody>
      </p:sp>
      <p:sp>
        <p:nvSpPr>
          <p:cNvPr id="7" name="">
            <a:extLst xmlns:a="http://schemas.openxmlformats.org/drawingml/2006/main">
              <a:ext uri="{FF2B5EF4-FFF2-40B4-BE49-F238E27FC236}">
                <a16:creationId xmlns:a16="http://schemas.microsoft.com/office/drawing/2014/main" id="{660E620F-4CCD-4917-AA90-DF8660009982}"/>
              </a:ext>
            </a:extLst>
          </p:cNvPr>
          <p:cNvSpPr>
            <a:spLocks xmlns:a="http://schemas.openxmlformats.org/drawingml/2006/main" noGrp="1"/>
          </p:cNvSpPr>
          <p:nvPr/>
        </p:nvSpPr>
        <p:spPr>
          <a:xfrm xmlns:a="http://schemas.openxmlformats.org/drawingml/2006/main">
            <a:off x="6572250" y="2352675"/>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11827"/>
                </a:solidFill>
                <a:latin typeface="Arial"/>
                <a:ea typeface="Arial"/>
                <a:cs typeface="Arial"/>
              </a:defRPr>
            </a:pPr>
            <a:r>
              <a:rPr sz="2400" b="0">
                <a:solidFill>
                  <a:srgbClr val="111827"/>
                </a:solidFill>
                <a:latin typeface="Arial"/>
                <a:ea typeface="Arial"/>
                <a:cs typeface="Arial"/>
              </a:rPr>
              <a:t>Registro y acceso</a:t>
            </a:r>
          </a:p>
          <a:p xmlns:a="http://schemas.openxmlformats.org/drawingml/2006/main">
            <a:pPr>
              <a:defRPr sz="2400" b="0">
                <a:solidFill>
                  <a:srgbClr val="111827"/>
                </a:solidFill>
                <a:latin typeface="Arial"/>
                <a:ea typeface="Arial"/>
                <a:cs typeface="Arial"/>
              </a:defRPr>
            </a:pPr>
            <a:r>
              <a:rPr sz="2400" b="0">
                <a:solidFill>
                  <a:srgbClr val="111827"/>
                </a:solidFill>
                <a:latin typeface="Arial"/>
                <a:ea typeface="Arial"/>
                <a:cs typeface="Arial"/>
              </a:rPr>
              <a:t>Catálogo y carrito</a:t>
            </a:r>
          </a:p>
          <a:p xmlns:a="http://schemas.openxmlformats.org/drawingml/2006/main">
            <a:pPr>
              <a:defRPr sz="2400" b="0">
                <a:solidFill>
                  <a:srgbClr val="111827"/>
                </a:solidFill>
                <a:latin typeface="Arial"/>
                <a:ea typeface="Arial"/>
                <a:cs typeface="Arial"/>
              </a:defRPr>
            </a:pPr>
            <a:r>
              <a:rPr sz="2400" b="0">
                <a:solidFill>
                  <a:srgbClr val="111827"/>
                </a:solidFill>
                <a:latin typeface="Arial"/>
                <a:ea typeface="Arial"/>
                <a:cs typeface="Arial"/>
              </a:rPr>
              <a:t>Administración de productos</a:t>
            </a:r>
          </a:p>
        </p:txBody>
      </p:sp>
      <p:sp>
        <p:nvSpPr>
          <p:cNvPr id="8" name="">
            <a:extLst xmlns:a="http://schemas.openxmlformats.org/drawingml/2006/main">
              <a:ext uri="{FF2B5EF4-FFF2-40B4-BE49-F238E27FC236}">
                <a16:creationId xmlns:a16="http://schemas.microsoft.com/office/drawing/2014/main" id="{73B92669-CD35-45B6-BCC6-9746E5654802}"/>
              </a:ext>
            </a:extLst>
          </p:cNvPr>
          <p:cNvSpPr>
            <a:spLocks xmlns:a="http://schemas.openxmlformats.org/drawingml/2006/main" noGrp="1"/>
          </p:cNvSpPr>
          <p:nvPr/>
        </p:nvSpPr>
        <p:spPr>
          <a:xfrm xmlns:a="http://schemas.openxmlformats.org/drawingml/2006/main">
            <a:off x="609600" y="475297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11827"/>
                </a:solidFill>
                <a:latin typeface="Arial"/>
                <a:ea typeface="Arial"/>
                <a:cs typeface="Arial"/>
              </a:defRPr>
            </a:pPr>
            <a:r>
              <a:rPr sz="2325" b="1">
                <a:solidFill>
                  <a:srgbClr val="111827"/>
                </a:solidFill>
                <a:latin typeface="Arial"/>
                <a:ea typeface="Arial"/>
                <a:cs typeface="Arial"/>
              </a:rPr>
              <a:t>Pendientes del recorrido web</a:t>
            </a:r>
          </a:p>
        </p:txBody>
      </p:sp>
      <p:sp>
        <p:nvSpPr>
          <p:cNvPr id="9" name="">
            <a:extLst xmlns:a="http://schemas.openxmlformats.org/drawingml/2006/main">
              <a:ext uri="{FF2B5EF4-FFF2-40B4-BE49-F238E27FC236}">
                <a16:creationId xmlns:a16="http://schemas.microsoft.com/office/drawing/2014/main" id="{8BEA1712-1440-4511-9450-16E5435198BD}"/>
              </a:ext>
            </a:extLst>
          </p:cNvPr>
          <p:cNvSpPr>
            <a:spLocks xmlns:a="http://schemas.openxmlformats.org/drawingml/2006/main" noGrp="1"/>
          </p:cNvSpPr>
          <p:nvPr/>
        </p:nvSpPr>
        <p:spPr>
          <a:xfrm xmlns:a="http://schemas.openxmlformats.org/drawingml/2006/main">
            <a:off x="609600" y="532447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475569"/>
                </a:solidFill>
                <a:latin typeface="Arial"/>
                <a:ea typeface="Arial"/>
                <a:cs typeface="Arial"/>
              </a:defRPr>
            </a:pPr>
            <a:r>
              <a:rPr sz="2175" b="0">
                <a:solidFill>
                  <a:srgbClr val="475569"/>
                </a:solidFill>
                <a:latin typeface="Arial"/>
                <a:ea typeface="Arial"/>
                <a:cs typeface="Arial"/>
              </a:rPr>
              <a:t>Checkout MVC, recuperación de contraseña</a:t>
            </a:r>
          </a:p>
          <a:p xmlns:a="http://schemas.openxmlformats.org/drawingml/2006/main">
            <a:pPr>
              <a:defRPr sz="2175" b="0">
                <a:solidFill>
                  <a:srgbClr val="475569"/>
                </a:solidFill>
                <a:latin typeface="Arial"/>
                <a:ea typeface="Arial"/>
                <a:cs typeface="Arial"/>
              </a:defRPr>
            </a:pPr>
            <a:r>
              <a:rPr sz="2175" b="0">
                <a:solidFill>
                  <a:srgbClr val="475569"/>
                </a:solidFill>
                <a:latin typeface="Arial"/>
                <a:ea typeface="Arial"/>
                <a:cs typeface="Arial"/>
              </a:rPr>
              <a:t>y envío desde contacto o garantía</a:t>
            </a:r>
          </a:p>
        </p:txBody>
      </p:sp>
    </p:spTree>
    <p:extLst>
      <p:ext uri="{BB962C8B-B14F-4D97-AF65-F5344CB8AC3E}">
        <p14:creationId xmlns:p14="http://schemas.microsoft.com/office/powerpoint/2010/main" val="1830627410"/>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A27897-6C4C-4F47-8CFC-294255BAFB87}"/>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Cinco capacidades implementadas</a:t>
            </a:r>
          </a:p>
        </p:txBody>
      </p:sp>
      <p:sp>
        <p:nvSpPr>
          <p:cNvPr id="2" name="">
            <a:extLst xmlns:a="http://schemas.openxmlformats.org/drawingml/2006/main">
              <a:ext uri="{FF2B5EF4-FFF2-40B4-BE49-F238E27FC236}">
                <a16:creationId xmlns:a16="http://schemas.microsoft.com/office/drawing/2014/main" id="{A5D021DA-B6FE-48D4-87C5-1A0E1C30CA23}"/>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05 / 14</a:t>
            </a:r>
          </a:p>
        </p:txBody>
      </p:sp>
      <p:sp>
        <p:nvSpPr>
          <p:cNvPr id="3" name="">
            <a:extLst xmlns:a="http://schemas.openxmlformats.org/drawingml/2006/main">
              <a:ext uri="{FF2B5EF4-FFF2-40B4-BE49-F238E27FC236}">
                <a16:creationId xmlns:a16="http://schemas.microsoft.com/office/drawing/2014/main" id="{BF94188D-4DCF-42FA-A762-9C37E96291FB}"/>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Facundo   3:00–4:15</a:t>
            </a:r>
          </a:p>
        </p:txBody>
      </p:sp>
      <p:graphicFrame>
        <p:nvGraphicFramePr>
          <p:cNvPr id="10" name=""/>
          <p:cNvGraphicFramePr/>
          <p:nvPr/>
        </p:nvGraphicFramePr>
        <p:xfrm>
          <a:off xmlns:a="http://schemas.openxmlformats.org/drawingml/2006/main" x="609600" y="1562100"/>
          <a:ext xmlns:a="http://schemas.openxmlformats.org/drawingml/2006/main" cx="10972800" cy="3876675"/>
        </p:xfrm>
        <a:graphic xmlns:a="http://schemas.openxmlformats.org/drawingml/2006/main">
          <a:graphicData uri="http://schemas.openxmlformats.org/drawingml/2006/table">
            <a:tbl>
              <a:tblPr/>
              <a:tblGrid>
                <a:gridCol w="4857750"/>
                <a:gridCol w="1809750"/>
                <a:gridCol w="4305300"/>
              </a:tblGrid>
              <a:tr h="514350">
                <a:tc>
                  <a:txBody>
                    <a:bodyPr lIns="133350" tIns="85725" rIns="133350" bIns="85725">
                      <a:noAutofit/>
                    </a:bodyPr>
                    <a:lstStyle/>
                    <a:p>
                      <a:r>
                        <a:rPr sz="1875" b="1">
                          <a:solidFill>
                            <a:srgbClr val="FFFFFF"/>
                          </a:solidFill>
                          <a:latin typeface="Arial"/>
                          <a:ea typeface="Arial"/>
                          <a:cs typeface="Arial"/>
                        </a:rPr>
                        <a:t>Capacidad funcional</a:t>
                      </a:r>
                    </a:p>
                  </a:txBody>
                  <a:tcPr marL="91440" marR="91440" marT="45720" marB="45720" anchor="ctr">
                    <a:solidFill>
                      <a:srgbClr val="111827"/>
                    </a:solidFill>
                  </a:tcPr>
                </a:tc>
                <a:tc>
                  <a:txBody>
                    <a:bodyPr lIns="133350" tIns="85725" rIns="133350" bIns="85725">
                      <a:noAutofit/>
                    </a:bodyPr>
                    <a:lstStyle/>
                    <a:p>
                      <a:r>
                        <a:rPr sz="1875" b="1">
                          <a:solidFill>
                            <a:srgbClr val="FFFFFF"/>
                          </a:solidFill>
                          <a:latin typeface="Arial"/>
                          <a:ea typeface="Arial"/>
                          <a:cs typeface="Arial"/>
                        </a:rPr>
                        <a:t>Requisito</a:t>
                      </a:r>
                    </a:p>
                  </a:txBody>
                  <a:tcPr marL="91440" marR="91440" marT="45720" marB="45720" anchor="ctr">
                    <a:solidFill>
                      <a:srgbClr val="111827"/>
                    </a:solidFill>
                  </a:tcPr>
                </a:tc>
                <a:tc>
                  <a:txBody>
                    <a:bodyPr lIns="133350" tIns="85725" rIns="133350" bIns="85725">
                      <a:noAutofit/>
                    </a:bodyPr>
                    <a:lstStyle/>
                    <a:p>
                      <a:r>
                        <a:rPr sz="1875" b="1">
                          <a:solidFill>
                            <a:srgbClr val="FFFFFF"/>
                          </a:solidFill>
                          <a:latin typeface="Arial"/>
                          <a:ea typeface="Arial"/>
                          <a:cs typeface="Arial"/>
                        </a:rPr>
                        <a:t>Caso de uso / escenario</a:t>
                      </a:r>
                    </a:p>
                  </a:txBody>
                  <a:tcPr marL="91440" marR="91440" marT="45720" marB="45720" anchor="ctr">
                    <a:solidFill>
                      <a:srgbClr val="111827"/>
                    </a:solidFill>
                  </a:tcPr>
                </a:tc>
              </a:tr>
              <a:tr h="672465">
                <a:tc>
                  <a:txBody>
                    <a:bodyPr lIns="133350" tIns="85725" rIns="133350" bIns="85725">
                      <a:noAutofit/>
                    </a:bodyPr>
                    <a:lstStyle/>
                    <a:p>
                      <a:r>
                        <a:rPr sz="2025" b="0">
                          <a:solidFill>
                            <a:srgbClr val="111827"/>
                          </a:solidFill>
                          <a:latin typeface="Arial"/>
                          <a:ea typeface="Arial"/>
                          <a:cs typeface="Arial"/>
                        </a:rPr>
                        <a:t>Registro de clientes</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RF5</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UC-01</a:t>
                      </a:r>
                    </a:p>
                  </a:txBody>
                  <a:tcPr marL="91440" marR="91440" marT="45720" marB="45720" anchor="ctr">
                    <a:solidFill>
                      <a:srgbClr val="F8FAFC"/>
                    </a:solidFill>
                  </a:tcPr>
                </a:tc>
              </a:tr>
              <a:tr h="672465">
                <a:tc>
                  <a:txBody>
                    <a:bodyPr lIns="133350" tIns="85725" rIns="133350" bIns="85725">
                      <a:noAutofit/>
                    </a:bodyPr>
                    <a:lstStyle/>
                    <a:p>
                      <a:r>
                        <a:rPr sz="2025" b="0">
                          <a:solidFill>
                            <a:srgbClr val="111827"/>
                          </a:solidFill>
                          <a:latin typeface="Arial"/>
                          <a:ea typeface="Arial"/>
                          <a:cs typeface="Arial"/>
                        </a:rPr>
                        <a:t>Autenticación y roles</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RF5</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UC-02</a:t>
                      </a:r>
                    </a:p>
                  </a:txBody>
                  <a:tcPr marL="91440" marR="91440" marT="45720" marB="45720" anchor="ctr">
                    <a:solidFill>
                      <a:srgbClr val="F8FAFC"/>
                    </a:solidFill>
                  </a:tcPr>
                </a:tc>
              </a:tr>
              <a:tr h="672465">
                <a:tc>
                  <a:txBody>
                    <a:bodyPr lIns="133350" tIns="85725" rIns="133350" bIns="85725">
                      <a:noAutofit/>
                    </a:bodyPr>
                    <a:lstStyle/>
                    <a:p>
                      <a:r>
                        <a:rPr sz="2025" b="0">
                          <a:solidFill>
                            <a:srgbClr val="111827"/>
                          </a:solidFill>
                          <a:latin typeface="Arial"/>
                          <a:ea typeface="Arial"/>
                          <a:cs typeface="Arial"/>
                        </a:rPr>
                        <a:t>Catálogo y detalle</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RF2</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UC-07, 08 y 09</a:t>
                      </a:r>
                    </a:p>
                  </a:txBody>
                  <a:tcPr marL="91440" marR="91440" marT="45720" marB="45720" anchor="ctr">
                    <a:solidFill>
                      <a:srgbClr val="F8FAFC"/>
                    </a:solidFill>
                  </a:tcPr>
                </a:tc>
              </a:tr>
              <a:tr h="672465">
                <a:tc>
                  <a:txBody>
                    <a:bodyPr lIns="133350" tIns="85725" rIns="133350" bIns="85725">
                      <a:noAutofit/>
                    </a:bodyPr>
                    <a:lstStyle/>
                    <a:p>
                      <a:r>
                        <a:rPr sz="2025" b="0">
                          <a:solidFill>
                            <a:srgbClr val="111827"/>
                          </a:solidFill>
                          <a:latin typeface="Arial"/>
                          <a:ea typeface="Arial"/>
                          <a:cs typeface="Arial"/>
                        </a:rPr>
                        <a:t>Carrito propio</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RF3</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API actual</a:t>
                      </a:r>
                    </a:p>
                  </a:txBody>
                  <a:tcPr marL="91440" marR="91440" marT="45720" marB="45720" anchor="ctr">
                    <a:solidFill>
                      <a:srgbClr val="F8FAFC"/>
                    </a:solidFill>
                  </a:tcPr>
                </a:tc>
              </a:tr>
              <a:tr h="672465">
                <a:tc>
                  <a:txBody>
                    <a:bodyPr lIns="133350" tIns="85725" rIns="133350" bIns="85725">
                      <a:noAutofit/>
                    </a:bodyPr>
                    <a:lstStyle/>
                    <a:p>
                      <a:r>
                        <a:rPr sz="2025" b="0">
                          <a:solidFill>
                            <a:srgbClr val="111827"/>
                          </a:solidFill>
                          <a:latin typeface="Arial"/>
                          <a:ea typeface="Arial"/>
                          <a:cs typeface="Arial"/>
                        </a:rPr>
                        <a:t>Productos, stock e imágenes</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RF1</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UC-19</a:t>
                      </a:r>
                    </a:p>
                  </a:txBody>
                  <a:tcPr marL="91440" marR="91440" marT="45720" marB="45720" anchor="ctr">
                    <a:solidFill>
                      <a:srgbClr val="F8FAFC"/>
                    </a:solidFill>
                  </a:tcPr>
                </a:tc>
              </a:tr>
            </a:tbl>
          </a:graphicData>
        </a:graphic>
      </p:graphicFrame>
      <p:sp>
        <p:nvSpPr>
          <p:cNvPr id="5" name="">
            <a:extLst xmlns:a="http://schemas.openxmlformats.org/drawingml/2006/main">
              <a:ext uri="{FF2B5EF4-FFF2-40B4-BE49-F238E27FC236}">
                <a16:creationId xmlns:a16="http://schemas.microsoft.com/office/drawing/2014/main" id="{52120DF6-02E6-4C1A-85EB-39F81D2DDB6E}"/>
              </a:ext>
            </a:extLst>
          </p:cNvPr>
          <p:cNvSpPr>
            <a:spLocks xmlns:a="http://schemas.openxmlformats.org/drawingml/2006/main" noGrp="1"/>
          </p:cNvSpPr>
          <p:nvPr/>
        </p:nvSpPr>
        <p:spPr>
          <a:xfrm xmlns:a="http://schemas.openxmlformats.org/drawingml/2006/main">
            <a:off x="609600" y="5648325"/>
            <a:ext cx="1081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563EB"/>
                </a:solidFill>
                <a:latin typeface="Arial"/>
                <a:ea typeface="Arial"/>
                <a:cs typeface="Arial"/>
              </a:defRPr>
            </a:pPr>
            <a:r>
              <a:rPr sz="1950" b="1">
                <a:solidFill>
                  <a:srgbClr val="2563EB"/>
                </a:solidFill>
                <a:latin typeface="Arial"/>
                <a:ea typeface="Arial"/>
                <a:cs typeface="Arial"/>
              </a:rPr>
              <a:t>Registro y login derivan de RF5. Carrito: RF3 y API vigente.</a:t>
            </a:r>
          </a:p>
        </p:txBody>
      </p:sp>
      <p:sp>
        <p:nvSpPr>
          <p:cNvPr id="6" name="">
            <a:extLst xmlns:a="http://schemas.openxmlformats.org/drawingml/2006/main">
              <a:ext uri="{FF2B5EF4-FFF2-40B4-BE49-F238E27FC236}">
                <a16:creationId xmlns:a16="http://schemas.microsoft.com/office/drawing/2014/main" id="{8FAF8977-BC7B-435B-9630-66F1ED29E49A}"/>
              </a:ext>
            </a:extLst>
          </p:cNvPr>
          <p:cNvSpPr>
            <a:spLocks xmlns:a="http://schemas.openxmlformats.org/drawingml/2006/main" noGrp="1"/>
          </p:cNvSpPr>
          <p:nvPr/>
        </p:nvSpPr>
        <p:spPr>
          <a:xfrm xmlns:a="http://schemas.openxmlformats.org/drawingml/2006/main">
            <a:off x="609600" y="60007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El documento histórico de casos de uso describe checkout sin carrito.</a:t>
            </a:r>
          </a:p>
        </p:txBody>
      </p:sp>
    </p:spTree>
    <p:extLst>
      <p:ext uri="{BB962C8B-B14F-4D97-AF65-F5344CB8AC3E}">
        <p14:creationId xmlns:p14="http://schemas.microsoft.com/office/powerpoint/2010/main" val="829997877"/>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295C7C2-537E-4F20-850A-2510B99E7D3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Registro de clientes</a:t>
            </a:r>
          </a:p>
        </p:txBody>
      </p:sp>
      <p:sp>
        <p:nvSpPr>
          <p:cNvPr id="2" name="">
            <a:extLst xmlns:a="http://schemas.openxmlformats.org/drawingml/2006/main">
              <a:ext uri="{FF2B5EF4-FFF2-40B4-BE49-F238E27FC236}">
                <a16:creationId xmlns:a16="http://schemas.microsoft.com/office/drawing/2014/main" id="{1F739296-517F-4597-A8B4-E20B51DC9472}"/>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06 / 14</a:t>
            </a:r>
          </a:p>
        </p:txBody>
      </p:sp>
      <p:sp>
        <p:nvSpPr>
          <p:cNvPr id="3" name="">
            <a:extLst xmlns:a="http://schemas.openxmlformats.org/drawingml/2006/main">
              <a:ext uri="{FF2B5EF4-FFF2-40B4-BE49-F238E27FC236}">
                <a16:creationId xmlns:a16="http://schemas.microsoft.com/office/drawing/2014/main" id="{E8DD38B7-C2F7-474D-BAEA-A4FDB06D0F30}"/>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Daiana   4:15–5:45</a:t>
            </a:r>
          </a:p>
        </p:txBody>
      </p:sp>
      <p:sp>
        <p:nvSpPr>
          <p:cNvPr id="4" name="">
            <a:extLst xmlns:a="http://schemas.openxmlformats.org/drawingml/2006/main">
              <a:ext uri="{FF2B5EF4-FFF2-40B4-BE49-F238E27FC236}">
                <a16:creationId xmlns:a16="http://schemas.microsoft.com/office/drawing/2014/main" id="{D99D093B-FDB5-4253-B74D-49D3F5AF1EF0}"/>
              </a:ext>
            </a:extLst>
          </p:cNvPr>
          <p:cNvSpPr>
            <a:spLocks xmlns:a="http://schemas.openxmlformats.org/drawingml/2006/main" noGrp="1"/>
          </p:cNvSpPr>
          <p:nvPr/>
        </p:nvSpPr>
        <p:spPr>
          <a:xfrm xmlns:a="http://schemas.openxmlformats.org/drawingml/2006/main">
            <a:off x="609600" y="1219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563EB"/>
                </a:solidFill>
                <a:latin typeface="Arial"/>
                <a:ea typeface="Arial"/>
                <a:cs typeface="Arial"/>
              </a:defRPr>
            </a:pPr>
            <a:r>
              <a:rPr sz="1950" b="1">
                <a:solidFill>
                  <a:srgbClr val="2563EB"/>
                </a:solidFill>
                <a:latin typeface="Arial"/>
                <a:ea typeface="Arial"/>
                <a:cs typeface="Arial"/>
              </a:rPr>
              <a:t>RF5 / UC-01</a:t>
            </a:r>
          </a:p>
        </p:txBody>
      </p:sp>
      <p:sp>
        <p:nvSpPr>
          <p:cNvPr id="5" name="">
            <a:extLst xmlns:a="http://schemas.openxmlformats.org/drawingml/2006/main">
              <a:ext uri="{FF2B5EF4-FFF2-40B4-BE49-F238E27FC236}">
                <a16:creationId xmlns:a16="http://schemas.microsoft.com/office/drawing/2014/main" id="{9F542838-E435-4A07-BFA7-9A1CD62AE499}"/>
              </a:ext>
            </a:extLst>
          </p:cNvPr>
          <p:cNvSpPr>
            <a:spLocks xmlns:a="http://schemas.openxmlformats.org/drawingml/2006/main" noGrp="1"/>
          </p:cNvSpPr>
          <p:nvPr/>
        </p:nvSpPr>
        <p:spPr>
          <a:xfrm xmlns:a="http://schemas.openxmlformats.org/drawingml/2006/main">
            <a:off x="609600" y="1876425"/>
            <a:ext cx="2514600" cy="72390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Formulario Razor</a:t>
            </a:r>
          </a:p>
        </p:txBody>
      </p:sp>
      <p:sp>
        <p:nvSpPr>
          <p:cNvPr id="6" name="">
            <a:extLst xmlns:a="http://schemas.openxmlformats.org/drawingml/2006/main">
              <a:ext uri="{FF2B5EF4-FFF2-40B4-BE49-F238E27FC236}">
                <a16:creationId xmlns:a16="http://schemas.microsoft.com/office/drawing/2014/main" id="{13E8BE2D-1976-4FFC-BF4D-298EA456482E}"/>
              </a:ext>
            </a:extLst>
          </p:cNvPr>
          <p:cNvSpPr>
            <a:spLocks xmlns:a="http://schemas.openxmlformats.org/drawingml/2006/main" noGrp="1"/>
          </p:cNvSpPr>
          <p:nvPr/>
        </p:nvSpPr>
        <p:spPr>
          <a:xfrm xmlns:a="http://schemas.openxmlformats.org/drawingml/2006/main">
            <a:off x="3429000" y="1876425"/>
            <a:ext cx="2514600" cy="72390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HomeController</a:t>
            </a:r>
          </a:p>
        </p:txBody>
      </p: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3124200" y="2238375"/>
            <a:ext cx="304800" cy="0"/>
          </a:xfrm>
          <a:prstGeom xmlns:a="http://schemas.openxmlformats.org/drawingml/2006/main" prst="straightConnector1">
            <a:avLst/>
          </a:prstGeom>
          <a:ln xmlns:a="http://schemas.openxmlformats.org/drawingml/2006/main" w="19050">
            <a:solidFill>
              <a:srgbClr val="2563EB"/>
            </a:solidFill>
            <a:tailEnd type="arrow" w="med" len="med"/>
          </a:ln>
        </p:spPr>
      </p:cxnSp>
      <p:sp>
        <p:nvSpPr>
          <p:cNvPr id="8" name="">
            <a:extLst xmlns:a="http://schemas.openxmlformats.org/drawingml/2006/main">
              <a:ext uri="{FF2B5EF4-FFF2-40B4-BE49-F238E27FC236}">
                <a16:creationId xmlns:a16="http://schemas.microsoft.com/office/drawing/2014/main" id="{F63C415E-0487-491A-9923-4D39A9CE846A}"/>
              </a:ext>
            </a:extLst>
          </p:cNvPr>
          <p:cNvSpPr>
            <a:spLocks xmlns:a="http://schemas.openxmlformats.org/drawingml/2006/main" noGrp="1"/>
          </p:cNvSpPr>
          <p:nvPr/>
        </p:nvSpPr>
        <p:spPr>
          <a:xfrm xmlns:a="http://schemas.openxmlformats.org/drawingml/2006/main">
            <a:off x="6248400" y="1876425"/>
            <a:ext cx="2514600" cy="72390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Registro en API</a:t>
            </a:r>
          </a:p>
        </p:txBody>
      </p:sp>
      <p:cxnSp>
        <p:nvCxnSpPr>
          <p:cNvPr id="25" name=""/>
          <p:cNvCxnSpPr>
            <a:stCxn xmlns:a="http://schemas.openxmlformats.org/drawingml/2006/main" id="6" idx="3"/>
            <a:endCxn xmlns:a="http://schemas.openxmlformats.org/drawingml/2006/main" id="8" idx="1"/>
          </p:cNvCxnSpPr>
          <p:nvPr/>
        </p:nvCxnSpPr>
        <p:spPr>
          <a:xfrm xmlns:a="http://schemas.openxmlformats.org/drawingml/2006/main">
            <a:off x="5943600" y="2238375"/>
            <a:ext cx="304800" cy="0"/>
          </a:xfrm>
          <a:prstGeom xmlns:a="http://schemas.openxmlformats.org/drawingml/2006/main" prst="straightConnector1">
            <a:avLst/>
          </a:prstGeom>
          <a:ln xmlns:a="http://schemas.openxmlformats.org/drawingml/2006/main" w="19050">
            <a:solidFill>
              <a:srgbClr val="2563EB"/>
            </a:solidFill>
            <a:tailEnd type="arrow" w="med" len="med"/>
          </a:ln>
        </p:spPr>
      </p:cxnSp>
      <p:sp>
        <p:nvSpPr>
          <p:cNvPr id="10" name="">
            <a:extLst xmlns:a="http://schemas.openxmlformats.org/drawingml/2006/main">
              <a:ext uri="{FF2B5EF4-FFF2-40B4-BE49-F238E27FC236}">
                <a16:creationId xmlns:a16="http://schemas.microsoft.com/office/drawing/2014/main" id="{5382B618-683D-4504-9CF7-6DE127FB4AA5}"/>
              </a:ext>
            </a:extLst>
          </p:cNvPr>
          <p:cNvSpPr>
            <a:spLocks xmlns:a="http://schemas.openxmlformats.org/drawingml/2006/main" noGrp="1"/>
          </p:cNvSpPr>
          <p:nvPr/>
        </p:nvSpPr>
        <p:spPr>
          <a:xfrm xmlns:a="http://schemas.openxmlformats.org/drawingml/2006/main">
            <a:off x="9067800" y="1876425"/>
            <a:ext cx="2514600" cy="72390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SQL Server</a:t>
            </a:r>
          </a:p>
        </p:txBody>
      </p:sp>
      <p:cxnSp>
        <p:nvCxnSpPr>
          <p:cNvPr id="27" name=""/>
          <p:cNvCxnSpPr>
            <a:stCxn xmlns:a="http://schemas.openxmlformats.org/drawingml/2006/main" id="8" idx="3"/>
            <a:endCxn xmlns:a="http://schemas.openxmlformats.org/drawingml/2006/main" id="10" idx="1"/>
          </p:cNvCxnSpPr>
          <p:nvPr/>
        </p:nvCxnSpPr>
        <p:spPr>
          <a:xfrm xmlns:a="http://schemas.openxmlformats.org/drawingml/2006/main">
            <a:off x="8763000" y="2238375"/>
            <a:ext cx="304800" cy="0"/>
          </a:xfrm>
          <a:prstGeom xmlns:a="http://schemas.openxmlformats.org/drawingml/2006/main" prst="straightConnector1">
            <a:avLst/>
          </a:prstGeom>
          <a:ln xmlns:a="http://schemas.openxmlformats.org/drawingml/2006/main" w="19050">
            <a:solidFill>
              <a:srgbClr val="2563EB"/>
            </a:solidFill>
            <a:tailEnd type="arrow" w="med" len="med"/>
          </a:ln>
        </p:spPr>
      </p:cxnSp>
      <p:sp>
        <p:nvSpPr>
          <p:cNvPr id="12" name="">
            <a:extLst xmlns:a="http://schemas.openxmlformats.org/drawingml/2006/main">
              <a:ext uri="{FF2B5EF4-FFF2-40B4-BE49-F238E27FC236}">
                <a16:creationId xmlns:a16="http://schemas.microsoft.com/office/drawing/2014/main" id="{6C628D8A-92CC-4C06-A285-BFA6BF87E33D}"/>
              </a:ext>
            </a:extLst>
          </p:cNvPr>
          <p:cNvSpPr>
            <a:spLocks xmlns:a="http://schemas.openxmlformats.org/drawingml/2006/main" noGrp="1"/>
          </p:cNvSpPr>
          <p:nvPr/>
        </p:nvSpPr>
        <p:spPr>
          <a:xfrm xmlns:a="http://schemas.openxmlformats.org/drawingml/2006/main">
            <a:off x="609600" y="3105150"/>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111827"/>
                </a:solidFill>
                <a:latin typeface="Arial"/>
                <a:ea typeface="Arial"/>
                <a:cs typeface="Arial"/>
              </a:defRPr>
            </a:pPr>
            <a:r>
              <a:rPr sz="2925" b="1">
                <a:solidFill>
                  <a:srgbClr val="111827"/>
                </a:solidFill>
                <a:latin typeface="Arial"/>
                <a:ea typeface="Arial"/>
                <a:cs typeface="Arial"/>
              </a:rPr>
              <a:t>Crear una cuenta de cliente</a:t>
            </a:r>
          </a:p>
        </p:txBody>
      </p:sp>
      <p:sp>
        <p:nvSpPr>
          <p:cNvPr id="13" name="">
            <a:extLst xmlns:a="http://schemas.openxmlformats.org/drawingml/2006/main">
              <a:ext uri="{FF2B5EF4-FFF2-40B4-BE49-F238E27FC236}">
                <a16:creationId xmlns:a16="http://schemas.microsoft.com/office/drawing/2014/main" id="{EA0792AB-A407-4FE0-9AFE-34438D84998D}"/>
              </a:ext>
            </a:extLst>
          </p:cNvPr>
          <p:cNvSpPr>
            <a:spLocks xmlns:a="http://schemas.openxmlformats.org/drawingml/2006/main" noGrp="1"/>
          </p:cNvSpPr>
          <p:nvPr/>
        </p:nvSpPr>
        <p:spPr>
          <a:xfrm xmlns:a="http://schemas.openxmlformats.org/drawingml/2006/main">
            <a:off x="609600" y="429577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2563EB"/>
                </a:solidFill>
                <a:latin typeface="Arial"/>
                <a:ea typeface="Arial"/>
                <a:cs typeface="Arial"/>
              </a:defRPr>
            </a:pPr>
            <a:r>
              <a:rPr sz="2325" b="0">
                <a:solidFill>
                  <a:srgbClr val="2563EB"/>
                </a:solidFill>
                <a:latin typeface="Arial"/>
                <a:ea typeface="Arial"/>
                <a:cs typeface="Arial"/>
              </a:rPr>
              <a:t>201   Cuenta creada</a:t>
            </a:r>
          </a:p>
          <a:p xmlns:a="http://schemas.openxmlformats.org/drawingml/2006/main">
            <a:pPr>
              <a:defRPr sz="2325" b="0">
                <a:solidFill>
                  <a:srgbClr val="2563EB"/>
                </a:solidFill>
                <a:latin typeface="Arial"/>
                <a:ea typeface="Arial"/>
                <a:cs typeface="Arial"/>
              </a:defRPr>
            </a:pPr>
            <a:r>
              <a:rPr sz="2325" b="0">
                <a:solidFill>
                  <a:srgbClr val="2563EB"/>
                </a:solidFill>
                <a:latin typeface="Arial"/>
                <a:ea typeface="Arial"/>
                <a:cs typeface="Arial"/>
              </a:rPr>
              <a:t>409   Email existente</a:t>
            </a:r>
          </a:p>
        </p:txBody>
      </p:sp>
      <p:sp>
        <p:nvSpPr>
          <p:cNvPr id="14" name="">
            <a:extLst xmlns:a="http://schemas.openxmlformats.org/drawingml/2006/main">
              <a:ext uri="{FF2B5EF4-FFF2-40B4-BE49-F238E27FC236}">
                <a16:creationId xmlns:a16="http://schemas.microsoft.com/office/drawing/2014/main" id="{6D271348-64E5-4F9F-BB19-9001EB561C43}"/>
              </a:ext>
            </a:extLst>
          </p:cNvPr>
          <p:cNvSpPr>
            <a:spLocks xmlns:a="http://schemas.openxmlformats.org/drawingml/2006/main" noGrp="1"/>
          </p:cNvSpPr>
          <p:nvPr/>
        </p:nvSpPr>
        <p:spPr>
          <a:xfrm xmlns:a="http://schemas.openxmlformats.org/drawingml/2006/main">
            <a:off x="6096000" y="3105150"/>
            <a:ext cx="5476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11827"/>
                </a:solidFill>
                <a:latin typeface="Arial"/>
                <a:ea typeface="Arial"/>
                <a:cs typeface="Arial"/>
              </a:defRPr>
            </a:pPr>
            <a:r>
              <a:rPr sz="1950" b="1">
                <a:solidFill>
                  <a:srgbClr val="111827"/>
                </a:solidFill>
                <a:latin typeface="Arial"/>
                <a:ea typeface="Arial"/>
                <a:cs typeface="Arial"/>
              </a:rPr>
              <a:t>UsuariosLogica.RegistrarAsync</a:t>
            </a:r>
          </a:p>
        </p:txBody>
      </p:sp>
      <p:sp>
        <p:nvSpPr>
          <p:cNvPr id="15" name="">
            <a:extLst xmlns:a="http://schemas.openxmlformats.org/drawingml/2006/main">
              <a:ext uri="{FF2B5EF4-FFF2-40B4-BE49-F238E27FC236}">
                <a16:creationId xmlns:a16="http://schemas.microsoft.com/office/drawing/2014/main" id="{6438EDC4-BEDA-4A69-964B-2ADC45887D14}"/>
              </a:ext>
            </a:extLst>
          </p:cNvPr>
          <p:cNvSpPr>
            <a:spLocks xmlns:a="http://schemas.openxmlformats.org/drawingml/2006/main" noGrp="1"/>
          </p:cNvSpPr>
          <p:nvPr/>
        </p:nvSpPr>
        <p:spPr>
          <a:xfrm xmlns:a="http://schemas.openxmlformats.org/drawingml/2006/main">
            <a:off x="6096000" y="3724275"/>
            <a:ext cx="5476875"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usuario.Rol = RolUsuario.Cliente;</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usuario.FechaRegistro = DateTime.UtcNow;</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return CrearAsync(usuario);</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a:t>
            </a:r>
          </a:p>
        </p:txBody>
      </p:sp>
      <p:sp>
        <p:nvSpPr>
          <p:cNvPr id="16" name="">
            <a:extLst xmlns:a="http://schemas.openxmlformats.org/drawingml/2006/main">
              <a:ext uri="{FF2B5EF4-FFF2-40B4-BE49-F238E27FC236}">
                <a16:creationId xmlns:a16="http://schemas.microsoft.com/office/drawing/2014/main" id="{F3FFFF28-52C3-4CF9-AF63-B217228E23B1}"/>
              </a:ext>
            </a:extLst>
          </p:cNvPr>
          <p:cNvSpPr>
            <a:spLocks xmlns:a="http://schemas.openxmlformats.org/drawingml/2006/main" noGrp="1"/>
          </p:cNvSpPr>
          <p:nvPr/>
        </p:nvSpPr>
        <p:spPr>
          <a:xfrm xmlns:a="http://schemas.openxmlformats.org/drawingml/2006/main">
            <a:off x="609600" y="59721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Diagrama del flujo. MVC redirige a Login al completar el registro.</a:t>
            </a:r>
          </a:p>
        </p:txBody>
      </p:sp>
    </p:spTree>
    <p:extLst>
      <p:ext uri="{BB962C8B-B14F-4D97-AF65-F5344CB8AC3E}">
        <p14:creationId xmlns:p14="http://schemas.microsoft.com/office/powerpoint/2010/main" val="1316071715"/>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C30215C-9DAF-4236-AC34-8EA7E80D21D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Inicio de sesión y permisos</a:t>
            </a:r>
          </a:p>
        </p:txBody>
      </p:sp>
      <p:sp>
        <p:nvSpPr>
          <p:cNvPr id="2" name="">
            <a:extLst xmlns:a="http://schemas.openxmlformats.org/drawingml/2006/main">
              <a:ext uri="{FF2B5EF4-FFF2-40B4-BE49-F238E27FC236}">
                <a16:creationId xmlns:a16="http://schemas.microsoft.com/office/drawing/2014/main" id="{828F7E83-3D23-4EC0-BCF8-478399D116C3}"/>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07 / 14</a:t>
            </a:r>
          </a:p>
        </p:txBody>
      </p:sp>
      <p:sp>
        <p:nvSpPr>
          <p:cNvPr id="3" name="">
            <a:extLst xmlns:a="http://schemas.openxmlformats.org/drawingml/2006/main">
              <a:ext uri="{FF2B5EF4-FFF2-40B4-BE49-F238E27FC236}">
                <a16:creationId xmlns:a16="http://schemas.microsoft.com/office/drawing/2014/main" id="{6CF8C0D9-5E10-498C-A2B4-1B91F48DC31D}"/>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Facundo   5:45–7:15</a:t>
            </a:r>
          </a:p>
        </p:txBody>
      </p:sp>
      <p:sp>
        <p:nvSpPr>
          <p:cNvPr id="4" name="">
            <a:extLst xmlns:a="http://schemas.openxmlformats.org/drawingml/2006/main">
              <a:ext uri="{FF2B5EF4-FFF2-40B4-BE49-F238E27FC236}">
                <a16:creationId xmlns:a16="http://schemas.microsoft.com/office/drawing/2014/main" id="{1F863E86-52E2-403B-B400-59BC0B1873DA}"/>
              </a:ext>
            </a:extLst>
          </p:cNvPr>
          <p:cNvSpPr>
            <a:spLocks xmlns:a="http://schemas.openxmlformats.org/drawingml/2006/main" noGrp="1"/>
          </p:cNvSpPr>
          <p:nvPr/>
        </p:nvSpPr>
        <p:spPr>
          <a:xfrm xmlns:a="http://schemas.openxmlformats.org/drawingml/2006/main">
            <a:off x="609600" y="1219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563EB"/>
                </a:solidFill>
                <a:latin typeface="Arial"/>
                <a:ea typeface="Arial"/>
                <a:cs typeface="Arial"/>
              </a:defRPr>
            </a:pPr>
            <a:r>
              <a:rPr sz="1950" b="1">
                <a:solidFill>
                  <a:srgbClr val="2563EB"/>
                </a:solidFill>
                <a:latin typeface="Arial"/>
                <a:ea typeface="Arial"/>
                <a:cs typeface="Arial"/>
              </a:rPr>
              <a:t>RF5 / UC-02</a:t>
            </a:r>
          </a:p>
        </p:txBody>
      </p:sp>
      <p:sp>
        <p:nvSpPr>
          <p:cNvPr id="5" name="">
            <a:extLst xmlns:a="http://schemas.openxmlformats.org/drawingml/2006/main">
              <a:ext uri="{FF2B5EF4-FFF2-40B4-BE49-F238E27FC236}">
                <a16:creationId xmlns:a16="http://schemas.microsoft.com/office/drawing/2014/main" id="{7D63743F-59A3-4050-A62A-67272BEC237F}"/>
              </a:ext>
            </a:extLst>
          </p:cNvPr>
          <p:cNvSpPr>
            <a:spLocks xmlns:a="http://schemas.openxmlformats.org/drawingml/2006/main" noGrp="1"/>
          </p:cNvSpPr>
          <p:nvPr/>
        </p:nvSpPr>
        <p:spPr>
          <a:xfrm xmlns:a="http://schemas.openxmlformats.org/drawingml/2006/main">
            <a:off x="609600" y="1924050"/>
            <a:ext cx="2762250" cy="74295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Credenciales</a:t>
            </a:r>
          </a:p>
        </p:txBody>
      </p:sp>
      <p:sp>
        <p:nvSpPr>
          <p:cNvPr id="6" name="">
            <a:extLst xmlns:a="http://schemas.openxmlformats.org/drawingml/2006/main">
              <a:ext uri="{FF2B5EF4-FFF2-40B4-BE49-F238E27FC236}">
                <a16:creationId xmlns:a16="http://schemas.microsoft.com/office/drawing/2014/main" id="{ED1993B6-4C2A-4552-AB0D-05A25D60DC22}"/>
              </a:ext>
            </a:extLst>
          </p:cNvPr>
          <p:cNvSpPr>
            <a:spLocks xmlns:a="http://schemas.openxmlformats.org/drawingml/2006/main" noGrp="1"/>
          </p:cNvSpPr>
          <p:nvPr/>
        </p:nvSpPr>
        <p:spPr>
          <a:xfrm xmlns:a="http://schemas.openxmlformats.org/drawingml/2006/main">
            <a:off x="4686300" y="1924050"/>
            <a:ext cx="2857500" cy="74295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Hash validado + JWT</a:t>
            </a:r>
          </a:p>
        </p:txBody>
      </p:sp>
      <p:sp>
        <p:nvSpPr>
          <p:cNvPr id="7" name="">
            <a:extLst xmlns:a="http://schemas.openxmlformats.org/drawingml/2006/main">
              <a:ext uri="{FF2B5EF4-FFF2-40B4-BE49-F238E27FC236}">
                <a16:creationId xmlns:a16="http://schemas.microsoft.com/office/drawing/2014/main" id="{4E3398F5-54E5-42BE-B718-9BAD7085D470}"/>
              </a:ext>
            </a:extLst>
          </p:cNvPr>
          <p:cNvSpPr>
            <a:spLocks xmlns:a="http://schemas.openxmlformats.org/drawingml/2006/main" noGrp="1"/>
          </p:cNvSpPr>
          <p:nvPr/>
        </p:nvSpPr>
        <p:spPr>
          <a:xfrm xmlns:a="http://schemas.openxmlformats.org/drawingml/2006/main">
            <a:off x="8763000" y="1924050"/>
            <a:ext cx="2819400" cy="74295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Cookie MVC</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3371850" y="2295525"/>
            <a:ext cx="1314450" cy="0"/>
          </a:xfrm>
          <a:prstGeom xmlns:a="http://schemas.openxmlformats.org/drawingml/2006/main" prst="straightConnector1">
            <a:avLst/>
          </a:prstGeom>
          <a:ln xmlns:a="http://schemas.openxmlformats.org/drawingml/2006/main" w="19050">
            <a:solidFill>
              <a:srgbClr val="2563EB"/>
            </a:solidFill>
            <a:tailEnd type="arrow" w="med" len="med"/>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7543800" y="2295525"/>
            <a:ext cx="1219200" cy="0"/>
          </a:xfrm>
          <a:prstGeom xmlns:a="http://schemas.openxmlformats.org/drawingml/2006/main" prst="straightConnector1">
            <a:avLst/>
          </a:prstGeom>
          <a:ln xmlns:a="http://schemas.openxmlformats.org/drawingml/2006/main" w="19050">
            <a:solidFill>
              <a:srgbClr val="2563EB"/>
            </a:solidFill>
            <a:tailEnd type="arrow" w="med" len="med"/>
          </a:ln>
        </p:spPr>
      </p:cxnSp>
      <p:sp>
        <p:nvSpPr>
          <p:cNvPr id="10" name="">
            <a:extLst xmlns:a="http://schemas.openxmlformats.org/drawingml/2006/main">
              <a:ext uri="{FF2B5EF4-FFF2-40B4-BE49-F238E27FC236}">
                <a16:creationId xmlns:a16="http://schemas.microsoft.com/office/drawing/2014/main" id="{1FA02364-4D08-4213-9BA1-24FBD948FC9C}"/>
              </a:ext>
            </a:extLst>
          </p:cNvPr>
          <p:cNvSpPr>
            <a:spLocks xmlns:a="http://schemas.openxmlformats.org/drawingml/2006/main" noGrp="1"/>
          </p:cNvSpPr>
          <p:nvPr/>
        </p:nvSpPr>
        <p:spPr>
          <a:xfrm xmlns:a="http://schemas.openxmlformats.org/drawingml/2006/main">
            <a:off x="609600" y="3343275"/>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11827"/>
                </a:solidFill>
                <a:latin typeface="Arial"/>
                <a:ea typeface="Arial"/>
                <a:cs typeface="Arial"/>
              </a:defRPr>
            </a:pPr>
            <a:r>
              <a:rPr sz="2625" b="1">
                <a:solidFill>
                  <a:srgbClr val="111827"/>
                </a:solidFill>
                <a:latin typeface="Arial"/>
                <a:ea typeface="Arial"/>
                <a:cs typeface="Arial"/>
              </a:rPr>
              <a:t>Dos responsabilidades</a:t>
            </a:r>
          </a:p>
        </p:txBody>
      </p:sp>
      <p:sp>
        <p:nvSpPr>
          <p:cNvPr id="11" name="">
            <a:extLst xmlns:a="http://schemas.openxmlformats.org/drawingml/2006/main">
              <a:ext uri="{FF2B5EF4-FFF2-40B4-BE49-F238E27FC236}">
                <a16:creationId xmlns:a16="http://schemas.microsoft.com/office/drawing/2014/main" id="{185318F1-793E-4E74-A747-5B70E7BFAFB5}"/>
              </a:ext>
            </a:extLst>
          </p:cNvPr>
          <p:cNvSpPr>
            <a:spLocks xmlns:a="http://schemas.openxmlformats.org/drawingml/2006/main" noGrp="1"/>
          </p:cNvSpPr>
          <p:nvPr/>
        </p:nvSpPr>
        <p:spPr>
          <a:xfrm xmlns:a="http://schemas.openxmlformats.org/drawingml/2006/main">
            <a:off x="609600" y="4048125"/>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11827"/>
                </a:solidFill>
                <a:latin typeface="Arial"/>
                <a:ea typeface="Arial"/>
                <a:cs typeface="Arial"/>
              </a:defRPr>
            </a:pPr>
            <a:r>
              <a:rPr sz="2325" b="0">
                <a:solidFill>
                  <a:srgbClr val="111827"/>
                </a:solidFill>
                <a:latin typeface="Arial"/>
                <a:ea typeface="Arial"/>
                <a:cs typeface="Arial"/>
              </a:rPr>
              <a:t>Cookie: navegación MVC</a:t>
            </a:r>
          </a:p>
          <a:p xmlns:a="http://schemas.openxmlformats.org/drawingml/2006/main">
            <a:pPr>
              <a:defRPr sz="2325" b="0">
                <a:solidFill>
                  <a:srgbClr val="111827"/>
                </a:solidFill>
                <a:latin typeface="Arial"/>
                <a:ea typeface="Arial"/>
                <a:cs typeface="Arial"/>
              </a:defRPr>
            </a:pPr>
            <a:r>
              <a:rPr sz="2325" b="0">
                <a:solidFill>
                  <a:srgbClr val="111827"/>
                </a:solidFill>
                <a:latin typeface="Arial"/>
                <a:ea typeface="Arial"/>
                <a:cs typeface="Arial"/>
              </a:rPr>
              <a:t>JWT: llamadas a la API</a:t>
            </a:r>
          </a:p>
        </p:txBody>
      </p:sp>
      <p:sp>
        <p:nvSpPr>
          <p:cNvPr id="12" name="">
            <a:extLst xmlns:a="http://schemas.openxmlformats.org/drawingml/2006/main">
              <a:ext uri="{FF2B5EF4-FFF2-40B4-BE49-F238E27FC236}">
                <a16:creationId xmlns:a16="http://schemas.microsoft.com/office/drawing/2014/main" id="{3FD6DA5C-2B91-4EC4-B9B6-76FB6BB0E749}"/>
              </a:ext>
            </a:extLst>
          </p:cNvPr>
          <p:cNvSpPr>
            <a:spLocks xmlns:a="http://schemas.openxmlformats.org/drawingml/2006/main" noGrp="1"/>
          </p:cNvSpPr>
          <p:nvPr/>
        </p:nvSpPr>
        <p:spPr>
          <a:xfrm xmlns:a="http://schemas.openxmlformats.org/drawingml/2006/main">
            <a:off x="609600" y="53530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563EB"/>
                </a:solidFill>
                <a:latin typeface="Arial"/>
                <a:ea typeface="Arial"/>
                <a:cs typeface="Arial"/>
              </a:defRPr>
            </a:pPr>
            <a:r>
              <a:rPr sz="2175" b="1">
                <a:solidFill>
                  <a:srgbClr val="2563EB"/>
                </a:solidFill>
                <a:latin typeface="Arial"/>
                <a:ea typeface="Arial"/>
                <a:cs typeface="Arial"/>
              </a:rPr>
              <a:t>El servidor verifica el rol</a:t>
            </a:r>
          </a:p>
        </p:txBody>
      </p:sp>
      <p:sp>
        <p:nvSpPr>
          <p:cNvPr id="13" name="">
            <a:extLst xmlns:a="http://schemas.openxmlformats.org/drawingml/2006/main">
              <a:ext uri="{FF2B5EF4-FFF2-40B4-BE49-F238E27FC236}">
                <a16:creationId xmlns:a16="http://schemas.microsoft.com/office/drawing/2014/main" id="{52B9950F-A6AD-4362-897D-EB905D0D690C}"/>
              </a:ext>
            </a:extLst>
          </p:cNvPr>
          <p:cNvSpPr>
            <a:spLocks xmlns:a="http://schemas.openxmlformats.org/drawingml/2006/main" noGrp="1"/>
          </p:cNvSpPr>
          <p:nvPr/>
        </p:nvSpPr>
        <p:spPr>
          <a:xfrm xmlns:a="http://schemas.openxmlformats.org/drawingml/2006/main">
            <a:off x="6096000" y="3333750"/>
            <a:ext cx="5467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11827"/>
                </a:solidFill>
                <a:latin typeface="Arial"/>
                <a:ea typeface="Arial"/>
                <a:cs typeface="Arial"/>
              </a:defRPr>
            </a:pPr>
            <a:r>
              <a:rPr sz="1950" b="1">
                <a:solidFill>
                  <a:srgbClr val="111827"/>
                </a:solidFill>
                <a:latin typeface="Arial"/>
                <a:ea typeface="Arial"/>
                <a:cs typeface="Arial"/>
              </a:rPr>
              <a:t>AuthEndpoints /auth/login</a:t>
            </a:r>
          </a:p>
        </p:txBody>
      </p:sp>
      <p:sp>
        <p:nvSpPr>
          <p:cNvPr id="14" name="">
            <a:extLst xmlns:a="http://schemas.openxmlformats.org/drawingml/2006/main">
              <a:ext uri="{FF2B5EF4-FFF2-40B4-BE49-F238E27FC236}">
                <a16:creationId xmlns:a16="http://schemas.microsoft.com/office/drawing/2014/main" id="{19384EAA-0BCA-4591-9CA8-3FE1797DCDB3}"/>
              </a:ext>
            </a:extLst>
          </p:cNvPr>
          <p:cNvSpPr>
            <a:spLocks xmlns:a="http://schemas.openxmlformats.org/drawingml/2006/main" noGrp="1"/>
          </p:cNvSpPr>
          <p:nvPr/>
        </p:nvSpPr>
        <p:spPr>
          <a:xfrm xmlns:a="http://schemas.openxmlformats.org/drawingml/2006/main">
            <a:off x="6096000" y="4000500"/>
            <a:ext cx="54673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var usuario = await logica.LoginAsync(request);</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if (usuario is null)</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return Results.Unauthorized();</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var token = tokens.Crear(usuario);</a:t>
            </a:r>
          </a:p>
        </p:txBody>
      </p:sp>
    </p:spTree>
    <p:extLst>
      <p:ext uri="{BB962C8B-B14F-4D97-AF65-F5344CB8AC3E}">
        <p14:creationId xmlns:p14="http://schemas.microsoft.com/office/powerpoint/2010/main" val="46178299"/>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3534E0-A169-4707-8DDB-C8D2ABB6DB22}"/>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Catálogo y detalle del producto</a:t>
            </a:r>
          </a:p>
        </p:txBody>
      </p:sp>
      <p:sp>
        <p:nvSpPr>
          <p:cNvPr id="2" name="">
            <a:extLst xmlns:a="http://schemas.openxmlformats.org/drawingml/2006/main">
              <a:ext uri="{FF2B5EF4-FFF2-40B4-BE49-F238E27FC236}">
                <a16:creationId xmlns:a16="http://schemas.microsoft.com/office/drawing/2014/main" id="{F12E0B84-9CA3-4ED8-8E30-BB464508CAB4}"/>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08 / 14</a:t>
            </a:r>
          </a:p>
        </p:txBody>
      </p:sp>
      <p:sp>
        <p:nvSpPr>
          <p:cNvPr id="3" name="">
            <a:extLst xmlns:a="http://schemas.openxmlformats.org/drawingml/2006/main">
              <a:ext uri="{FF2B5EF4-FFF2-40B4-BE49-F238E27FC236}">
                <a16:creationId xmlns:a16="http://schemas.microsoft.com/office/drawing/2014/main" id="{5F736FFC-9E5A-44D1-A6CF-65C7F6AD35A4}"/>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Daiana   7:15–9:30</a:t>
            </a:r>
          </a:p>
        </p:txBody>
      </p:sp>
      <p:sp>
        <p:nvSpPr>
          <p:cNvPr id="4" name="">
            <a:extLst xmlns:a="http://schemas.openxmlformats.org/drawingml/2006/main">
              <a:ext uri="{FF2B5EF4-FFF2-40B4-BE49-F238E27FC236}">
                <a16:creationId xmlns:a16="http://schemas.microsoft.com/office/drawing/2014/main" id="{483A9AF9-2C06-480C-84B6-997414014803}"/>
              </a:ext>
            </a:extLst>
          </p:cNvPr>
          <p:cNvSpPr>
            <a:spLocks xmlns:a="http://schemas.openxmlformats.org/drawingml/2006/main" noGrp="1"/>
          </p:cNvSpPr>
          <p:nvPr/>
        </p:nvSpPr>
        <p:spPr>
          <a:xfrm xmlns:a="http://schemas.openxmlformats.org/drawingml/2006/main">
            <a:off x="609600" y="1219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563EB"/>
                </a:solidFill>
                <a:latin typeface="Arial"/>
                <a:ea typeface="Arial"/>
                <a:cs typeface="Arial"/>
              </a:defRPr>
            </a:pPr>
            <a:r>
              <a:rPr sz="1950" b="1">
                <a:solidFill>
                  <a:srgbClr val="2563EB"/>
                </a:solidFill>
                <a:latin typeface="Arial"/>
                <a:ea typeface="Arial"/>
                <a:cs typeface="Arial"/>
              </a:rPr>
              <a:t>RF2 / UC-07, UC-08 y UC-09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5e8db376470436b"/>
          <a:stretch xmlns:a="http://schemas.openxmlformats.org/drawingml/2006/main"/>
        </p:blipFill>
        <p:spPr>
          <a:xfrm xmlns:a="http://schemas.openxmlformats.org/drawingml/2006/main">
            <a:off x="694541" y="1781175"/>
            <a:ext cx="4592619" cy="41529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23A267C-30F4-4C0D-BA2B-389880885B25}"/>
              </a:ext>
            </a:extLst>
          </p:cNvPr>
          <p:cNvSpPr>
            <a:spLocks xmlns:a="http://schemas.openxmlformats.org/drawingml/2006/main" noGrp="1"/>
          </p:cNvSpPr>
          <p:nvPr/>
        </p:nvSpPr>
        <p:spPr>
          <a:xfrm xmlns:a="http://schemas.openxmlformats.org/drawingml/2006/main">
            <a:off x="5848350" y="1828800"/>
            <a:ext cx="5734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11827"/>
                </a:solidFill>
                <a:latin typeface="Arial"/>
                <a:ea typeface="Arial"/>
                <a:cs typeface="Arial"/>
              </a:defRPr>
            </a:pPr>
            <a:r>
              <a:rPr sz="2625" b="1">
                <a:solidFill>
                  <a:srgbClr val="111827"/>
                </a:solidFill>
                <a:latin typeface="Arial"/>
                <a:ea typeface="Arial"/>
                <a:cs typeface="Arial"/>
              </a:rPr>
              <a:t>La consulta selecciona una página</a:t>
            </a:r>
          </a:p>
        </p:txBody>
      </p:sp>
      <p:sp>
        <p:nvSpPr>
          <p:cNvPr id="7" name="">
            <a:extLst xmlns:a="http://schemas.openxmlformats.org/drawingml/2006/main">
              <a:ext uri="{FF2B5EF4-FFF2-40B4-BE49-F238E27FC236}">
                <a16:creationId xmlns:a16="http://schemas.microsoft.com/office/drawing/2014/main" id="{CB9B6EDE-9919-4289-B9DE-88816A174A07}"/>
              </a:ext>
            </a:extLst>
          </p:cNvPr>
          <p:cNvSpPr>
            <a:spLocks xmlns:a="http://schemas.openxmlformats.org/drawingml/2006/main" noGrp="1"/>
          </p:cNvSpPr>
          <p:nvPr/>
        </p:nvSpPr>
        <p:spPr>
          <a:xfrm xmlns:a="http://schemas.openxmlformats.org/drawingml/2006/main">
            <a:off x="5848350" y="2943225"/>
            <a:ext cx="57340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.OrderBy(producto =&gt; producto.Nombre)</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.ThenBy(producto =&gt; producto.IdProducto)</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.Skip((filtro.Pagina - 1) * filtro.TamanoPagina)</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.Take(filtro.TamanoPagina)</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.Select(producto =&gt; new ProductoCatalogoResponse</a:t>
            </a:r>
          </a:p>
        </p:txBody>
      </p:sp>
      <p:sp>
        <p:nvSpPr>
          <p:cNvPr id="8" name="">
            <a:extLst xmlns:a="http://schemas.openxmlformats.org/drawingml/2006/main">
              <a:ext uri="{FF2B5EF4-FFF2-40B4-BE49-F238E27FC236}">
                <a16:creationId xmlns:a16="http://schemas.microsoft.com/office/drawing/2014/main" id="{3CBF92F0-4829-44B9-8F6F-E22B610BF376}"/>
              </a:ext>
            </a:extLst>
          </p:cNvPr>
          <p:cNvSpPr>
            <a:spLocks xmlns:a="http://schemas.openxmlformats.org/drawingml/2006/main" noGrp="1"/>
          </p:cNvSpPr>
          <p:nvPr/>
        </p:nvSpPr>
        <p:spPr>
          <a:xfrm xmlns:a="http://schemas.openxmlformats.org/drawingml/2006/main">
            <a:off x="5848350" y="5210175"/>
            <a:ext cx="5734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11827"/>
                </a:solidFill>
                <a:latin typeface="Arial"/>
                <a:ea typeface="Arial"/>
                <a:cs typeface="Arial"/>
              </a:defRPr>
            </a:pPr>
            <a:r>
              <a:rPr sz="2100" b="0">
                <a:solidFill>
                  <a:srgbClr val="111827"/>
                </a:solidFill>
                <a:latin typeface="Arial"/>
                <a:ea typeface="Arial"/>
                <a:cs typeface="Arial"/>
              </a:rPr>
              <a:t>SQL filtra y proyecta los datos.</a:t>
            </a:r>
          </a:p>
          <a:p xmlns:a="http://schemas.openxmlformats.org/drawingml/2006/main">
            <a:pPr>
              <a:defRPr sz="2100" b="0">
                <a:solidFill>
                  <a:srgbClr val="111827"/>
                </a:solidFill>
                <a:latin typeface="Arial"/>
                <a:ea typeface="Arial"/>
                <a:cs typeface="Arial"/>
              </a:defRPr>
            </a:pPr>
            <a:r>
              <a:rPr sz="2100" b="0">
                <a:solidFill>
                  <a:srgbClr val="111827"/>
                </a:solidFill>
                <a:latin typeface="Arial"/>
                <a:ea typeface="Arial"/>
                <a:cs typeface="Arial"/>
              </a:rPr>
              <a:t>MVC convierte el JSON en pantalla.</a:t>
            </a:r>
          </a:p>
        </p:txBody>
      </p:sp>
      <p:sp>
        <p:nvSpPr>
          <p:cNvPr id="9" name="">
            <a:extLst xmlns:a="http://schemas.openxmlformats.org/drawingml/2006/main">
              <a:ext uri="{FF2B5EF4-FFF2-40B4-BE49-F238E27FC236}">
                <a16:creationId xmlns:a16="http://schemas.microsoft.com/office/drawing/2014/main" id="{2433B612-832F-4758-B897-1971EB9A4039}"/>
              </a:ext>
            </a:extLst>
          </p:cNvPr>
          <p:cNvSpPr>
            <a:spLocks xmlns:a="http://schemas.openxmlformats.org/drawingml/2006/main" noGrp="1"/>
          </p:cNvSpPr>
          <p:nvPr/>
        </p:nvSpPr>
        <p:spPr>
          <a:xfrm xmlns:a="http://schemas.openxmlformats.org/drawingml/2006/main">
            <a:off x="609600" y="6038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Captura real de la ejecución anterior</a:t>
            </a:r>
          </a:p>
        </p:txBody>
      </p:sp>
    </p:spTree>
    <p:extLst>
      <p:ext uri="{BB962C8B-B14F-4D97-AF65-F5344CB8AC3E}">
        <p14:creationId xmlns:p14="http://schemas.microsoft.com/office/powerpoint/2010/main" val="2294937"/>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D41BDCB-0F2E-44E5-99E5-8D8F73AC8E92}"/>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Carrito del cliente</a:t>
            </a:r>
          </a:p>
        </p:txBody>
      </p:sp>
      <p:sp>
        <p:nvSpPr>
          <p:cNvPr id="2" name="">
            <a:extLst xmlns:a="http://schemas.openxmlformats.org/drawingml/2006/main">
              <a:ext uri="{FF2B5EF4-FFF2-40B4-BE49-F238E27FC236}">
                <a16:creationId xmlns:a16="http://schemas.microsoft.com/office/drawing/2014/main" id="{41D29143-BDC2-48E7-9EF0-299C7FB40404}"/>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09 / 14</a:t>
            </a:r>
          </a:p>
        </p:txBody>
      </p:sp>
      <p:sp>
        <p:nvSpPr>
          <p:cNvPr id="3" name="">
            <a:extLst xmlns:a="http://schemas.openxmlformats.org/drawingml/2006/main">
              <a:ext uri="{FF2B5EF4-FFF2-40B4-BE49-F238E27FC236}">
                <a16:creationId xmlns:a16="http://schemas.microsoft.com/office/drawing/2014/main" id="{465F5E10-1017-4887-A890-A5D82D14DEF0}"/>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Facundo   9:30–11:45</a:t>
            </a:r>
          </a:p>
        </p:txBody>
      </p:sp>
      <p:sp>
        <p:nvSpPr>
          <p:cNvPr id="4" name="">
            <a:extLst xmlns:a="http://schemas.openxmlformats.org/drawingml/2006/main">
              <a:ext uri="{FF2B5EF4-FFF2-40B4-BE49-F238E27FC236}">
                <a16:creationId xmlns:a16="http://schemas.microsoft.com/office/drawing/2014/main" id="{D9D39561-2C39-4E3F-A171-78A914A58C3D}"/>
              </a:ext>
            </a:extLst>
          </p:cNvPr>
          <p:cNvSpPr>
            <a:spLocks xmlns:a="http://schemas.openxmlformats.org/drawingml/2006/main" noGrp="1"/>
          </p:cNvSpPr>
          <p:nvPr/>
        </p:nvSpPr>
        <p:spPr>
          <a:xfrm xmlns:a="http://schemas.openxmlformats.org/drawingml/2006/main">
            <a:off x="609600" y="1219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563EB"/>
                </a:solidFill>
                <a:latin typeface="Arial"/>
                <a:ea typeface="Arial"/>
                <a:cs typeface="Arial"/>
              </a:defRPr>
            </a:pPr>
            <a:r>
              <a:rPr sz="1950" b="1">
                <a:solidFill>
                  <a:srgbClr val="2563EB"/>
                </a:solidFill>
                <a:latin typeface="Arial"/>
                <a:ea typeface="Arial"/>
                <a:cs typeface="Arial"/>
              </a:rPr>
              <a:t>RF3 / Carrito en la API actual</a:t>
            </a:r>
          </a:p>
        </p:txBody>
      </p:sp>
      <p:sp>
        <p:nvSpPr>
          <p:cNvPr id="5" name="">
            <a:extLst xmlns:a="http://schemas.openxmlformats.org/drawingml/2006/main">
              <a:ext uri="{FF2B5EF4-FFF2-40B4-BE49-F238E27FC236}">
                <a16:creationId xmlns:a16="http://schemas.microsoft.com/office/drawing/2014/main" id="{829F7B8B-4CAD-4CA1-8429-4C5D167BCDFD}"/>
              </a:ext>
            </a:extLst>
          </p:cNvPr>
          <p:cNvSpPr>
            <a:spLocks xmlns:a="http://schemas.openxmlformats.org/drawingml/2006/main" noGrp="1"/>
          </p:cNvSpPr>
          <p:nvPr/>
        </p:nvSpPr>
        <p:spPr>
          <a:xfrm xmlns:a="http://schemas.openxmlformats.org/drawingml/2006/main">
            <a:off x="609600" y="18859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111827"/>
                </a:solidFill>
                <a:latin typeface="Arial"/>
                <a:ea typeface="Arial"/>
                <a:cs typeface="Arial"/>
              </a:defRPr>
            </a:pPr>
            <a:r>
              <a:rPr sz="2925" b="1">
                <a:solidFill>
                  <a:srgbClr val="111827"/>
                </a:solidFill>
                <a:latin typeface="Arial"/>
                <a:ea typeface="Arial"/>
                <a:cs typeface="Arial"/>
              </a:rPr>
              <a:t>Agregar. Actualizar. Eliminar.</a:t>
            </a:r>
          </a:p>
        </p:txBody>
      </p:sp>
      <p:sp>
        <p:nvSpPr>
          <p:cNvPr id="6" name="">
            <a:extLst xmlns:a="http://schemas.openxmlformats.org/drawingml/2006/main">
              <a:ext uri="{FF2B5EF4-FFF2-40B4-BE49-F238E27FC236}">
                <a16:creationId xmlns:a16="http://schemas.microsoft.com/office/drawing/2014/main" id="{A84D7358-4692-4983-931A-B9DADF462472}"/>
              </a:ext>
            </a:extLst>
          </p:cNvPr>
          <p:cNvSpPr>
            <a:spLocks xmlns:a="http://schemas.openxmlformats.org/drawingml/2006/main" noGrp="1"/>
          </p:cNvSpPr>
          <p:nvPr/>
        </p:nvSpPr>
        <p:spPr>
          <a:xfrm xmlns:a="http://schemas.openxmlformats.org/drawingml/2006/main">
            <a:off x="609600" y="2905125"/>
            <a:ext cx="2514600" cy="72390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Cliente autenticado</a:t>
            </a:r>
          </a:p>
        </p:txBody>
      </p:sp>
      <p:sp>
        <p:nvSpPr>
          <p:cNvPr id="7" name="">
            <a:extLst xmlns:a="http://schemas.openxmlformats.org/drawingml/2006/main">
              <a:ext uri="{FF2B5EF4-FFF2-40B4-BE49-F238E27FC236}">
                <a16:creationId xmlns:a16="http://schemas.microsoft.com/office/drawing/2014/main" id="{4D630C80-CD90-4F80-9474-47E708F9B1D1}"/>
              </a:ext>
            </a:extLst>
          </p:cNvPr>
          <p:cNvSpPr>
            <a:spLocks xmlns:a="http://schemas.openxmlformats.org/drawingml/2006/main" noGrp="1"/>
          </p:cNvSpPr>
          <p:nvPr/>
        </p:nvSpPr>
        <p:spPr>
          <a:xfrm xmlns:a="http://schemas.openxmlformats.org/drawingml/2006/main">
            <a:off x="3429000" y="2905125"/>
            <a:ext cx="2514600" cy="72390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Controlador MVC</a:t>
            </a:r>
          </a:p>
        </p:txBody>
      </p: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3124200" y="3267075"/>
            <a:ext cx="304800" cy="0"/>
          </a:xfrm>
          <a:prstGeom xmlns:a="http://schemas.openxmlformats.org/drawingml/2006/main" prst="straightConnector1">
            <a:avLst/>
          </a:prstGeom>
          <a:ln xmlns:a="http://schemas.openxmlformats.org/drawingml/2006/main" w="19050">
            <a:solidFill>
              <a:srgbClr val="2563EB"/>
            </a:solidFill>
            <a:tailEnd type="arrow" w="med" len="med"/>
          </a:ln>
        </p:spPr>
      </p:cxnSp>
      <p:sp>
        <p:nvSpPr>
          <p:cNvPr id="9" name="">
            <a:extLst xmlns:a="http://schemas.openxmlformats.org/drawingml/2006/main">
              <a:ext uri="{FF2B5EF4-FFF2-40B4-BE49-F238E27FC236}">
                <a16:creationId xmlns:a16="http://schemas.microsoft.com/office/drawing/2014/main" id="{F5B1A7AF-F902-4204-89B1-06AEE4B970C5}"/>
              </a:ext>
            </a:extLst>
          </p:cNvPr>
          <p:cNvSpPr>
            <a:spLocks xmlns:a="http://schemas.openxmlformats.org/drawingml/2006/main" noGrp="1"/>
          </p:cNvSpPr>
          <p:nvPr/>
        </p:nvSpPr>
        <p:spPr>
          <a:xfrm xmlns:a="http://schemas.openxmlformats.org/drawingml/2006/main">
            <a:off x="6248400" y="2905125"/>
            <a:ext cx="2514600" cy="72390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Reglas de carrito</a:t>
            </a:r>
          </a:p>
        </p:txBody>
      </p:sp>
      <p:cxnSp>
        <p:nvCxnSpPr>
          <p:cNvPr id="25" name=""/>
          <p:cNvCxnSpPr>
            <a:stCxn xmlns:a="http://schemas.openxmlformats.org/drawingml/2006/main" id="7" idx="3"/>
            <a:endCxn xmlns:a="http://schemas.openxmlformats.org/drawingml/2006/main" id="9" idx="1"/>
          </p:cNvCxnSpPr>
          <p:nvPr/>
        </p:nvCxnSpPr>
        <p:spPr>
          <a:xfrm xmlns:a="http://schemas.openxmlformats.org/drawingml/2006/main">
            <a:off x="5943600" y="3267075"/>
            <a:ext cx="304800" cy="0"/>
          </a:xfrm>
          <a:prstGeom xmlns:a="http://schemas.openxmlformats.org/drawingml/2006/main" prst="straightConnector1">
            <a:avLst/>
          </a:prstGeom>
          <a:ln xmlns:a="http://schemas.openxmlformats.org/drawingml/2006/main" w="19050">
            <a:solidFill>
              <a:srgbClr val="2563EB"/>
            </a:solidFill>
            <a:tailEnd type="arrow" w="med" len="med"/>
          </a:ln>
        </p:spPr>
      </p:cxnSp>
      <p:sp>
        <p:nvSpPr>
          <p:cNvPr id="11" name="">
            <a:extLst xmlns:a="http://schemas.openxmlformats.org/drawingml/2006/main">
              <a:ext uri="{FF2B5EF4-FFF2-40B4-BE49-F238E27FC236}">
                <a16:creationId xmlns:a16="http://schemas.microsoft.com/office/drawing/2014/main" id="{B2C52739-559A-478D-86CE-1EB4EBAEB299}"/>
              </a:ext>
            </a:extLst>
          </p:cNvPr>
          <p:cNvSpPr>
            <a:spLocks xmlns:a="http://schemas.openxmlformats.org/drawingml/2006/main" noGrp="1"/>
          </p:cNvSpPr>
          <p:nvPr/>
        </p:nvSpPr>
        <p:spPr>
          <a:xfrm xmlns:a="http://schemas.openxmlformats.org/drawingml/2006/main">
            <a:off x="9067800" y="2905125"/>
            <a:ext cx="2514600" cy="723900"/>
          </a:xfrm>
          <a:prstGeom xmlns:a="http://schemas.openxmlformats.org/drawingml/2006/main" prst="rect">
            <a:avLst/>
          </a:prstGeom>
          <a:solidFill xmlns:a="http://schemas.openxmlformats.org/drawingml/2006/main">
            <a:srgbClr val="E8EFFD"/>
          </a:solidFill>
          <a:ln xmlns:a="http://schemas.openxmlformats.org/drawingml/2006/main" w="9525">
            <a:solidFill>
              <a:srgbClr val="B8C9ED"/>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111827"/>
                </a:solidFill>
                <a:latin typeface="Arial"/>
                <a:ea typeface="Arial"/>
                <a:cs typeface="Arial"/>
              </a:defRPr>
            </a:pPr>
            <a:r>
              <a:rPr sz="1950">
                <a:solidFill>
                  <a:srgbClr val="111827"/>
                </a:solidFill>
                <a:latin typeface="Arial"/>
                <a:ea typeface="Arial"/>
                <a:cs typeface="Arial"/>
              </a:rPr>
              <a:t>DbContext y SQL</a:t>
            </a:r>
          </a:p>
        </p:txBody>
      </p:sp>
      <p:cxnSp>
        <p:nvCxnSpPr>
          <p:cNvPr id="27" name=""/>
          <p:cNvCxnSpPr>
            <a:stCxn xmlns:a="http://schemas.openxmlformats.org/drawingml/2006/main" id="9" idx="3"/>
            <a:endCxn xmlns:a="http://schemas.openxmlformats.org/drawingml/2006/main" id="11" idx="1"/>
          </p:cNvCxnSpPr>
          <p:nvPr/>
        </p:nvCxnSpPr>
        <p:spPr>
          <a:xfrm xmlns:a="http://schemas.openxmlformats.org/drawingml/2006/main">
            <a:off x="8763000" y="3267075"/>
            <a:ext cx="304800" cy="0"/>
          </a:xfrm>
          <a:prstGeom xmlns:a="http://schemas.openxmlformats.org/drawingml/2006/main" prst="straightConnector1">
            <a:avLst/>
          </a:prstGeom>
          <a:ln xmlns:a="http://schemas.openxmlformats.org/drawingml/2006/main" w="19050">
            <a:solidFill>
              <a:srgbClr val="2563EB"/>
            </a:solidFill>
            <a:tailEnd type="arrow" w="med" len="med"/>
          </a:ln>
        </p:spPr>
      </p:cxnSp>
      <p:sp>
        <p:nvSpPr>
          <p:cNvPr id="13" name="">
            <a:extLst xmlns:a="http://schemas.openxmlformats.org/drawingml/2006/main">
              <a:ext uri="{FF2B5EF4-FFF2-40B4-BE49-F238E27FC236}">
                <a16:creationId xmlns:a16="http://schemas.microsoft.com/office/drawing/2014/main" id="{6B700473-7433-43EE-B538-F839C286BE59}"/>
              </a:ext>
            </a:extLst>
          </p:cNvPr>
          <p:cNvSpPr>
            <a:spLocks xmlns:a="http://schemas.openxmlformats.org/drawingml/2006/main" noGrp="1"/>
          </p:cNvSpPr>
          <p:nvPr/>
        </p:nvSpPr>
        <p:spPr>
          <a:xfrm xmlns:a="http://schemas.openxmlformats.org/drawingml/2006/main">
            <a:off x="609600" y="414337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11827"/>
                </a:solidFill>
                <a:latin typeface="Arial"/>
                <a:ea typeface="Arial"/>
                <a:cs typeface="Arial"/>
              </a:defRPr>
            </a:pPr>
            <a:r>
              <a:rPr sz="2250" b="0">
                <a:solidFill>
                  <a:srgbClr val="111827"/>
                </a:solidFill>
                <a:latin typeface="Arial"/>
                <a:ea typeface="Arial"/>
                <a:cs typeface="Arial"/>
              </a:rPr>
              <a:t>Precio calculado en servidor</a:t>
            </a:r>
          </a:p>
          <a:p xmlns:a="http://schemas.openxmlformats.org/drawingml/2006/main">
            <a:pPr>
              <a:defRPr sz="2250" b="0">
                <a:solidFill>
                  <a:srgbClr val="111827"/>
                </a:solidFill>
                <a:latin typeface="Arial"/>
                <a:ea typeface="Arial"/>
                <a:cs typeface="Arial"/>
              </a:defRPr>
            </a:pPr>
            <a:r>
              <a:rPr sz="2250" b="0">
                <a:solidFill>
                  <a:srgbClr val="111827"/>
                </a:solidFill>
                <a:latin typeface="Arial"/>
                <a:ea typeface="Arial"/>
                <a:cs typeface="Arial"/>
              </a:rPr>
              <a:t>Propiedad desde el JWT</a:t>
            </a:r>
          </a:p>
          <a:p xmlns:a="http://schemas.openxmlformats.org/drawingml/2006/main">
            <a:pPr>
              <a:defRPr sz="2250" b="0">
                <a:solidFill>
                  <a:srgbClr val="111827"/>
                </a:solidFill>
                <a:latin typeface="Arial"/>
                <a:ea typeface="Arial"/>
                <a:cs typeface="Arial"/>
              </a:defRPr>
            </a:pPr>
            <a:r>
              <a:rPr sz="2250" b="0">
                <a:solidFill>
                  <a:srgbClr val="111827"/>
                </a:solidFill>
                <a:latin typeface="Arial"/>
                <a:ea typeface="Arial"/>
                <a:cs typeface="Arial"/>
              </a:rPr>
              <a:t>Sin reserva de stock</a:t>
            </a:r>
          </a:p>
        </p:txBody>
      </p:sp>
      <p:sp>
        <p:nvSpPr>
          <p:cNvPr id="14" name="">
            <a:extLst xmlns:a="http://schemas.openxmlformats.org/drawingml/2006/main">
              <a:ext uri="{FF2B5EF4-FFF2-40B4-BE49-F238E27FC236}">
                <a16:creationId xmlns:a16="http://schemas.microsoft.com/office/drawing/2014/main" id="{BE02C1A1-A59C-40CE-8EAD-E72C5B09E60F}"/>
              </a:ext>
            </a:extLst>
          </p:cNvPr>
          <p:cNvSpPr>
            <a:spLocks xmlns:a="http://schemas.openxmlformats.org/drawingml/2006/main" noGrp="1"/>
          </p:cNvSpPr>
          <p:nvPr/>
        </p:nvSpPr>
        <p:spPr>
          <a:xfrm xmlns:a="http://schemas.openxmlformats.org/drawingml/2006/main">
            <a:off x="5848350" y="4133850"/>
            <a:ext cx="57340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detalle.Cantidad = cantidadFinal;</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detalle.PrecioUnitario = producto.Precio;</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detalle.Subtotal =</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producto.Precio * cantidadFinal;</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await _context.SaveChangesAsync(</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cancellationToken);</a:t>
            </a:r>
          </a:p>
        </p:txBody>
      </p:sp>
      <p:sp>
        <p:nvSpPr>
          <p:cNvPr id="15" name="">
            <a:extLst xmlns:a="http://schemas.openxmlformats.org/drawingml/2006/main">
              <a:ext uri="{FF2B5EF4-FFF2-40B4-BE49-F238E27FC236}">
                <a16:creationId xmlns:a16="http://schemas.microsoft.com/office/drawing/2014/main" id="{5845F47D-AF04-4763-94D7-39DC51827588}"/>
              </a:ext>
            </a:extLst>
          </p:cNvPr>
          <p:cNvSpPr>
            <a:spLocks xmlns:a="http://schemas.openxmlformats.org/drawingml/2006/main" noGrp="1"/>
          </p:cNvSpPr>
          <p:nvPr/>
        </p:nvSpPr>
        <p:spPr>
          <a:xfrm xmlns:a="http://schemas.openxmlformats.org/drawingml/2006/main">
            <a:off x="609600" y="60388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Diagrama del flujo. El resumen actualizado vuelve a la vista del carrito.</a:t>
            </a:r>
          </a:p>
        </p:txBody>
      </p:sp>
    </p:spTree>
    <p:extLst>
      <p:ext uri="{BB962C8B-B14F-4D97-AF65-F5344CB8AC3E}">
        <p14:creationId xmlns:p14="http://schemas.microsoft.com/office/powerpoint/2010/main" val="494780479"/>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9EE2D19-AA92-4C79-BEAB-D9EB4AA890D7}"/>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Administración de productos</a:t>
            </a:r>
          </a:p>
        </p:txBody>
      </p:sp>
      <p:sp>
        <p:nvSpPr>
          <p:cNvPr id="2" name="">
            <a:extLst xmlns:a="http://schemas.openxmlformats.org/drawingml/2006/main">
              <a:ext uri="{FF2B5EF4-FFF2-40B4-BE49-F238E27FC236}">
                <a16:creationId xmlns:a16="http://schemas.microsoft.com/office/drawing/2014/main" id="{4951212D-1F89-4A73-B07A-5736BA1435DA}"/>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10 / 14</a:t>
            </a:r>
          </a:p>
        </p:txBody>
      </p:sp>
      <p:sp>
        <p:nvSpPr>
          <p:cNvPr id="3" name="">
            <a:extLst xmlns:a="http://schemas.openxmlformats.org/drawingml/2006/main">
              <a:ext uri="{FF2B5EF4-FFF2-40B4-BE49-F238E27FC236}">
                <a16:creationId xmlns:a16="http://schemas.microsoft.com/office/drawing/2014/main" id="{F2458F0C-9540-42A0-A343-15FF43DAAA0C}"/>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Daiana   11:45–14:15</a:t>
            </a:r>
          </a:p>
        </p:txBody>
      </p:sp>
      <p:sp>
        <p:nvSpPr>
          <p:cNvPr id="4" name="">
            <a:extLst xmlns:a="http://schemas.openxmlformats.org/drawingml/2006/main">
              <a:ext uri="{FF2B5EF4-FFF2-40B4-BE49-F238E27FC236}">
                <a16:creationId xmlns:a16="http://schemas.microsoft.com/office/drawing/2014/main" id="{70574A2A-62B1-4CEE-B351-0EB1E459F5F6}"/>
              </a:ext>
            </a:extLst>
          </p:cNvPr>
          <p:cNvSpPr>
            <a:spLocks xmlns:a="http://schemas.openxmlformats.org/drawingml/2006/main" noGrp="1"/>
          </p:cNvSpPr>
          <p:nvPr/>
        </p:nvSpPr>
        <p:spPr>
          <a:xfrm xmlns:a="http://schemas.openxmlformats.org/drawingml/2006/main">
            <a:off x="609600" y="1219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563EB"/>
                </a:solidFill>
                <a:latin typeface="Arial"/>
                <a:ea typeface="Arial"/>
                <a:cs typeface="Arial"/>
              </a:defRPr>
            </a:pPr>
            <a:r>
              <a:rPr sz="1950" b="1">
                <a:solidFill>
                  <a:srgbClr val="2563EB"/>
                </a:solidFill>
                <a:latin typeface="Arial"/>
                <a:ea typeface="Arial"/>
                <a:cs typeface="Arial"/>
              </a:rPr>
              <a:t>RF1 / UC-19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a81ec50195d437f"/>
          <a:stretch xmlns:a="http://schemas.openxmlformats.org/drawingml/2006/main"/>
        </p:blipFill>
        <p:spPr>
          <a:xfrm xmlns:a="http://schemas.openxmlformats.org/drawingml/2006/main">
            <a:off x="609600" y="1888052"/>
            <a:ext cx="4857750" cy="392962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E152A9C-9CA7-4125-A21F-FA700A3A1519}"/>
              </a:ext>
            </a:extLst>
          </p:cNvPr>
          <p:cNvSpPr>
            <a:spLocks xmlns:a="http://schemas.openxmlformats.org/drawingml/2006/main" noGrp="1"/>
          </p:cNvSpPr>
          <p:nvPr/>
        </p:nvSpPr>
        <p:spPr>
          <a:xfrm xmlns:a="http://schemas.openxmlformats.org/drawingml/2006/main">
            <a:off x="5943600" y="1800225"/>
            <a:ext cx="563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11827"/>
                </a:solidFill>
                <a:latin typeface="Arial"/>
                <a:ea typeface="Arial"/>
                <a:cs typeface="Arial"/>
              </a:defRPr>
            </a:pPr>
            <a:r>
              <a:rPr sz="2625" b="1">
                <a:solidFill>
                  <a:srgbClr val="111827"/>
                </a:solidFill>
                <a:latin typeface="Arial"/>
                <a:ea typeface="Arial"/>
                <a:cs typeface="Arial"/>
              </a:rPr>
              <a:t>La imagen es un archivo;</a:t>
            </a:r>
          </a:p>
          <a:p xmlns:a="http://schemas.openxmlformats.org/drawingml/2006/main">
            <a:pPr>
              <a:defRPr sz="2625" b="1">
                <a:solidFill>
                  <a:srgbClr val="111827"/>
                </a:solidFill>
                <a:latin typeface="Arial"/>
                <a:ea typeface="Arial"/>
                <a:cs typeface="Arial"/>
              </a:defRPr>
            </a:pPr>
            <a:r>
              <a:rPr sz="2625" b="1">
                <a:solidFill>
                  <a:srgbClr val="111827"/>
                </a:solidFill>
                <a:latin typeface="Arial"/>
                <a:ea typeface="Arial"/>
                <a:cs typeface="Arial"/>
              </a:rPr>
              <a:t>SQL conserva su referencia</a:t>
            </a:r>
          </a:p>
        </p:txBody>
      </p:sp>
      <p:sp>
        <p:nvSpPr>
          <p:cNvPr id="7" name="">
            <a:extLst xmlns:a="http://schemas.openxmlformats.org/drawingml/2006/main">
              <a:ext uri="{FF2B5EF4-FFF2-40B4-BE49-F238E27FC236}">
                <a16:creationId xmlns:a16="http://schemas.microsoft.com/office/drawing/2014/main" id="{210304DB-4324-48B3-A995-0C4FC1C37424}"/>
              </a:ext>
            </a:extLst>
          </p:cNvPr>
          <p:cNvSpPr>
            <a:spLocks xmlns:a="http://schemas.openxmlformats.org/drawingml/2006/main" noGrp="1"/>
          </p:cNvSpPr>
          <p:nvPr/>
        </p:nvSpPr>
        <p:spPr>
          <a:xfrm xmlns:a="http://schemas.openxmlformats.org/drawingml/2006/main">
            <a:off x="5943600" y="3105150"/>
            <a:ext cx="563880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var resultado = await _imagenStorage.GuardarAsync(</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request.ImagenArchivo,</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HttpContext.RequestAborted);</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if (resultado.Error is not null)</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ModelState.AddModelError(</a:t>
            </a:r>
          </a:p>
          <a:p xmlns:a="http://schemas.openxmlformats.org/drawingml/2006/main">
            <a:pPr>
              <a:defRPr sz="1725" b="0">
                <a:solidFill>
                  <a:srgbClr val="111827"/>
                </a:solidFill>
                <a:latin typeface="Consolas"/>
                <a:ea typeface="Consolas"/>
                <a:cs typeface="Consolas"/>
              </a:defRPr>
            </a:pPr>
            <a:r>
              <a:rPr sz="1725" b="0">
                <a:solidFill>
                  <a:srgbClr val="111827"/>
                </a:solidFill>
                <a:latin typeface="Consolas"/>
                <a:ea typeface="Consolas"/>
                <a:cs typeface="Consolas"/>
              </a:rPr>
              <a:t>        nameof(request.ImagenArchivo), resultado.Error);</a:t>
            </a:r>
          </a:p>
        </p:txBody>
      </p:sp>
      <p:sp>
        <p:nvSpPr>
          <p:cNvPr id="8" name="">
            <a:extLst xmlns:a="http://schemas.openxmlformats.org/drawingml/2006/main">
              <a:ext uri="{FF2B5EF4-FFF2-40B4-BE49-F238E27FC236}">
                <a16:creationId xmlns:a16="http://schemas.microsoft.com/office/drawing/2014/main" id="{E49259DA-20DA-496B-AE11-833A6A1158A4}"/>
              </a:ext>
            </a:extLst>
          </p:cNvPr>
          <p:cNvSpPr>
            <a:spLocks xmlns:a="http://schemas.openxmlformats.org/drawingml/2006/main" noGrp="1"/>
          </p:cNvSpPr>
          <p:nvPr/>
        </p:nvSpPr>
        <p:spPr>
          <a:xfrm xmlns:a="http://schemas.openxmlformats.org/drawingml/2006/main">
            <a:off x="5943600" y="5400675"/>
            <a:ext cx="5619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563EB"/>
                </a:solidFill>
                <a:latin typeface="Arial"/>
                <a:ea typeface="Arial"/>
                <a:cs typeface="Arial"/>
              </a:defRPr>
            </a:pPr>
            <a:r>
              <a:rPr sz="2100" b="0">
                <a:solidFill>
                  <a:srgbClr val="2563EB"/>
                </a:solidFill>
                <a:latin typeface="Arial"/>
                <a:ea typeface="Arial"/>
                <a:cs typeface="Arial"/>
              </a:rPr>
              <a:t>204   Eliminación sin relaciones</a:t>
            </a:r>
          </a:p>
          <a:p xmlns:a="http://schemas.openxmlformats.org/drawingml/2006/main">
            <a:pPr>
              <a:defRPr sz="2100" b="0">
                <a:solidFill>
                  <a:srgbClr val="2563EB"/>
                </a:solidFill>
                <a:latin typeface="Arial"/>
                <a:ea typeface="Arial"/>
                <a:cs typeface="Arial"/>
              </a:defRPr>
            </a:pPr>
            <a:r>
              <a:rPr sz="2100" b="0">
                <a:solidFill>
                  <a:srgbClr val="2563EB"/>
                </a:solidFill>
                <a:latin typeface="Arial"/>
                <a:ea typeface="Arial"/>
                <a:cs typeface="Arial"/>
              </a:rPr>
              <a:t>409   Relaciones existentes</a:t>
            </a:r>
          </a:p>
        </p:txBody>
      </p:sp>
      <p:sp>
        <p:nvSpPr>
          <p:cNvPr id="9" name="">
            <a:extLst xmlns:a="http://schemas.openxmlformats.org/drawingml/2006/main">
              <a:ext uri="{FF2B5EF4-FFF2-40B4-BE49-F238E27FC236}">
                <a16:creationId xmlns:a16="http://schemas.microsoft.com/office/drawing/2014/main" id="{031A12A9-AD41-40B3-A23F-2C3561D8D6AB}"/>
              </a:ext>
            </a:extLst>
          </p:cNvPr>
          <p:cNvSpPr>
            <a:spLocks xmlns:a="http://schemas.openxmlformats.org/drawingml/2006/main" noGrp="1"/>
          </p:cNvSpPr>
          <p:nvPr/>
        </p:nvSpPr>
        <p:spPr>
          <a:xfrm xmlns:a="http://schemas.openxmlformats.org/drawingml/2006/main">
            <a:off x="609600" y="60388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Captura real de edición, ejecución anterior</a:t>
            </a:r>
          </a:p>
        </p:txBody>
      </p:sp>
    </p:spTree>
    <p:extLst>
      <p:ext uri="{BB962C8B-B14F-4D97-AF65-F5344CB8AC3E}">
        <p14:creationId xmlns:p14="http://schemas.microsoft.com/office/powerpoint/2010/main" val="1150681011"/>
      </p:ext>
    </p:extLst>
  </p:cSld>
</p:sld>
</file>

<file path=ppt/slides/slide11.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3DB8185-6D2F-4074-A01E-7CBD7864F5A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Recorrido de una solicitud</a:t>
            </a:r>
          </a:p>
        </p:txBody>
      </p:sp>
      <p:sp>
        <p:nvSpPr>
          <p:cNvPr id="2" name="">
            <a:extLst xmlns:a="http://schemas.openxmlformats.org/drawingml/2006/main">
              <a:ext uri="{FF2B5EF4-FFF2-40B4-BE49-F238E27FC236}">
                <a16:creationId xmlns:a16="http://schemas.microsoft.com/office/drawing/2014/main" id="{BE669F4D-D9C9-47CA-A770-7CD8BBF53EDC}"/>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BD5E1"/>
                </a:solidFill>
                <a:latin typeface="Arial"/>
                <a:ea typeface="Arial"/>
                <a:cs typeface="Arial"/>
              </a:defRPr>
            </a:pPr>
            <a:r>
              <a:rPr sz="1500" b="0">
                <a:solidFill>
                  <a:srgbClr val="CBD5E1"/>
                </a:solidFill>
                <a:latin typeface="Arial"/>
                <a:ea typeface="Arial"/>
                <a:cs typeface="Arial"/>
              </a:rPr>
              <a:t>11 / 14</a:t>
            </a:r>
          </a:p>
        </p:txBody>
      </p:sp>
      <p:sp>
        <p:nvSpPr>
          <p:cNvPr id="3" name="">
            <a:extLst xmlns:a="http://schemas.openxmlformats.org/drawingml/2006/main">
              <a:ext uri="{FF2B5EF4-FFF2-40B4-BE49-F238E27FC236}">
                <a16:creationId xmlns:a16="http://schemas.microsoft.com/office/drawing/2014/main" id="{32A3258A-3962-4334-A85A-3B751A30D3D3}"/>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BD5E1"/>
                </a:solidFill>
                <a:latin typeface="Arial"/>
                <a:ea typeface="Arial"/>
                <a:cs typeface="Arial"/>
              </a:defRPr>
            </a:pPr>
            <a:r>
              <a:rPr sz="1500" b="0">
                <a:solidFill>
                  <a:srgbClr val="CBD5E1"/>
                </a:solidFill>
                <a:latin typeface="Arial"/>
                <a:ea typeface="Arial"/>
                <a:cs typeface="Arial"/>
              </a:rPr>
              <a:t>Facundo   14:15–16:00</a:t>
            </a:r>
          </a:p>
        </p:txBody>
      </p:sp>
      <p:sp>
        <p:nvSpPr>
          <p:cNvPr id="4" name="">
            <a:extLst xmlns:a="http://schemas.openxmlformats.org/drawingml/2006/main">
              <a:ext uri="{FF2B5EF4-FFF2-40B4-BE49-F238E27FC236}">
                <a16:creationId xmlns:a16="http://schemas.microsoft.com/office/drawing/2014/main" id="{FE7BDC44-953A-4285-AD35-CB19A918F178}"/>
              </a:ext>
            </a:extLst>
          </p:cNvPr>
          <p:cNvSpPr>
            <a:spLocks xmlns:a="http://schemas.openxmlformats.org/drawingml/2006/main" noGrp="1"/>
          </p:cNvSpPr>
          <p:nvPr/>
        </p:nvSpPr>
        <p:spPr>
          <a:xfrm xmlns:a="http://schemas.openxmlformats.org/drawingml/2006/main">
            <a:off x="609600" y="12001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CBD5E1"/>
                </a:solidFill>
                <a:latin typeface="Arial"/>
                <a:ea typeface="Arial"/>
                <a:cs typeface="Arial"/>
              </a:defRPr>
            </a:pPr>
            <a:r>
              <a:rPr sz="2100" b="0">
                <a:solidFill>
                  <a:srgbClr val="CBD5E1"/>
                </a:solidFill>
                <a:latin typeface="Arial"/>
                <a:ea typeface="Arial"/>
                <a:cs typeface="Arial"/>
              </a:rPr>
              <a:t>Ejemplo: búsqueda del catálogo</a:t>
            </a:r>
          </a:p>
        </p:txBody>
      </p:sp>
      <p:sp>
        <p:nvSpPr>
          <p:cNvPr id="5" name="">
            <a:extLst xmlns:a="http://schemas.openxmlformats.org/drawingml/2006/main">
              <a:ext uri="{FF2B5EF4-FFF2-40B4-BE49-F238E27FC236}">
                <a16:creationId xmlns:a16="http://schemas.microsoft.com/office/drawing/2014/main" id="{8E1F7B3F-5C24-4F1A-90C7-1C5CED7C3532}"/>
              </a:ext>
            </a:extLst>
          </p:cNvPr>
          <p:cNvSpPr>
            <a:spLocks xmlns:a="http://schemas.openxmlformats.org/drawingml/2006/main" noGrp="1"/>
          </p:cNvSpPr>
          <p:nvPr/>
        </p:nvSpPr>
        <p:spPr>
          <a:xfrm xmlns:a="http://schemas.openxmlformats.org/drawingml/2006/main">
            <a:off x="609600" y="1943100"/>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Navegador / Razor</a:t>
            </a:r>
          </a:p>
        </p:txBody>
      </p:sp>
      <p:sp>
        <p:nvSpPr>
          <p:cNvPr id="6" name="">
            <a:extLst xmlns:a="http://schemas.openxmlformats.org/drawingml/2006/main">
              <a:ext uri="{FF2B5EF4-FFF2-40B4-BE49-F238E27FC236}">
                <a16:creationId xmlns:a16="http://schemas.microsoft.com/office/drawing/2014/main" id="{D3264942-20BE-4EBC-ACAB-83E91F0E9F38}"/>
              </a:ext>
            </a:extLst>
          </p:cNvPr>
          <p:cNvSpPr>
            <a:spLocks xmlns:a="http://schemas.openxmlformats.org/drawingml/2006/main" noGrp="1"/>
          </p:cNvSpPr>
          <p:nvPr/>
        </p:nvSpPr>
        <p:spPr>
          <a:xfrm xmlns:a="http://schemas.openxmlformats.org/drawingml/2006/main">
            <a:off x="3524250" y="1943100"/>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Controlador MVC</a:t>
            </a:r>
          </a:p>
        </p:txBody>
      </p:sp>
      <p:sp>
        <p:nvSpPr>
          <p:cNvPr id="7" name="">
            <a:extLst xmlns:a="http://schemas.openxmlformats.org/drawingml/2006/main">
              <a:ext uri="{FF2B5EF4-FFF2-40B4-BE49-F238E27FC236}">
                <a16:creationId xmlns:a16="http://schemas.microsoft.com/office/drawing/2014/main" id="{C890A30C-4489-4CA4-91A8-BC5283C48A87}"/>
              </a:ext>
            </a:extLst>
          </p:cNvPr>
          <p:cNvSpPr>
            <a:spLocks xmlns:a="http://schemas.openxmlformats.org/drawingml/2006/main" noGrp="1"/>
          </p:cNvSpPr>
          <p:nvPr/>
        </p:nvSpPr>
        <p:spPr>
          <a:xfrm xmlns:a="http://schemas.openxmlformats.org/drawingml/2006/main">
            <a:off x="6438900" y="1943100"/>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Cliente HTTP</a:t>
            </a:r>
          </a:p>
        </p:txBody>
      </p:sp>
      <p:sp>
        <p:nvSpPr>
          <p:cNvPr id="8" name="">
            <a:extLst xmlns:a="http://schemas.openxmlformats.org/drawingml/2006/main">
              <a:ext uri="{FF2B5EF4-FFF2-40B4-BE49-F238E27FC236}">
                <a16:creationId xmlns:a16="http://schemas.microsoft.com/office/drawing/2014/main" id="{54911E46-3E4D-4D10-8755-B87CEFFD7A47}"/>
              </a:ext>
            </a:extLst>
          </p:cNvPr>
          <p:cNvSpPr>
            <a:spLocks xmlns:a="http://schemas.openxmlformats.org/drawingml/2006/main" noGrp="1"/>
          </p:cNvSpPr>
          <p:nvPr/>
        </p:nvSpPr>
        <p:spPr>
          <a:xfrm xmlns:a="http://schemas.openxmlformats.org/drawingml/2006/main">
            <a:off x="9353550" y="1943100"/>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Endpoint API</a:t>
            </a:r>
          </a:p>
        </p:txBody>
      </p:sp>
      <p:sp>
        <p:nvSpPr>
          <p:cNvPr id="9" name="">
            <a:extLst xmlns:a="http://schemas.openxmlformats.org/drawingml/2006/main">
              <a:ext uri="{FF2B5EF4-FFF2-40B4-BE49-F238E27FC236}">
                <a16:creationId xmlns:a16="http://schemas.microsoft.com/office/drawing/2014/main" id="{8B0EBBA0-4D35-4187-BDF3-8C74DB7B443F}"/>
              </a:ext>
            </a:extLst>
          </p:cNvPr>
          <p:cNvSpPr>
            <a:spLocks xmlns:a="http://schemas.openxmlformats.org/drawingml/2006/main" noGrp="1"/>
          </p:cNvSpPr>
          <p:nvPr/>
        </p:nvSpPr>
        <p:spPr>
          <a:xfrm xmlns:a="http://schemas.openxmlformats.org/drawingml/2006/main">
            <a:off x="9353550" y="3343275"/>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Lógica</a:t>
            </a:r>
          </a:p>
        </p:txBody>
      </p:sp>
      <p:sp>
        <p:nvSpPr>
          <p:cNvPr id="10" name="">
            <a:extLst xmlns:a="http://schemas.openxmlformats.org/drawingml/2006/main">
              <a:ext uri="{FF2B5EF4-FFF2-40B4-BE49-F238E27FC236}">
                <a16:creationId xmlns:a16="http://schemas.microsoft.com/office/drawing/2014/main" id="{8CA578C0-B251-437A-92B0-0DA89B1FF324}"/>
              </a:ext>
            </a:extLst>
          </p:cNvPr>
          <p:cNvSpPr>
            <a:spLocks xmlns:a="http://schemas.openxmlformats.org/drawingml/2006/main" noGrp="1"/>
          </p:cNvSpPr>
          <p:nvPr/>
        </p:nvSpPr>
        <p:spPr>
          <a:xfrm xmlns:a="http://schemas.openxmlformats.org/drawingml/2006/main">
            <a:off x="6438900" y="3343275"/>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Repositorio / EF</a:t>
            </a:r>
          </a:p>
        </p:txBody>
      </p:sp>
      <p:sp>
        <p:nvSpPr>
          <p:cNvPr id="11" name="">
            <a:extLst xmlns:a="http://schemas.openxmlformats.org/drawingml/2006/main">
              <a:ext uri="{FF2B5EF4-FFF2-40B4-BE49-F238E27FC236}">
                <a16:creationId xmlns:a16="http://schemas.microsoft.com/office/drawing/2014/main" id="{CC73A9CB-FAFC-440D-AC5F-09FA0DF9A242}"/>
              </a:ext>
            </a:extLst>
          </p:cNvPr>
          <p:cNvSpPr>
            <a:spLocks xmlns:a="http://schemas.openxmlformats.org/drawingml/2006/main" noGrp="1"/>
          </p:cNvSpPr>
          <p:nvPr/>
        </p:nvSpPr>
        <p:spPr>
          <a:xfrm xmlns:a="http://schemas.openxmlformats.org/drawingml/2006/main">
            <a:off x="3524250" y="3343275"/>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SQL Server</a:t>
            </a:r>
          </a:p>
        </p:txBody>
      </p:sp>
      <p:cxnSp>
        <p:nvCxnSpPr>
          <p:cNvPr id="38" name=""/>
          <p:cNvCxnSpPr>
            <a:stCxn xmlns:a="http://schemas.openxmlformats.org/drawingml/2006/main" id="5" idx="3"/>
            <a:endCxn xmlns:a="http://schemas.openxmlformats.org/drawingml/2006/main" id="6" idx="1"/>
          </p:cNvCxnSpPr>
          <p:nvPr/>
        </p:nvCxnSpPr>
        <p:spPr>
          <a:xfrm xmlns:a="http://schemas.openxmlformats.org/drawingml/2006/main">
            <a:off x="2838450" y="2305050"/>
            <a:ext cx="685800" cy="0"/>
          </a:xfrm>
          <a:prstGeom xmlns:a="http://schemas.openxmlformats.org/drawingml/2006/main" prst="straightConnector1">
            <a:avLst/>
          </a:prstGeom>
          <a:ln xmlns:a="http://schemas.openxmlformats.org/drawingml/2006/main" w="19050">
            <a:solidFill>
              <a:srgbClr val="93C5FD"/>
            </a:solidFill>
            <a:tailEnd type="arrow" w="med" len="med"/>
          </a:ln>
        </p:spPr>
      </p:cxnSp>
      <p:cxnSp>
        <p:nvCxnSpPr>
          <p:cNvPr id="39" name=""/>
          <p:cNvCxnSpPr>
            <a:stCxn xmlns:a="http://schemas.openxmlformats.org/drawingml/2006/main" id="6" idx="3"/>
            <a:endCxn xmlns:a="http://schemas.openxmlformats.org/drawingml/2006/main" id="7" idx="1"/>
          </p:cNvCxnSpPr>
          <p:nvPr/>
        </p:nvCxnSpPr>
        <p:spPr>
          <a:xfrm xmlns:a="http://schemas.openxmlformats.org/drawingml/2006/main">
            <a:off x="5753100" y="2305050"/>
            <a:ext cx="685800" cy="0"/>
          </a:xfrm>
          <a:prstGeom xmlns:a="http://schemas.openxmlformats.org/drawingml/2006/main" prst="straightConnector1">
            <a:avLst/>
          </a:prstGeom>
          <a:ln xmlns:a="http://schemas.openxmlformats.org/drawingml/2006/main" w="19050">
            <a:solidFill>
              <a:srgbClr val="93C5FD"/>
            </a:solidFill>
            <a:tailEnd type="arrow" w="med" len="med"/>
          </a:ln>
        </p:spPr>
      </p:cxnSp>
      <p:cxnSp>
        <p:nvCxnSpPr>
          <p:cNvPr id="40" name=""/>
          <p:cNvCxnSpPr>
            <a:stCxn xmlns:a="http://schemas.openxmlformats.org/drawingml/2006/main" id="7" idx="3"/>
            <a:endCxn xmlns:a="http://schemas.openxmlformats.org/drawingml/2006/main" id="8" idx="1"/>
          </p:cNvCxnSpPr>
          <p:nvPr/>
        </p:nvCxnSpPr>
        <p:spPr>
          <a:xfrm xmlns:a="http://schemas.openxmlformats.org/drawingml/2006/main">
            <a:off x="8667750" y="2305050"/>
            <a:ext cx="685800" cy="0"/>
          </a:xfrm>
          <a:prstGeom xmlns:a="http://schemas.openxmlformats.org/drawingml/2006/main" prst="straightConnector1">
            <a:avLst/>
          </a:prstGeom>
          <a:ln xmlns:a="http://schemas.openxmlformats.org/drawingml/2006/main" w="19050">
            <a:solidFill>
              <a:srgbClr val="93C5FD"/>
            </a:solidFill>
            <a:tailEnd type="arrow" w="med" len="med"/>
          </a:ln>
        </p:spPr>
      </p:cxnSp>
      <p:cxnSp>
        <p:nvCxnSpPr>
          <p:cNvPr id="41" name=""/>
          <p:cNvCxnSpPr>
            <a:stCxn xmlns:a="http://schemas.openxmlformats.org/drawingml/2006/main" id="8" idx="2"/>
            <a:endCxn xmlns:a="http://schemas.openxmlformats.org/drawingml/2006/main" id="9" idx="0"/>
          </p:cNvCxnSpPr>
          <p:nvPr/>
        </p:nvCxnSpPr>
        <p:spPr>
          <a:xfrm xmlns:a="http://schemas.openxmlformats.org/drawingml/2006/main">
            <a:off x="10467975" y="2667000"/>
            <a:ext cx="0" cy="676275"/>
          </a:xfrm>
          <a:prstGeom xmlns:a="http://schemas.openxmlformats.org/drawingml/2006/main" prst="straightConnector1">
            <a:avLst/>
          </a:prstGeom>
          <a:ln xmlns:a="http://schemas.openxmlformats.org/drawingml/2006/main" w="19050">
            <a:solidFill>
              <a:srgbClr val="93C5FD"/>
            </a:solidFill>
            <a:tailEnd type="arrow" w="med" len="med"/>
          </a:ln>
        </p:spPr>
      </p:cxnSp>
      <p:cxnSp>
        <p:nvCxnSpPr>
          <p:cNvPr id="42" name=""/>
          <p:cNvCxnSpPr>
            <a:stCxn xmlns:a="http://schemas.openxmlformats.org/drawingml/2006/main" id="9" idx="1"/>
            <a:endCxn xmlns:a="http://schemas.openxmlformats.org/drawingml/2006/main" id="10" idx="3"/>
          </p:cNvCxnSpPr>
          <p:nvPr/>
        </p:nvCxnSpPr>
        <p:spPr>
          <a:xfrm xmlns:a="http://schemas.openxmlformats.org/drawingml/2006/main" flipH="1">
            <a:off x="8667750" y="3705225"/>
            <a:ext cx="685800" cy="0"/>
          </a:xfrm>
          <a:prstGeom xmlns:a="http://schemas.openxmlformats.org/drawingml/2006/main" prst="straightConnector1">
            <a:avLst/>
          </a:prstGeom>
          <a:ln xmlns:a="http://schemas.openxmlformats.org/drawingml/2006/main" w="19050">
            <a:solidFill>
              <a:srgbClr val="93C5FD"/>
            </a:solidFill>
            <a:tailEnd type="arrow" w="med" len="med"/>
          </a:ln>
        </p:spPr>
      </p:cxnSp>
      <p:cxnSp>
        <p:nvCxnSpPr>
          <p:cNvPr id="43" name=""/>
          <p:cNvCxnSpPr>
            <a:stCxn xmlns:a="http://schemas.openxmlformats.org/drawingml/2006/main" id="10" idx="1"/>
            <a:endCxn xmlns:a="http://schemas.openxmlformats.org/drawingml/2006/main" id="11" idx="3"/>
          </p:cNvCxnSpPr>
          <p:nvPr/>
        </p:nvCxnSpPr>
        <p:spPr>
          <a:xfrm xmlns:a="http://schemas.openxmlformats.org/drawingml/2006/main" flipH="1">
            <a:off x="5753100" y="3705225"/>
            <a:ext cx="685800" cy="0"/>
          </a:xfrm>
          <a:prstGeom xmlns:a="http://schemas.openxmlformats.org/drawingml/2006/main" prst="straightConnector1">
            <a:avLst/>
          </a:prstGeom>
          <a:ln xmlns:a="http://schemas.openxmlformats.org/drawingml/2006/main" w="19050">
            <a:solidFill>
              <a:srgbClr val="93C5FD"/>
            </a:solidFill>
            <a:tailEnd type="arrow" w="med" len="med"/>
          </a:ln>
        </p:spPr>
      </p:cxnSp>
      <p:sp>
        <p:nvSpPr>
          <p:cNvPr id="18" name="">
            <a:extLst xmlns:a="http://schemas.openxmlformats.org/drawingml/2006/main">
              <a:ext uri="{FF2B5EF4-FFF2-40B4-BE49-F238E27FC236}">
                <a16:creationId xmlns:a16="http://schemas.microsoft.com/office/drawing/2014/main" id="{6D27C21F-1007-4173-9FC2-D906B5C72A87}"/>
              </a:ext>
            </a:extLst>
          </p:cNvPr>
          <p:cNvSpPr>
            <a:spLocks xmlns:a="http://schemas.openxmlformats.org/drawingml/2006/main" noGrp="1"/>
          </p:cNvSpPr>
          <p:nvPr/>
        </p:nvSpPr>
        <p:spPr>
          <a:xfrm xmlns:a="http://schemas.openxmlformats.org/drawingml/2006/main">
            <a:off x="609600" y="1666875"/>
            <a:ext cx="152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93C5FD"/>
                </a:solidFill>
                <a:latin typeface="Arial"/>
                <a:ea typeface="Arial"/>
                <a:cs typeface="Arial"/>
              </a:defRPr>
            </a:pPr>
            <a:r>
              <a:rPr sz="1725" b="1">
                <a:solidFill>
                  <a:srgbClr val="93C5FD"/>
                </a:solidFill>
                <a:latin typeface="Arial"/>
                <a:ea typeface="Arial"/>
                <a:cs typeface="Arial"/>
              </a:rPr>
              <a:t>Ida</a:t>
            </a:r>
          </a:p>
        </p:txBody>
      </p:sp>
      <p:sp>
        <p:nvSpPr>
          <p:cNvPr id="19" name="">
            <a:extLst xmlns:a="http://schemas.openxmlformats.org/drawingml/2006/main">
              <a:ext uri="{FF2B5EF4-FFF2-40B4-BE49-F238E27FC236}">
                <a16:creationId xmlns:a16="http://schemas.microsoft.com/office/drawing/2014/main" id="{0B11FA00-B16E-4FA7-81D8-BED2A92C0EF5}"/>
              </a:ext>
            </a:extLst>
          </p:cNvPr>
          <p:cNvSpPr>
            <a:spLocks xmlns:a="http://schemas.openxmlformats.org/drawingml/2006/main" noGrp="1"/>
          </p:cNvSpPr>
          <p:nvPr/>
        </p:nvSpPr>
        <p:spPr>
          <a:xfrm xmlns:a="http://schemas.openxmlformats.org/drawingml/2006/main">
            <a:off x="609600" y="4895850"/>
            <a:ext cx="2238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93C5FD"/>
                </a:solidFill>
                <a:latin typeface="Arial"/>
                <a:ea typeface="Arial"/>
                <a:cs typeface="Arial"/>
              </a:defRPr>
            </a:pPr>
            <a:r>
              <a:rPr sz="2325" b="1">
                <a:solidFill>
                  <a:srgbClr val="93C5FD"/>
                </a:solidFill>
                <a:latin typeface="Arial"/>
                <a:ea typeface="Arial"/>
                <a:cs typeface="Arial"/>
              </a:rPr>
              <a:t>Vuelta</a:t>
            </a:r>
          </a:p>
        </p:txBody>
      </p:sp>
      <p:sp>
        <p:nvSpPr>
          <p:cNvPr id="20" name="">
            <a:extLst xmlns:a="http://schemas.openxmlformats.org/drawingml/2006/main">
              <a:ext uri="{FF2B5EF4-FFF2-40B4-BE49-F238E27FC236}">
                <a16:creationId xmlns:a16="http://schemas.microsoft.com/office/drawing/2014/main" id="{D9F8055E-F53E-46A8-906C-55563072B964}"/>
              </a:ext>
            </a:extLst>
          </p:cNvPr>
          <p:cNvSpPr>
            <a:spLocks xmlns:a="http://schemas.openxmlformats.org/drawingml/2006/main" noGrp="1"/>
          </p:cNvSpPr>
          <p:nvPr/>
        </p:nvSpPr>
        <p:spPr>
          <a:xfrm xmlns:a="http://schemas.openxmlformats.org/drawingml/2006/main">
            <a:off x="3524250" y="4829175"/>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DTO y JSON</a:t>
            </a:r>
          </a:p>
        </p:txBody>
      </p:sp>
      <p:sp>
        <p:nvSpPr>
          <p:cNvPr id="21" name="">
            <a:extLst xmlns:a="http://schemas.openxmlformats.org/drawingml/2006/main">
              <a:ext uri="{FF2B5EF4-FFF2-40B4-BE49-F238E27FC236}">
                <a16:creationId xmlns:a16="http://schemas.microsoft.com/office/drawing/2014/main" id="{EC7C6F87-F17D-41D2-AB71-2C97954DEEE4}"/>
              </a:ext>
            </a:extLst>
          </p:cNvPr>
          <p:cNvSpPr>
            <a:spLocks xmlns:a="http://schemas.openxmlformats.org/drawingml/2006/main" noGrp="1"/>
          </p:cNvSpPr>
          <p:nvPr/>
        </p:nvSpPr>
        <p:spPr>
          <a:xfrm xmlns:a="http://schemas.openxmlformats.org/drawingml/2006/main">
            <a:off x="6438900" y="4829175"/>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Modelo MVC</a:t>
            </a:r>
          </a:p>
        </p:txBody>
      </p:sp>
      <p:sp>
        <p:nvSpPr>
          <p:cNvPr id="22" name="">
            <a:extLst xmlns:a="http://schemas.openxmlformats.org/drawingml/2006/main">
              <a:ext uri="{FF2B5EF4-FFF2-40B4-BE49-F238E27FC236}">
                <a16:creationId xmlns:a16="http://schemas.microsoft.com/office/drawing/2014/main" id="{10546289-889D-46FA-8E04-A5226110E938}"/>
              </a:ext>
            </a:extLst>
          </p:cNvPr>
          <p:cNvSpPr>
            <a:spLocks xmlns:a="http://schemas.openxmlformats.org/drawingml/2006/main" noGrp="1"/>
          </p:cNvSpPr>
          <p:nvPr/>
        </p:nvSpPr>
        <p:spPr>
          <a:xfrm xmlns:a="http://schemas.openxmlformats.org/drawingml/2006/main">
            <a:off x="9353550" y="4829175"/>
            <a:ext cx="2228850" cy="723900"/>
          </a:xfrm>
          <a:prstGeom xmlns:a="http://schemas.openxmlformats.org/drawingml/2006/main" prst="rect">
            <a:avLst/>
          </a:prstGeom>
          <a:solidFill xmlns:a="http://schemas.openxmlformats.org/drawingml/2006/main">
            <a:srgbClr val="1E293B"/>
          </a:solidFill>
          <a:ln xmlns:a="http://schemas.openxmlformats.org/drawingml/2006/main" w="9525">
            <a:solidFill>
              <a:srgbClr val="64748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a:solidFill>
                  <a:srgbClr val="FFFFFF"/>
                </a:solidFill>
                <a:latin typeface="Arial"/>
                <a:ea typeface="Arial"/>
                <a:cs typeface="Arial"/>
              </a:defRPr>
            </a:pPr>
            <a:r>
              <a:rPr sz="1950">
                <a:solidFill>
                  <a:srgbClr val="FFFFFF"/>
                </a:solidFill>
                <a:latin typeface="Arial"/>
                <a:ea typeface="Arial"/>
                <a:cs typeface="Arial"/>
              </a:rPr>
              <a:t>HTML / navegador</a:t>
            </a:r>
          </a:p>
        </p:txBody>
      </p:sp>
      <p:cxnSp>
        <p:nvCxnSpPr>
          <p:cNvPr id="49" name=""/>
          <p:cNvCxnSpPr>
            <a:stCxn xmlns:a="http://schemas.openxmlformats.org/drawingml/2006/main" id="11" idx="2"/>
            <a:endCxn xmlns:a="http://schemas.openxmlformats.org/drawingml/2006/main" id="20" idx="0"/>
          </p:cNvCxnSpPr>
          <p:nvPr/>
        </p:nvCxnSpPr>
        <p:spPr>
          <a:xfrm xmlns:a="http://schemas.openxmlformats.org/drawingml/2006/main">
            <a:off x="4638675" y="4067175"/>
            <a:ext cx="0" cy="762000"/>
          </a:xfrm>
          <a:prstGeom xmlns:a="http://schemas.openxmlformats.org/drawingml/2006/main" prst="straightConnector1">
            <a:avLst/>
          </a:prstGeom>
          <a:ln xmlns:a="http://schemas.openxmlformats.org/drawingml/2006/main" w="19050">
            <a:solidFill>
              <a:srgbClr val="93C5FD"/>
            </a:solidFill>
            <a:tailEnd type="arrow" w="med" len="med"/>
          </a:ln>
        </p:spPr>
      </p:cxnSp>
      <p:cxnSp>
        <p:nvCxnSpPr>
          <p:cNvPr id="50" name=""/>
          <p:cNvCxnSpPr>
            <a:stCxn xmlns:a="http://schemas.openxmlformats.org/drawingml/2006/main" id="20" idx="3"/>
            <a:endCxn xmlns:a="http://schemas.openxmlformats.org/drawingml/2006/main" id="21" idx="1"/>
          </p:cNvCxnSpPr>
          <p:nvPr/>
        </p:nvCxnSpPr>
        <p:spPr>
          <a:xfrm xmlns:a="http://schemas.openxmlformats.org/drawingml/2006/main">
            <a:off x="5753100" y="5191125"/>
            <a:ext cx="685800" cy="0"/>
          </a:xfrm>
          <a:prstGeom xmlns:a="http://schemas.openxmlformats.org/drawingml/2006/main" prst="straightConnector1">
            <a:avLst/>
          </a:prstGeom>
          <a:ln xmlns:a="http://schemas.openxmlformats.org/drawingml/2006/main" w="19050">
            <a:solidFill>
              <a:srgbClr val="93C5FD"/>
            </a:solidFill>
            <a:tailEnd type="arrow" w="med" len="med"/>
          </a:ln>
        </p:spPr>
      </p:cxnSp>
      <p:cxnSp>
        <p:nvCxnSpPr>
          <p:cNvPr id="51" name=""/>
          <p:cNvCxnSpPr>
            <a:stCxn xmlns:a="http://schemas.openxmlformats.org/drawingml/2006/main" id="21" idx="3"/>
            <a:endCxn xmlns:a="http://schemas.openxmlformats.org/drawingml/2006/main" id="22" idx="1"/>
          </p:cNvCxnSpPr>
          <p:nvPr/>
        </p:nvCxnSpPr>
        <p:spPr>
          <a:xfrm xmlns:a="http://schemas.openxmlformats.org/drawingml/2006/main">
            <a:off x="8667750" y="5191125"/>
            <a:ext cx="685800" cy="0"/>
          </a:xfrm>
          <a:prstGeom xmlns:a="http://schemas.openxmlformats.org/drawingml/2006/main" prst="straightConnector1">
            <a:avLst/>
          </a:prstGeom>
          <a:ln xmlns:a="http://schemas.openxmlformats.org/drawingml/2006/main" w="19050">
            <a:solidFill>
              <a:srgbClr val="93C5FD"/>
            </a:solidFill>
            <a:tailEnd type="arrow" w="med" len="med"/>
          </a:ln>
        </p:spPr>
      </p:cxnSp>
      <p:sp>
        <p:nvSpPr>
          <p:cNvPr id="26" name="">
            <a:extLst xmlns:a="http://schemas.openxmlformats.org/drawingml/2006/main">
              <a:ext uri="{FF2B5EF4-FFF2-40B4-BE49-F238E27FC236}">
                <a16:creationId xmlns:a16="http://schemas.microsoft.com/office/drawing/2014/main" id="{483F0B04-2A00-4EEF-929C-4AB82A7FF4C3}"/>
              </a:ext>
            </a:extLst>
          </p:cNvPr>
          <p:cNvSpPr>
            <a:spLocks xmlns:a="http://schemas.openxmlformats.org/drawingml/2006/main" noGrp="1"/>
          </p:cNvSpPr>
          <p:nvPr/>
        </p:nvSpPr>
        <p:spPr>
          <a:xfrm xmlns:a="http://schemas.openxmlformats.org/drawingml/2006/main">
            <a:off x="609600" y="58483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CBD5E1"/>
                </a:solidFill>
                <a:latin typeface="Arial"/>
                <a:ea typeface="Arial"/>
                <a:cs typeface="Arial"/>
              </a:defRPr>
            </a:pPr>
            <a:r>
              <a:rPr sz="1725" b="0">
                <a:solidFill>
                  <a:srgbClr val="CBD5E1"/>
                </a:solidFill>
                <a:latin typeface="Arial"/>
                <a:ea typeface="Arial"/>
                <a:cs typeface="Arial"/>
              </a:rPr>
              <a:t>Registro/login: IHttpClientFactory. Carrito: ciertos accesos directos a DbContext.</a:t>
            </a:r>
          </a:p>
        </p:txBody>
      </p:sp>
    </p:spTree>
    <p:extLst>
      <p:ext uri="{BB962C8B-B14F-4D97-AF65-F5344CB8AC3E}">
        <p14:creationId xmlns:p14="http://schemas.microsoft.com/office/powerpoint/2010/main" val="1848498542"/>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5037C2-1CAB-478A-91CA-005A5F679B00}"/>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Cinco criterios de calidad</a:t>
            </a:r>
          </a:p>
        </p:txBody>
      </p:sp>
      <p:sp>
        <p:nvSpPr>
          <p:cNvPr id="2" name="">
            <a:extLst xmlns:a="http://schemas.openxmlformats.org/drawingml/2006/main">
              <a:ext uri="{FF2B5EF4-FFF2-40B4-BE49-F238E27FC236}">
                <a16:creationId xmlns:a16="http://schemas.microsoft.com/office/drawing/2014/main" id="{DF40B19F-4890-4138-8328-64BFD2831228}"/>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12 / 14</a:t>
            </a:r>
          </a:p>
        </p:txBody>
      </p:sp>
      <p:sp>
        <p:nvSpPr>
          <p:cNvPr id="3" name="">
            <a:extLst xmlns:a="http://schemas.openxmlformats.org/drawingml/2006/main">
              <a:ext uri="{FF2B5EF4-FFF2-40B4-BE49-F238E27FC236}">
                <a16:creationId xmlns:a16="http://schemas.microsoft.com/office/drawing/2014/main" id="{3D78590E-EEE9-4B60-B01E-6826ECB64436}"/>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Daiana   16:00–17:30</a:t>
            </a:r>
          </a:p>
        </p:txBody>
      </p:sp>
      <p:graphicFrame>
        <p:nvGraphicFramePr>
          <p:cNvPr id="9" name=""/>
          <p:cNvGraphicFramePr/>
          <p:nvPr/>
        </p:nvGraphicFramePr>
        <p:xfrm>
          <a:off xmlns:a="http://schemas.openxmlformats.org/drawingml/2006/main" x="609600" y="1657350"/>
          <a:ext xmlns:a="http://schemas.openxmlformats.org/drawingml/2006/main" cx="10972800" cy="3914775"/>
        </p:xfrm>
        <a:graphic xmlns:a="http://schemas.openxmlformats.org/drawingml/2006/main">
          <a:graphicData uri="http://schemas.openxmlformats.org/drawingml/2006/table">
            <a:tbl>
              <a:tblPr/>
              <a:tblGrid>
                <a:gridCol w="3257550"/>
                <a:gridCol w="4381500"/>
                <a:gridCol w="3333750"/>
              </a:tblGrid>
              <a:tr h="514350">
                <a:tc>
                  <a:txBody>
                    <a:bodyPr lIns="133350" tIns="85725" rIns="133350" bIns="85725">
                      <a:noAutofit/>
                    </a:bodyPr>
                    <a:lstStyle/>
                    <a:p>
                      <a:r>
                        <a:rPr sz="1875" b="1">
                          <a:solidFill>
                            <a:srgbClr val="FFFFFF"/>
                          </a:solidFill>
                          <a:latin typeface="Arial"/>
                          <a:ea typeface="Arial"/>
                          <a:cs typeface="Arial"/>
                        </a:rPr>
                        <a:t>Requisito oficial</a:t>
                      </a:r>
                    </a:p>
                  </a:txBody>
                  <a:tcPr marL="91440" marR="91440" marT="45720" marB="45720" anchor="ctr">
                    <a:solidFill>
                      <a:srgbClr val="111827"/>
                    </a:solidFill>
                  </a:tcPr>
                </a:tc>
                <a:tc>
                  <a:txBody>
                    <a:bodyPr lIns="133350" tIns="85725" rIns="133350" bIns="85725">
                      <a:noAutofit/>
                    </a:bodyPr>
                    <a:lstStyle/>
                    <a:p>
                      <a:r>
                        <a:rPr sz="1875" b="1">
                          <a:solidFill>
                            <a:srgbClr val="FFFFFF"/>
                          </a:solidFill>
                          <a:latin typeface="Arial"/>
                          <a:ea typeface="Arial"/>
                          <a:cs typeface="Arial"/>
                        </a:rPr>
                        <a:t>Control contemplado</a:t>
                      </a:r>
                    </a:p>
                  </a:txBody>
                  <a:tcPr marL="91440" marR="91440" marT="45720" marB="45720" anchor="ctr">
                    <a:solidFill>
                      <a:srgbClr val="111827"/>
                    </a:solidFill>
                  </a:tcPr>
                </a:tc>
                <a:tc>
                  <a:txBody>
                    <a:bodyPr lIns="133350" tIns="85725" rIns="133350" bIns="85725">
                      <a:noAutofit/>
                    </a:bodyPr>
                    <a:lstStyle/>
                    <a:p>
                      <a:r>
                        <a:rPr sz="1875" b="1">
                          <a:solidFill>
                            <a:srgbClr val="FFFFFF"/>
                          </a:solidFill>
                          <a:latin typeface="Arial"/>
                          <a:ea typeface="Arial"/>
                          <a:cs typeface="Arial"/>
                        </a:rPr>
                        <a:t>Evidencia / alcance</a:t>
                      </a:r>
                    </a:p>
                  </a:txBody>
                  <a:tcPr marL="91440" marR="91440" marT="45720" marB="45720" anchor="ctr">
                    <a:solidFill>
                      <a:srgbClr val="111827"/>
                    </a:solidFill>
                  </a:tcPr>
                </a:tc>
              </a:tr>
              <a:tr h="680085">
                <a:tc>
                  <a:txBody>
                    <a:bodyPr lIns="133350" tIns="85725" rIns="133350" bIns="85725">
                      <a:noAutofit/>
                    </a:bodyPr>
                    <a:lstStyle/>
                    <a:p>
                      <a:r>
                        <a:rPr sz="2025" b="0">
                          <a:solidFill>
                            <a:srgbClr val="111827"/>
                          </a:solidFill>
                          <a:latin typeface="Arial"/>
                          <a:ea typeface="Arial"/>
                          <a:cs typeface="Arial"/>
                        </a:rPr>
                        <a:t>Seguridad · RNF4</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Hash, JWT, roles y CSRF</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Controles en código</a:t>
                      </a:r>
                    </a:p>
                  </a:txBody>
                  <a:tcPr marL="91440" marR="91440" marT="45720" marB="45720" anchor="ctr">
                    <a:solidFill>
                      <a:srgbClr val="F8FAFC"/>
                    </a:solidFill>
                  </a:tcPr>
                </a:tc>
              </a:tr>
              <a:tr h="680085">
                <a:tc>
                  <a:txBody>
                    <a:bodyPr lIns="133350" tIns="85725" rIns="133350" bIns="85725">
                      <a:noAutofit/>
                    </a:bodyPr>
                    <a:lstStyle/>
                    <a:p>
                      <a:r>
                        <a:rPr sz="2025" b="0">
                          <a:solidFill>
                            <a:srgbClr val="111827"/>
                          </a:solidFill>
                          <a:latin typeface="Arial"/>
                          <a:ea typeface="Arial"/>
                          <a:cs typeface="Arial"/>
                        </a:rPr>
                        <a:t>Rendimiento · RNF1</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Paginación y proyección</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Medición local histórica</a:t>
                      </a:r>
                    </a:p>
                  </a:txBody>
                  <a:tcPr marL="91440" marR="91440" marT="45720" marB="45720" anchor="ctr">
                    <a:solidFill>
                      <a:srgbClr val="F8FAFC"/>
                    </a:solidFill>
                  </a:tcPr>
                </a:tc>
              </a:tr>
              <a:tr h="680085">
                <a:tc>
                  <a:txBody>
                    <a:bodyPr lIns="133350" tIns="85725" rIns="133350" bIns="85725">
                      <a:noAutofit/>
                    </a:bodyPr>
                    <a:lstStyle/>
                    <a:p>
                      <a:r>
                        <a:rPr sz="2025" b="0">
                          <a:solidFill>
                            <a:srgbClr val="111827"/>
                          </a:solidFill>
                          <a:latin typeface="Arial"/>
                          <a:ea typeface="Arial"/>
                          <a:cs typeface="Arial"/>
                        </a:rPr>
                        <a:t>Usabilidad · RNF2</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Validación y mensajes</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Pantallas y pruebas</a:t>
                      </a:r>
                    </a:p>
                  </a:txBody>
                  <a:tcPr marL="91440" marR="91440" marT="45720" marB="45720" anchor="ctr">
                    <a:solidFill>
                      <a:srgbClr val="F8FAFC"/>
                    </a:solidFill>
                  </a:tcPr>
                </a:tc>
              </a:tr>
              <a:tr h="680085">
                <a:tc>
                  <a:txBody>
                    <a:bodyPr lIns="133350" tIns="85725" rIns="133350" bIns="85725">
                      <a:noAutofit/>
                    </a:bodyPr>
                    <a:lstStyle/>
                    <a:p>
                      <a:r>
                        <a:rPr sz="2025" b="0">
                          <a:solidFill>
                            <a:srgbClr val="111827"/>
                          </a:solidFill>
                          <a:latin typeface="Arial"/>
                          <a:ea typeface="Arial"/>
                          <a:cs typeface="Arial"/>
                        </a:rPr>
                        <a:t>Compatibilidad · RNF3</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Seis anchos de pantalla</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Chromium</a:t>
                      </a:r>
                    </a:p>
                  </a:txBody>
                  <a:tcPr marL="91440" marR="91440" marT="45720" marB="45720" anchor="ctr">
                    <a:solidFill>
                      <a:srgbClr val="F8FAFC"/>
                    </a:solidFill>
                  </a:tcPr>
                </a:tc>
              </a:tr>
              <a:tr h="680085">
                <a:tc>
                  <a:txBody>
                    <a:bodyPr lIns="133350" tIns="85725" rIns="133350" bIns="85725">
                      <a:noAutofit/>
                    </a:bodyPr>
                    <a:lstStyle/>
                    <a:p>
                      <a:r>
                        <a:rPr sz="2025" b="0">
                          <a:solidFill>
                            <a:srgbClr val="111827"/>
                          </a:solidFill>
                          <a:latin typeface="Arial"/>
                          <a:ea typeface="Arial"/>
                          <a:cs typeface="Arial"/>
                        </a:rPr>
                        <a:t>Mantenibilidad · RNF5</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Responsabilidades y DI</a:t>
                      </a:r>
                    </a:p>
                  </a:txBody>
                  <a:tcPr marL="91440" marR="91440" marT="45720" marB="45720" anchor="ctr">
                    <a:solidFill>
                      <a:srgbClr val="F8FAFC"/>
                    </a:solidFill>
                  </a:tcPr>
                </a:tc>
                <a:tc>
                  <a:txBody>
                    <a:bodyPr lIns="133350" tIns="85725" rIns="133350" bIns="85725">
                      <a:noAutofit/>
                    </a:bodyPr>
                    <a:lstStyle/>
                    <a:p>
                      <a:r>
                        <a:rPr sz="2025" b="0">
                          <a:solidFill>
                            <a:srgbClr val="111827"/>
                          </a:solidFill>
                          <a:latin typeface="Arial"/>
                          <a:ea typeface="Arial"/>
                          <a:cs typeface="Arial"/>
                        </a:rPr>
                        <a:t>Código y pruebas</a:t>
                      </a:r>
                    </a:p>
                  </a:txBody>
                  <a:tcPr marL="91440" marR="91440" marT="45720" marB="45720" anchor="ctr">
                    <a:solidFill>
                      <a:srgbClr val="F8FAFC"/>
                    </a:solidFill>
                  </a:tcPr>
                </a:tc>
              </a:tr>
            </a:tbl>
          </a:graphicData>
        </a:graphic>
      </p:graphicFrame>
      <p:sp>
        <p:nvSpPr>
          <p:cNvPr id="5" name="">
            <a:extLst xmlns:a="http://schemas.openxmlformats.org/drawingml/2006/main">
              <a:ext uri="{FF2B5EF4-FFF2-40B4-BE49-F238E27FC236}">
                <a16:creationId xmlns:a16="http://schemas.microsoft.com/office/drawing/2014/main" id="{0D17F106-C67D-4BB5-8103-545B1793B80E}"/>
              </a:ext>
            </a:extLst>
          </p:cNvPr>
          <p:cNvSpPr>
            <a:spLocks xmlns:a="http://schemas.openxmlformats.org/drawingml/2006/main" noGrp="1"/>
          </p:cNvSpPr>
          <p:nvPr/>
        </p:nvSpPr>
        <p:spPr>
          <a:xfrm xmlns:a="http://schemas.openxmlformats.org/drawingml/2006/main">
            <a:off x="609600" y="58102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320, 375, 425, 768, 1024 y 1280 px. Firefox y Edge: objetivo pendiente.</a:t>
            </a:r>
          </a:p>
        </p:txBody>
      </p:sp>
    </p:spTree>
    <p:extLst>
      <p:ext uri="{BB962C8B-B14F-4D97-AF65-F5344CB8AC3E}">
        <p14:creationId xmlns:p14="http://schemas.microsoft.com/office/powerpoint/2010/main" val="1572024813"/>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54F1DF-2A97-4D24-ABC3-EFA9CD02ADD0}"/>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827"/>
                </a:solidFill>
                <a:latin typeface="Arial"/>
                <a:ea typeface="Arial"/>
                <a:cs typeface="Arial"/>
              </a:defRPr>
            </a:pPr>
            <a:r>
              <a:rPr sz="3300" b="1">
                <a:solidFill>
                  <a:srgbClr val="111827"/>
                </a:solidFill>
                <a:latin typeface="Arial"/>
                <a:ea typeface="Arial"/>
                <a:cs typeface="Arial"/>
              </a:rPr>
              <a:t>Estado del proyecto y próximos pasos</a:t>
            </a:r>
          </a:p>
        </p:txBody>
      </p:sp>
      <p:sp>
        <p:nvSpPr>
          <p:cNvPr id="2" name="">
            <a:extLst xmlns:a="http://schemas.openxmlformats.org/drawingml/2006/main">
              <a:ext uri="{FF2B5EF4-FFF2-40B4-BE49-F238E27FC236}">
                <a16:creationId xmlns:a16="http://schemas.microsoft.com/office/drawing/2014/main" id="{95E4F4F1-36BF-4777-BEEC-ED2B0397954A}"/>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13 / 14</a:t>
            </a:r>
          </a:p>
        </p:txBody>
      </p:sp>
      <p:sp>
        <p:nvSpPr>
          <p:cNvPr id="3" name="">
            <a:extLst xmlns:a="http://schemas.openxmlformats.org/drawingml/2006/main">
              <a:ext uri="{FF2B5EF4-FFF2-40B4-BE49-F238E27FC236}">
                <a16:creationId xmlns:a16="http://schemas.microsoft.com/office/drawing/2014/main" id="{5A899370-B021-45E7-8F07-CDBC21505EE2}"/>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75569"/>
                </a:solidFill>
                <a:latin typeface="Arial"/>
                <a:ea typeface="Arial"/>
                <a:cs typeface="Arial"/>
              </a:defRPr>
            </a:pPr>
            <a:r>
              <a:rPr sz="1500" b="0">
                <a:solidFill>
                  <a:srgbClr val="475569"/>
                </a:solidFill>
                <a:latin typeface="Arial"/>
                <a:ea typeface="Arial"/>
                <a:cs typeface="Arial"/>
              </a:rPr>
              <a:t>Facundo   17:30–19:30</a:t>
            </a:r>
          </a:p>
        </p:txBody>
      </p:sp>
      <p:sp>
        <p:nvSpPr>
          <p:cNvPr id="4" name="">
            <a:extLst xmlns:a="http://schemas.openxmlformats.org/drawingml/2006/main">
              <a:ext uri="{FF2B5EF4-FFF2-40B4-BE49-F238E27FC236}">
                <a16:creationId xmlns:a16="http://schemas.microsoft.com/office/drawing/2014/main" id="{E6273C40-0B87-4930-8013-9AF670C6B59A}"/>
              </a:ext>
            </a:extLst>
          </p:cNvPr>
          <p:cNvSpPr>
            <a:spLocks xmlns:a="http://schemas.openxmlformats.org/drawingml/2006/main" noGrp="1"/>
          </p:cNvSpPr>
          <p:nvPr/>
        </p:nvSpPr>
        <p:spPr>
          <a:xfrm xmlns:a="http://schemas.openxmlformats.org/drawingml/2006/main">
            <a:off x="609600" y="1571625"/>
            <a:ext cx="3905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250" b="1">
                <a:solidFill>
                  <a:srgbClr val="2563EB"/>
                </a:solidFill>
                <a:latin typeface="Arial"/>
                <a:ea typeface="Arial"/>
                <a:cs typeface="Arial"/>
              </a:defRPr>
            </a:pPr>
            <a:r>
              <a:rPr sz="8250" b="1">
                <a:solidFill>
                  <a:srgbClr val="2563EB"/>
                </a:solidFill>
                <a:latin typeface="Arial"/>
                <a:ea typeface="Arial"/>
                <a:cs typeface="Arial"/>
              </a:rPr>
              <a:t>105</a:t>
            </a:r>
          </a:p>
        </p:txBody>
      </p:sp>
      <p:sp>
        <p:nvSpPr>
          <p:cNvPr id="5" name="">
            <a:extLst xmlns:a="http://schemas.openxmlformats.org/drawingml/2006/main">
              <a:ext uri="{FF2B5EF4-FFF2-40B4-BE49-F238E27FC236}">
                <a16:creationId xmlns:a16="http://schemas.microsoft.com/office/drawing/2014/main" id="{917D0E3F-4B34-4A05-8301-2F32866235A2}"/>
              </a:ext>
            </a:extLst>
          </p:cNvPr>
          <p:cNvSpPr>
            <a:spLocks xmlns:a="http://schemas.openxmlformats.org/drawingml/2006/main" noGrp="1"/>
          </p:cNvSpPr>
          <p:nvPr/>
        </p:nvSpPr>
        <p:spPr>
          <a:xfrm xmlns:a="http://schemas.openxmlformats.org/drawingml/2006/main">
            <a:off x="609600" y="3114675"/>
            <a:ext cx="4686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1827"/>
                </a:solidFill>
                <a:latin typeface="Arial"/>
                <a:ea typeface="Arial"/>
                <a:cs typeface="Arial"/>
              </a:defRPr>
            </a:pPr>
            <a:r>
              <a:rPr sz="2400" b="1">
                <a:solidFill>
                  <a:srgbClr val="111827"/>
                </a:solidFill>
                <a:latin typeface="Arial"/>
                <a:ea typeface="Arial"/>
                <a:cs typeface="Arial"/>
              </a:rPr>
              <a:t>pruebas aprobadas</a:t>
            </a:r>
          </a:p>
          <a:p xmlns:a="http://schemas.openxmlformats.org/drawingml/2006/main">
            <a:pPr>
              <a:defRPr sz="2400" b="1">
                <a:solidFill>
                  <a:srgbClr val="111827"/>
                </a:solidFill>
                <a:latin typeface="Arial"/>
                <a:ea typeface="Arial"/>
                <a:cs typeface="Arial"/>
              </a:defRPr>
            </a:pPr>
            <a:r>
              <a:rPr sz="2400" b="1">
                <a:solidFill>
                  <a:srgbClr val="111827"/>
                </a:solidFill>
                <a:latin typeface="Arial"/>
                <a:ea typeface="Arial"/>
                <a:cs typeface="Arial"/>
              </a:rPr>
              <a:t>en el reporte anterior</a:t>
            </a:r>
          </a:p>
        </p:txBody>
      </p:sp>
      <p:sp>
        <p:nvSpPr>
          <p:cNvPr id="6" name="">
            <a:extLst xmlns:a="http://schemas.openxmlformats.org/drawingml/2006/main">
              <a:ext uri="{FF2B5EF4-FFF2-40B4-BE49-F238E27FC236}">
                <a16:creationId xmlns:a16="http://schemas.microsoft.com/office/drawing/2014/main" id="{67683369-7CFF-479A-BE73-079CB38887E6}"/>
              </a:ext>
            </a:extLst>
          </p:cNvPr>
          <p:cNvSpPr>
            <a:spLocks xmlns:a="http://schemas.openxmlformats.org/drawingml/2006/main" noGrp="1"/>
          </p:cNvSpPr>
          <p:nvPr/>
        </p:nvSpPr>
        <p:spPr>
          <a:xfrm xmlns:a="http://schemas.openxmlformats.org/drawingml/2006/main">
            <a:off x="609600" y="4333875"/>
            <a:ext cx="4714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8 unitarias</a:t>
            </a:r>
          </a:p>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78 integración y frontend</a:t>
            </a:r>
          </a:p>
          <a:p xmlns:a="http://schemas.openxmlformats.org/drawingml/2006/main">
            <a:pPr>
              <a:defRPr sz="2175" b="0">
                <a:solidFill>
                  <a:srgbClr val="111827"/>
                </a:solidFill>
                <a:latin typeface="Arial"/>
                <a:ea typeface="Arial"/>
                <a:cs typeface="Arial"/>
              </a:defRPr>
            </a:pPr>
            <a:r>
              <a:rPr sz="2175" b="0">
                <a:solidFill>
                  <a:srgbClr val="111827"/>
                </a:solidFill>
                <a:latin typeface="Arial"/>
                <a:ea typeface="Arial"/>
                <a:cs typeface="Arial"/>
              </a:rPr>
              <a:t>19 E2E</a:t>
            </a:r>
          </a:p>
        </p:txBody>
      </p:sp>
      <p:sp>
        <p:nvSpPr>
          <p:cNvPr id="7" name="">
            <a:extLst xmlns:a="http://schemas.openxmlformats.org/drawingml/2006/main">
              <a:ext uri="{FF2B5EF4-FFF2-40B4-BE49-F238E27FC236}">
                <a16:creationId xmlns:a16="http://schemas.microsoft.com/office/drawing/2014/main" id="{61B00C0A-63FD-4B8B-BCB1-22ADC093B630}"/>
              </a:ext>
            </a:extLst>
          </p:cNvPr>
          <p:cNvSpPr>
            <a:spLocks xmlns:a="http://schemas.openxmlformats.org/drawingml/2006/main" noGrp="1"/>
          </p:cNvSpPr>
          <p:nvPr/>
        </p:nvSpPr>
        <p:spPr>
          <a:xfrm xmlns:a="http://schemas.openxmlformats.org/drawingml/2006/main">
            <a:off x="6096000" y="1657350"/>
            <a:ext cx="5476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11827"/>
                </a:solidFill>
                <a:latin typeface="Arial"/>
                <a:ea typeface="Arial"/>
                <a:cs typeface="Arial"/>
              </a:defRPr>
            </a:pPr>
            <a:r>
              <a:rPr sz="2700" b="1">
                <a:solidFill>
                  <a:srgbClr val="111827"/>
                </a:solidFill>
                <a:latin typeface="Arial"/>
                <a:ea typeface="Arial"/>
                <a:cs typeface="Arial"/>
              </a:rPr>
              <a:t>Próximos hitos</a:t>
            </a:r>
          </a:p>
        </p:txBody>
      </p:sp>
      <p:sp>
        <p:nvSpPr>
          <p:cNvPr id="8" name="">
            <a:extLst xmlns:a="http://schemas.openxmlformats.org/drawingml/2006/main">
              <a:ext uri="{FF2B5EF4-FFF2-40B4-BE49-F238E27FC236}">
                <a16:creationId xmlns:a16="http://schemas.microsoft.com/office/drawing/2014/main" id="{DFB56ACB-F003-4FD5-BB52-78AB07F0E393}"/>
              </a:ext>
            </a:extLst>
          </p:cNvPr>
          <p:cNvSpPr>
            <a:spLocks xmlns:a="http://schemas.openxmlformats.org/drawingml/2006/main" noGrp="1"/>
          </p:cNvSpPr>
          <p:nvPr/>
        </p:nvSpPr>
        <p:spPr>
          <a:xfrm xmlns:a="http://schemas.openxmlformats.org/drawingml/2006/main">
            <a:off x="6096000" y="2552700"/>
            <a:ext cx="70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16CDFCFA-3BD1-4274-9949-C485CC80CC4D}"/>
              </a:ext>
            </a:extLst>
          </p:cNvPr>
          <p:cNvSpPr>
            <a:spLocks xmlns:a="http://schemas.openxmlformats.org/drawingml/2006/main" noGrp="1"/>
          </p:cNvSpPr>
          <p:nvPr/>
        </p:nvSpPr>
        <p:spPr>
          <a:xfrm xmlns:a="http://schemas.openxmlformats.org/drawingml/2006/main">
            <a:off x="6953250" y="2552700"/>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11827"/>
                </a:solidFill>
                <a:latin typeface="Arial"/>
                <a:ea typeface="Arial"/>
                <a:cs typeface="Arial"/>
              </a:defRPr>
            </a:pPr>
            <a:r>
              <a:rPr sz="2250" b="0">
                <a:solidFill>
                  <a:srgbClr val="111827"/>
                </a:solidFill>
                <a:latin typeface="Arial"/>
                <a:ea typeface="Arial"/>
                <a:cs typeface="Arial"/>
              </a:rPr>
              <a:t>Completar checkout MVC</a:t>
            </a:r>
          </a:p>
        </p:txBody>
      </p:sp>
      <p:sp>
        <p:nvSpPr>
          <p:cNvPr id="10" name="">
            <a:extLst xmlns:a="http://schemas.openxmlformats.org/drawingml/2006/main">
              <a:ext uri="{FF2B5EF4-FFF2-40B4-BE49-F238E27FC236}">
                <a16:creationId xmlns:a16="http://schemas.microsoft.com/office/drawing/2014/main" id="{D763A552-7092-4311-B007-4FB6E6150AE4}"/>
              </a:ext>
            </a:extLst>
          </p:cNvPr>
          <p:cNvSpPr>
            <a:spLocks xmlns:a="http://schemas.openxmlformats.org/drawingml/2006/main" noGrp="1"/>
          </p:cNvSpPr>
          <p:nvPr/>
        </p:nvSpPr>
        <p:spPr>
          <a:xfrm xmlns:a="http://schemas.openxmlformats.org/drawingml/2006/main">
            <a:off x="6096000" y="3543300"/>
            <a:ext cx="70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0E35F548-0BD5-4CB8-9BDB-44BE0179DE2B}"/>
              </a:ext>
            </a:extLst>
          </p:cNvPr>
          <p:cNvSpPr>
            <a:spLocks xmlns:a="http://schemas.openxmlformats.org/drawingml/2006/main" noGrp="1"/>
          </p:cNvSpPr>
          <p:nvPr/>
        </p:nvSpPr>
        <p:spPr>
          <a:xfrm xmlns:a="http://schemas.openxmlformats.org/drawingml/2006/main">
            <a:off x="6953250" y="3543300"/>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11827"/>
                </a:solidFill>
                <a:latin typeface="Arial"/>
                <a:ea typeface="Arial"/>
                <a:cs typeface="Arial"/>
              </a:defRPr>
            </a:pPr>
            <a:r>
              <a:rPr sz="2250" b="0">
                <a:solidFill>
                  <a:srgbClr val="111827"/>
                </a:solidFill>
                <a:latin typeface="Arial"/>
                <a:ea typeface="Arial"/>
                <a:cs typeface="Arial"/>
              </a:rPr>
              <a:t>Cerrar recuperación y envíos</a:t>
            </a:r>
          </a:p>
        </p:txBody>
      </p:sp>
      <p:sp>
        <p:nvSpPr>
          <p:cNvPr id="12" name="">
            <a:extLst xmlns:a="http://schemas.openxmlformats.org/drawingml/2006/main">
              <a:ext uri="{FF2B5EF4-FFF2-40B4-BE49-F238E27FC236}">
                <a16:creationId xmlns:a16="http://schemas.microsoft.com/office/drawing/2014/main" id="{67E4D837-A92A-4454-BBC0-330099A2260B}"/>
              </a:ext>
            </a:extLst>
          </p:cNvPr>
          <p:cNvSpPr>
            <a:spLocks xmlns:a="http://schemas.openxmlformats.org/drawingml/2006/main" noGrp="1"/>
          </p:cNvSpPr>
          <p:nvPr/>
        </p:nvSpPr>
        <p:spPr>
          <a:xfrm xmlns:a="http://schemas.openxmlformats.org/drawingml/2006/main">
            <a:off x="6096000" y="4533900"/>
            <a:ext cx="704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49F0F102-4E3A-4E33-B4B8-E4CD473A9BB5}"/>
              </a:ext>
            </a:extLst>
          </p:cNvPr>
          <p:cNvSpPr>
            <a:spLocks xmlns:a="http://schemas.openxmlformats.org/drawingml/2006/main" noGrp="1"/>
          </p:cNvSpPr>
          <p:nvPr/>
        </p:nvSpPr>
        <p:spPr>
          <a:xfrm xmlns:a="http://schemas.openxmlformats.org/drawingml/2006/main">
            <a:off x="6953250" y="4533900"/>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11827"/>
                </a:solidFill>
                <a:latin typeface="Arial"/>
                <a:ea typeface="Arial"/>
                <a:cs typeface="Arial"/>
              </a:defRPr>
            </a:pPr>
            <a:r>
              <a:rPr sz="2250" b="0">
                <a:solidFill>
                  <a:srgbClr val="111827"/>
                </a:solidFill>
                <a:latin typeface="Arial"/>
                <a:ea typeface="Arial"/>
                <a:cs typeface="Arial"/>
              </a:rPr>
              <a:t>Alinear casos de uso y bajas</a:t>
            </a:r>
          </a:p>
        </p:txBody>
      </p:sp>
      <p:sp>
        <p:nvSpPr>
          <p:cNvPr id="14" name="">
            <a:extLst xmlns:a="http://schemas.openxmlformats.org/drawingml/2006/main">
              <a:ext uri="{FF2B5EF4-FFF2-40B4-BE49-F238E27FC236}">
                <a16:creationId xmlns:a16="http://schemas.microsoft.com/office/drawing/2014/main" id="{733EFEFE-D820-42DE-9E13-56ECBE27F678}"/>
              </a:ext>
            </a:extLst>
          </p:cNvPr>
          <p:cNvSpPr>
            <a:spLocks xmlns:a="http://schemas.openxmlformats.org/drawingml/2006/main" noGrp="1"/>
          </p:cNvSpPr>
          <p:nvPr/>
        </p:nvSpPr>
        <p:spPr>
          <a:xfrm xmlns:a="http://schemas.openxmlformats.org/drawingml/2006/main">
            <a:off x="609600" y="6000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Reporte citado el 01/10/2026. No representa una nueva ejecución.</a:t>
            </a:r>
          </a:p>
        </p:txBody>
      </p:sp>
    </p:spTree>
    <p:extLst>
      <p:ext uri="{BB962C8B-B14F-4D97-AF65-F5344CB8AC3E}">
        <p14:creationId xmlns:p14="http://schemas.microsoft.com/office/powerpoint/2010/main" val="156174709"/>
      </p:ext>
    </p:extLst>
  </p:cSld>
</p:sld>
</file>

<file path=ppt/slides/slide14.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6F5187-916A-47DD-B5A5-36DEEA3DFC81}"/>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Resultado de la entrega</a:t>
            </a:r>
          </a:p>
        </p:txBody>
      </p:sp>
      <p:sp>
        <p:nvSpPr>
          <p:cNvPr id="2" name="">
            <a:extLst xmlns:a="http://schemas.openxmlformats.org/drawingml/2006/main">
              <a:ext uri="{FF2B5EF4-FFF2-40B4-BE49-F238E27FC236}">
                <a16:creationId xmlns:a16="http://schemas.microsoft.com/office/drawing/2014/main" id="{1B2E2059-A280-406E-B2D1-F7BD72CFBB1A}"/>
              </a:ext>
            </a:extLst>
          </p:cNvPr>
          <p:cNvSpPr>
            <a:spLocks xmlns:a="http://schemas.openxmlformats.org/drawingml/2006/main" noGrp="1"/>
          </p:cNvSpPr>
          <p:nvPr/>
        </p:nvSpPr>
        <p:spPr>
          <a:xfrm xmlns:a="http://schemas.openxmlformats.org/drawingml/2006/main">
            <a:off x="609600" y="642937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BD5E1"/>
                </a:solidFill>
                <a:latin typeface="Arial"/>
                <a:ea typeface="Arial"/>
                <a:cs typeface="Arial"/>
              </a:defRPr>
            </a:pPr>
            <a:r>
              <a:rPr sz="1500" b="0">
                <a:solidFill>
                  <a:srgbClr val="CBD5E1"/>
                </a:solidFill>
                <a:latin typeface="Arial"/>
                <a:ea typeface="Arial"/>
                <a:cs typeface="Arial"/>
              </a:rPr>
              <a:t>14 / 14</a:t>
            </a:r>
          </a:p>
        </p:txBody>
      </p:sp>
      <p:sp>
        <p:nvSpPr>
          <p:cNvPr id="3" name="">
            <a:extLst xmlns:a="http://schemas.openxmlformats.org/drawingml/2006/main">
              <a:ext uri="{FF2B5EF4-FFF2-40B4-BE49-F238E27FC236}">
                <a16:creationId xmlns:a16="http://schemas.microsoft.com/office/drawing/2014/main" id="{C2371E76-33E5-4154-AAEE-E1C9A16F927F}"/>
              </a:ext>
            </a:extLst>
          </p:cNvPr>
          <p:cNvSpPr>
            <a:spLocks xmlns:a="http://schemas.openxmlformats.org/drawingml/2006/main" noGrp="1"/>
          </p:cNvSpPr>
          <p:nvPr/>
        </p:nvSpPr>
        <p:spPr>
          <a:xfrm xmlns:a="http://schemas.openxmlformats.org/drawingml/2006/main">
            <a:off x="8743950" y="6429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CBD5E1"/>
                </a:solidFill>
                <a:latin typeface="Arial"/>
                <a:ea typeface="Arial"/>
                <a:cs typeface="Arial"/>
              </a:defRPr>
            </a:pPr>
            <a:r>
              <a:rPr sz="1500" b="0">
                <a:solidFill>
                  <a:srgbClr val="CBD5E1"/>
                </a:solidFill>
                <a:latin typeface="Arial"/>
                <a:ea typeface="Arial"/>
                <a:cs typeface="Arial"/>
              </a:rPr>
              <a:t>Daiana   19:30–20:00</a:t>
            </a:r>
          </a:p>
        </p:txBody>
      </p:sp>
      <p:sp>
        <p:nvSpPr>
          <p:cNvPr id="4" name="">
            <a:extLst xmlns:a="http://schemas.openxmlformats.org/drawingml/2006/main">
              <a:ext uri="{FF2B5EF4-FFF2-40B4-BE49-F238E27FC236}">
                <a16:creationId xmlns:a16="http://schemas.microsoft.com/office/drawing/2014/main" id="{F2C67761-238A-4591-8774-84F32B85AE5E}"/>
              </a:ext>
            </a:extLst>
          </p:cNvPr>
          <p:cNvSpPr>
            <a:spLocks xmlns:a="http://schemas.openxmlformats.org/drawingml/2006/main" noGrp="1"/>
          </p:cNvSpPr>
          <p:nvPr/>
        </p:nvSpPr>
        <p:spPr>
          <a:xfrm xmlns:a="http://schemas.openxmlformats.org/drawingml/2006/main">
            <a:off x="609600" y="18478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El cliente prepara su compra</a:t>
            </a:r>
          </a:p>
        </p:txBody>
      </p:sp>
      <p:sp>
        <p:nvSpPr>
          <p:cNvPr id="5" name="">
            <a:extLst xmlns:a="http://schemas.openxmlformats.org/drawingml/2006/main">
              <a:ext uri="{FF2B5EF4-FFF2-40B4-BE49-F238E27FC236}">
                <a16:creationId xmlns:a16="http://schemas.microsoft.com/office/drawing/2014/main" id="{EFD55530-12A2-41BE-822B-3B93B35FB133}"/>
              </a:ext>
            </a:extLst>
          </p:cNvPr>
          <p:cNvSpPr>
            <a:spLocks xmlns:a="http://schemas.openxmlformats.org/drawingml/2006/main" noGrp="1"/>
          </p:cNvSpPr>
          <p:nvPr/>
        </p:nvSpPr>
        <p:spPr>
          <a:xfrm xmlns:a="http://schemas.openxmlformats.org/drawingml/2006/main">
            <a:off x="609600" y="28289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La administración mantiene el catálogo</a:t>
            </a:r>
          </a:p>
        </p:txBody>
      </p:sp>
      <p:sp>
        <p:nvSpPr>
          <p:cNvPr id="6" name="">
            <a:extLst xmlns:a="http://schemas.openxmlformats.org/drawingml/2006/main">
              <a:ext uri="{FF2B5EF4-FFF2-40B4-BE49-F238E27FC236}">
                <a16:creationId xmlns:a16="http://schemas.microsoft.com/office/drawing/2014/main" id="{2FEF99EB-1601-45BA-A374-B5BBB7DA41BC}"/>
              </a:ext>
            </a:extLst>
          </p:cNvPr>
          <p:cNvSpPr>
            <a:spLocks xmlns:a="http://schemas.openxmlformats.org/drawingml/2006/main" noGrp="1"/>
          </p:cNvSpPr>
          <p:nvPr/>
        </p:nvSpPr>
        <p:spPr>
          <a:xfrm xmlns:a="http://schemas.openxmlformats.org/drawingml/2006/main">
            <a:off x="609600" y="4276725"/>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CBD5E1"/>
                </a:solidFill>
                <a:latin typeface="Arial"/>
                <a:ea typeface="Arial"/>
                <a:cs typeface="Arial"/>
              </a:defRPr>
            </a:pPr>
            <a:r>
              <a:rPr sz="2700" b="0">
                <a:solidFill>
                  <a:srgbClr val="CBD5E1"/>
                </a:solidFill>
                <a:latin typeface="Arial"/>
                <a:ea typeface="Arial"/>
                <a:cs typeface="Arial"/>
              </a:rPr>
              <a:t>Cada recorrido conecta requisitos,</a:t>
            </a:r>
          </a:p>
          <a:p xmlns:a="http://schemas.openxmlformats.org/drawingml/2006/main">
            <a:pPr>
              <a:defRPr sz="2700" b="0">
                <a:solidFill>
                  <a:srgbClr val="CBD5E1"/>
                </a:solidFill>
                <a:latin typeface="Arial"/>
                <a:ea typeface="Arial"/>
                <a:cs typeface="Arial"/>
              </a:defRPr>
            </a:pPr>
            <a:r>
              <a:rPr sz="2700" b="0">
                <a:solidFill>
                  <a:srgbClr val="CBD5E1"/>
                </a:solidFill>
                <a:latin typeface="Arial"/>
                <a:ea typeface="Arial"/>
                <a:cs typeface="Arial"/>
              </a:rPr>
              <a:t>código y resultado visible.</a:t>
            </a:r>
          </a:p>
        </p:txBody>
      </p:sp>
      <p:sp>
        <p:nvSpPr>
          <p:cNvPr id="7" name="">
            <a:extLst xmlns:a="http://schemas.openxmlformats.org/drawingml/2006/main">
              <a:ext uri="{FF2B5EF4-FFF2-40B4-BE49-F238E27FC236}">
                <a16:creationId xmlns:a16="http://schemas.microsoft.com/office/drawing/2014/main" id="{93493542-83C3-4E11-9393-ECAE634024D7}"/>
              </a:ext>
            </a:extLst>
          </p:cNvPr>
          <p:cNvSpPr>
            <a:spLocks xmlns:a="http://schemas.openxmlformats.org/drawingml/2006/main" noGrp="1"/>
          </p:cNvSpPr>
          <p:nvPr/>
        </p:nvSpPr>
        <p:spPr>
          <a:xfrm xmlns:a="http://schemas.openxmlformats.org/drawingml/2006/main">
            <a:off x="609600" y="58578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93C5FD"/>
                </a:solidFill>
                <a:latin typeface="Arial"/>
                <a:ea typeface="Arial"/>
                <a:cs typeface="Arial"/>
              </a:defRPr>
            </a:pPr>
            <a:r>
              <a:rPr sz="2025" b="0">
                <a:solidFill>
                  <a:srgbClr val="93C5FD"/>
                </a:solidFill>
                <a:latin typeface="Arial"/>
                <a:ea typeface="Arial"/>
                <a:cs typeface="Arial"/>
              </a:rPr>
              <a:t>Facundo Sola y Daiana Chinellato</a:t>
            </a:r>
          </a:p>
        </p:txBody>
      </p:sp>
    </p:spTree>
    <p:extLst>
      <p:ext uri="{BB962C8B-B14F-4D97-AF65-F5344CB8AC3E}">
        <p14:creationId xmlns:p14="http://schemas.microsoft.com/office/powerpoint/2010/main" val="16337183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2026-10-04T21:25:29.2580000Z</dcterms:created>
  <dcterms:modified xsi:type="dcterms:W3CDTF">2026-10-04T21:25:29.2580000Z</dcterms:modified>
</coreProperties>
</file>