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b31ee38d0544b1" /><Relationship Type="http://schemas.openxmlformats.org/officeDocument/2006/relationships/extended-properties" Target="/docProps/app.xml" Id="Rd0d303c5063a4f32" /><Relationship Type="http://schemas.openxmlformats.org/officeDocument/2006/relationships/officeDocument" Target="/ppt/presentation.xml" Id="R8b4151da137e46d9" /></Relationships>
</file>

<file path=ppt/presentation.xml><?xml version="1.0" encoding="utf-8"?>
<p:presentation xmlns:p="http://schemas.openxmlformats.org/presentationml/2006/main">
  <p:sldMasterIdLst>
    <p:sldMasterId xmlns:r="http://schemas.openxmlformats.org/officeDocument/2006/relationships" id="2147483648" r:id="Rd65aff5fb555471a"/>
  </p:sldMasterIdLst>
  <p:notesMasterIdLst>
    <p:notesMasterId xmlns:r="http://schemas.openxmlformats.org/officeDocument/2006/relationships" r:id="R97a7aa04171d4432"/>
  </p:notesMasterIdLst>
  <p:sldIdLst>
    <p:sldId xmlns:r="http://schemas.openxmlformats.org/officeDocument/2006/relationships" id="256" r:id="R7c5bcd0530a54c34"/>
    <p:sldId xmlns:r="http://schemas.openxmlformats.org/officeDocument/2006/relationships" id="257" r:id="R1c66e878e2734f60"/>
    <p:sldId xmlns:r="http://schemas.openxmlformats.org/officeDocument/2006/relationships" id="258" r:id="R4df16f82fd30497e"/>
    <p:sldId xmlns:r="http://schemas.openxmlformats.org/officeDocument/2006/relationships" id="259" r:id="R6ebd82f0e42f403c"/>
    <p:sldId xmlns:r="http://schemas.openxmlformats.org/officeDocument/2006/relationships" id="260" r:id="Rb32785c024f240c7"/>
    <p:sldId xmlns:r="http://schemas.openxmlformats.org/officeDocument/2006/relationships" id="261" r:id="R3c9b2d1547584e3a"/>
    <p:sldId xmlns:r="http://schemas.openxmlformats.org/officeDocument/2006/relationships" id="262" r:id="Rcae04ac750c24ff0"/>
    <p:sldId xmlns:r="http://schemas.openxmlformats.org/officeDocument/2006/relationships" id="263" r:id="Rb0aa84deec134f50"/>
    <p:sldId xmlns:r="http://schemas.openxmlformats.org/officeDocument/2006/relationships" id="264" r:id="R2972e541aa9849b7"/>
    <p:sldId xmlns:r="http://schemas.openxmlformats.org/officeDocument/2006/relationships" id="265" r:id="Rdaa149595c5745dd"/>
    <p:sldId xmlns:r="http://schemas.openxmlformats.org/officeDocument/2006/relationships" id="266" r:id="R675732474bf4438d"/>
    <p:sldId xmlns:r="http://schemas.openxmlformats.org/officeDocument/2006/relationships" id="267" r:id="R5347da8cb1f0414f"/>
    <p:sldId xmlns:r="http://schemas.openxmlformats.org/officeDocument/2006/relationships" id="268" r:id="Rd71e4c212c314a01"/>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4b185f544cd429d" /><Relationship Type="http://schemas.openxmlformats.org/officeDocument/2006/relationships/slideMaster" Target="/ppt/slideMasters/slideMaster1.xml" Id="Rd65aff5fb555471a" /><Relationship Type="http://schemas.openxmlformats.org/officeDocument/2006/relationships/notesMaster" Target="/ppt/notesMasters/notesMaster1.xml" Id="R97a7aa04171d4432" /><Relationship Type="http://schemas.openxmlformats.org/officeDocument/2006/relationships/presProps" Target="/ppt/presProps.xml" Id="R8234e97f98fb41a2" /><Relationship Type="http://schemas.openxmlformats.org/officeDocument/2006/relationships/viewProps" Target="/ppt/viewProps.xml" Id="R47ea482fe455456a" /><Relationship Type="http://schemas.openxmlformats.org/officeDocument/2006/relationships/tableStyles" Target="/ppt/tableStyles.xml" Id="Re53cc7fc1a6847d2" /><Relationship Type="http://schemas.openxmlformats.org/officeDocument/2006/relationships/slide" Target="/ppt/slides/slide1.xml" Id="R7c5bcd0530a54c34" /><Relationship Type="http://schemas.openxmlformats.org/officeDocument/2006/relationships/slide" Target="/ppt/slides/slide2.xml" Id="R1c66e878e2734f60" /><Relationship Type="http://schemas.openxmlformats.org/officeDocument/2006/relationships/slide" Target="/ppt/slides/slide3.xml" Id="R4df16f82fd30497e" /><Relationship Type="http://schemas.openxmlformats.org/officeDocument/2006/relationships/slide" Target="/ppt/slides/slide4.xml" Id="R6ebd82f0e42f403c" /><Relationship Type="http://schemas.openxmlformats.org/officeDocument/2006/relationships/slide" Target="/ppt/slides/slide5.xml" Id="Rb32785c024f240c7" /><Relationship Type="http://schemas.openxmlformats.org/officeDocument/2006/relationships/slide" Target="/ppt/slides/slide6.xml" Id="R3c9b2d1547584e3a" /><Relationship Type="http://schemas.openxmlformats.org/officeDocument/2006/relationships/slide" Target="/ppt/slides/slide7.xml" Id="Rcae04ac750c24ff0" /><Relationship Type="http://schemas.openxmlformats.org/officeDocument/2006/relationships/slide" Target="/ppt/slides/slide8.xml" Id="Rb0aa84deec134f50" /><Relationship Type="http://schemas.openxmlformats.org/officeDocument/2006/relationships/slide" Target="/ppt/slides/slide9.xml" Id="R2972e541aa9849b7" /><Relationship Type="http://schemas.openxmlformats.org/officeDocument/2006/relationships/slide" Target="/ppt/slides/slide10.xml" Id="Rdaa149595c5745dd" /><Relationship Type="http://schemas.openxmlformats.org/officeDocument/2006/relationships/slide" Target="/ppt/slides/slide11.xml" Id="R675732474bf4438d" /><Relationship Type="http://schemas.openxmlformats.org/officeDocument/2006/relationships/slide" Target="/ppt/slides/slide12.xml" Id="R5347da8cb1f0414f" /><Relationship Type="http://schemas.openxmlformats.org/officeDocument/2006/relationships/slide" Target="/ppt/slides/slide13.xml" Id="Rd71e4c212c314a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40d0ac716c47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2e8fdbf6284389" /><Relationship Type="http://schemas.openxmlformats.org/officeDocument/2006/relationships/notesMaster" Target="/ppt/notesMasters/notesMaster1.xml" Id="R74e87ce8f2d44b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61edb7ac4b4d16" /><Relationship Type="http://schemas.openxmlformats.org/officeDocument/2006/relationships/notesMaster" Target="/ppt/notesMasters/notesMaster1.xml" Id="R06637c5204af44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2531193fd346b6" /><Relationship Type="http://schemas.openxmlformats.org/officeDocument/2006/relationships/notesMaster" Target="/ppt/notesMasters/notesMaster1.xml" Id="Re3fc52425fc94f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ad0717e36b4260" /><Relationship Type="http://schemas.openxmlformats.org/officeDocument/2006/relationships/notesMaster" Target="/ppt/notesMasters/notesMaster1.xml" Id="R4cf523b2eff04c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8697299df8414a" /><Relationship Type="http://schemas.openxmlformats.org/officeDocument/2006/relationships/notesMaster" Target="/ppt/notesMasters/notesMaster1.xml" Id="R8c2f8b54534c42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d9f2737a614463" /><Relationship Type="http://schemas.openxmlformats.org/officeDocument/2006/relationships/notesMaster" Target="/ppt/notesMasters/notesMaster1.xml" Id="Rbaae3993339241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256bcafcfd4cfc" /><Relationship Type="http://schemas.openxmlformats.org/officeDocument/2006/relationships/notesMaster" Target="/ppt/notesMasters/notesMaster1.xml" Id="R642d936f6c0643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18550c40994662" /><Relationship Type="http://schemas.openxmlformats.org/officeDocument/2006/relationships/notesMaster" Target="/ppt/notesMasters/notesMaster1.xml" Id="Rbcece4b688e947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fca519650647dc" /><Relationship Type="http://schemas.openxmlformats.org/officeDocument/2006/relationships/notesMaster" Target="/ppt/notesMasters/notesMaster1.xml" Id="R72c22e69d7a44a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4ab052819b429b" /><Relationship Type="http://schemas.openxmlformats.org/officeDocument/2006/relationships/notesMaster" Target="/ppt/notesMasters/notesMaster1.xml" Id="Rf7580ab3d2e94b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4b0a753d8740d4" /><Relationship Type="http://schemas.openxmlformats.org/officeDocument/2006/relationships/notesMaster" Target="/ppt/notesMasters/notesMaster1.xml" Id="R7ef76e4cd96c40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4e1cd2671a4738" /><Relationship Type="http://schemas.openxmlformats.org/officeDocument/2006/relationships/notesMaster" Target="/ppt/notesMasters/notesMaster1.xml" Id="R8cfaf6693c0b41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752c87be214e78" /><Relationship Type="http://schemas.openxmlformats.org/officeDocument/2006/relationships/notesMaster" Target="/ppt/notesMasters/notesMaster1.xml" Id="R00c4284ae3dd46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 | 0:00–0:30 · 0:30</a:t>
            </a:r>
            <a:endParaRPr/>
          </a:p>
          <a:p xmlns:a="http://schemas.openxmlformats.org/drawingml/2006/main">
            <a:r>
              <a:t/>
            </a:r>
            <a:endParaRPr/>
          </a:p>
          <a:p xmlns:a="http://schemas.openxmlformats.org/drawingml/2006/main">
            <a:r>
              <a:t>TotalTech permite al comercio mantener su catálogo actualizado y al cliente encontrar productos y organizar su selección desde una misma plataforma. Hoy queremos mostrar una propuesta concreta para una tienda de tecnología: información accesible para el cliente y control para el comercio. Primero explicaremos las necesidades y las decisiones que dieron forma al sistema; al final recorreremos la página.</a:t>
            </a:r>
            <a:endParaRPr/>
          </a:p>
          <a:p xmlns:a="http://schemas.openxmlformats.org/drawingml/2006/main">
            <a:r>
              <a:t/>
            </a:r>
            <a:endParaRPr/>
          </a:p>
          <a:p xmlns:a="http://schemas.openxmlformats.org/drawingml/2006/main">
            <a:r>
              <a:t>FUENTES: README.md: integrantes; documentación general, propósito y alcance.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 | 0:30–1:30 · 1:00</a:t>
            </a:r>
            <a:endParaRPr/>
          </a:p>
          <a:p xmlns:a="http://schemas.openxmlformats.org/drawingml/2006/main">
            <a:r>
              <a:t/>
            </a:r>
            <a:endParaRPr/>
          </a:p>
          <a:p xmlns:a="http://schemas.openxmlformats.org/drawingml/2006/main">
            <a:r>
              <a:t>Elegimos este proyecto porque una tienda de tecnología necesita comunicar una oferta que cambia: modelos, precios, disponibilidad e imágenes. Cuando esos datos se mantienen en distintos lugares, una actualización puede llegar tarde al cliente. Pensemos en una persona que busca una notebook: necesita saber qué opciones hay y cuánto cuestan antes de consultar al comercio. El negocio, por su parte, necesita mantener esa información sin repetir el mismo trabajo en cada consulta. TotalTech nace de esa necesidad. No partimos de una cifra de ahorro o de una promesa de aumento de ventas; partimos de una tarea que se puede resolver y verificar en la página: consultar y mantener un catálogo. Ese es el valor que vamos a demostrar.</a:t>
            </a:r>
            <a:endParaRPr/>
          </a:p>
          <a:p xmlns:a="http://schemas.openxmlformats.org/drawingml/2006/main">
            <a:r>
              <a:t/>
            </a:r>
            <a:endParaRPr/>
          </a:p>
          <a:p xmlns:a="http://schemas.openxmlformats.org/drawingml/2006/main">
            <a:r>
              <a:t>FUENTES: Documentacion/Documentación - Grupo 1 -TotalTech.pdf: contexto y requerimientos, p.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 | 1:30–2:15 · 0:45</a:t>
            </a:r>
            <a:endParaRPr/>
          </a:p>
          <a:p xmlns:a="http://schemas.openxmlformats.org/drawingml/2006/main">
            <a:r>
              <a:t/>
            </a:r>
            <a:endParaRPr/>
          </a:p>
          <a:p xmlns:a="http://schemas.openxmlformats.org/drawingml/2006/main">
            <a:r>
              <a:t>Nuestro propósito es que cliente y comercio trabajen sobre la misma información. Para el cliente significa encontrar productos, consultar sus características y organizar una selección. Para el comercio significa mantener productos, precios, imágenes y stock desde una administración centralizada. La historia de la demostración será sencilla: una persona busca una notebook y el administrador actualiza la oferta. Al terminar podremos observar ambos resultados. Esta versión cubre el catálogo y el carrito; la compra online completa pertenece a la próxima etapa.</a:t>
            </a:r>
            <a:endParaRPr/>
          </a:p>
          <a:p xmlns:a="http://schemas.openxmlformats.org/drawingml/2006/main">
            <a:r>
              <a:t/>
            </a:r>
            <a:endParaRPr/>
          </a:p>
          <a:p xmlns:a="http://schemas.openxmlformats.org/drawingml/2006/main">
            <a:r>
              <a:t>FUENTES: Documentación general, p. 8; Frontend/Controllers/CheckoutController.cs: estructura reservada.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 | 2:15–3:15 · 1:00</a:t>
            </a:r>
            <a:endParaRPr/>
          </a:p>
          <a:p xmlns:a="http://schemas.openxmlformats.org/drawingml/2006/main">
            <a:r>
              <a:t/>
            </a:r>
            <a:endParaRPr/>
          </a:p>
          <a:p xmlns:a="http://schemas.openxmlformats.org/drawingml/2006/main">
            <a:r>
              <a:t>Identificamos tres situaciones. Primero, la información puede quedar desactualizada si se mantiene en distintos lugares: la respuesta es un catálogo que el administrador puede editar. Segundo, encontrar una opción puede exigir recorrer toda la oferta: la búsqueda y los filtros permiten acotar por palabra, categoría, precio y disponibilidad. Tercero, elegir varios productos puede obligar a calcular cantidades e importes por separado: el carrito organiza esa selección y presenta sus totales. En cada fila hay una relación entre una necesidad del negocio y una capacidad observable. El beneficio es facilitar estas tareas; no afirmamos que el sistema haya producido un porcentaje de mejora porque esa medición no forma parte del proyecto.</a:t>
            </a:r>
            <a:endParaRPr/>
          </a:p>
          <a:p xmlns:a="http://schemas.openxmlformats.org/drawingml/2006/main">
            <a:r>
              <a:t/>
            </a:r>
            <a:endParaRPr/>
          </a:p>
          <a:p xmlns:a="http://schemas.openxmlformats.org/drawingml/2006/main">
            <a:r>
              <a:t>FUENTES: Documentación general, sección 5.1, grupos 1, 2 y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 | 3:15–4:15 · 1:00</a:t>
            </a:r>
            <a:endParaRPr/>
          </a:p>
          <a:p xmlns:a="http://schemas.openxmlformats.org/drawingml/2006/main">
            <a:r>
              <a:t/>
            </a:r>
            <a:endParaRPr/>
          </a:p>
          <a:p xmlns:a="http://schemas.openxmlformats.org/drawingml/2006/main">
            <a:r>
              <a:t>La solución tiene dos perspectivas principales. El cliente crea su cuenta, inicia sesión, busca un producto, abre su ficha y organiza el carrito. El administrador mantiene la información que alimenta ese recorrido: nombre, descripción, precio, stock e imagen. Las responsabilidades son diferentes y los permisos también. El catálogo es público, pero el mantenimiento de productos requiere el rol administrativo. Un cambio realizado desde administración se refleja al consultar nuevamente el catálogo. Esa conexión es el centro de nuestra propuesta: el comercio actualiza una oferta que el cliente puede consultar. Durante la demostración usaremos sesiones separadas para que se vea con claridad qué puede hacer cada actor.</a:t>
            </a:r>
            <a:endParaRPr/>
          </a:p>
          <a:p xmlns:a="http://schemas.openxmlformats.org/drawingml/2006/main">
            <a:r>
              <a:t/>
            </a:r>
            <a:endParaRPr/>
          </a:p>
          <a:p xmlns:a="http://schemas.openxmlformats.org/drawingml/2006/main">
            <a:r>
              <a:t>FUENTES: Frontend/Controllers/ProductosController.cs: Index público; Crear, Editar y Eliminar requieren Admin.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 | 4:15–5:30 · 1:15</a:t>
            </a:r>
          </a:p>
          <a:p xmlns:a="http://schemas.openxmlformats.org/drawingml/2006/main">
            <a:r>
              <a:t/>
            </a:r>
          </a:p>
          <a:p xmlns:a="http://schemas.openxmlformats.org/drawingml/2006/main">
            <a:r>
              <a:t>Seleccionamos cinco requerimientos concretos implementados. El primero es registrar usuarios y el segundo autenticar usuarios; ambos se desprenden del grupo documental Gestión de usuarios. El tercero es consultar y buscar productos, dentro de Catálogo. El cuarto es administrar el carrito: agregar, modificar cantidades, eliminar y consultar totales. El quinto es gestionar productos desde administración. Es importante leer la columna de origen: no estamos diciendo que cinco módulos documentales estén completos. Por ejemplo, el grupo Gestión de usuarios también prevé otras funciones, pero aquí acreditamos registro e inicio de sesión. Al final, cada fila tendrá una acción visible y un resultado en la página. Conservamos así la relación entre lo solicitado y lo que realmente se implementó.</a:t>
            </a:r>
          </a:p>
          <a:p xmlns:a="http://schemas.openxmlformats.org/drawingml/2006/main">
            <a:r>
              <a:t/>
            </a:r>
          </a:p>
          <a:p xmlns:a="http://schemas.openxmlformats.org/drawingml/2006/main">
            <a:r>
              <a:t>FUENTES: Documentación general, p. 8, sección 5.1. Registro y autenticación derivan del mismo grupo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7 | 5:30–6:45 · 1:15</a:t>
            </a:r>
          </a:p>
          <a:p xmlns:a="http://schemas.openxmlformats.org/drawingml/2006/main">
            <a:r>
              <a:t/>
            </a:r>
          </a:p>
          <a:p xmlns:a="http://schemas.openxmlformats.org/drawingml/2006/main">
            <a:r>
              <a:t>Los casos seleccionados conservan sus identificadores originales. UC-01 describe el registro y termina con una cuenta de cliente. UC-02 describe el inicio de sesión. UC-08 representa la búsqueda y aplicación de filtros. UC-09 permite consultar el detalle del producto. UC-19 corresponde al mantenimiento de productos por el administrador. En la demostración los primeros cuatro forman el recorrido del cliente y el último muestra el trabajo del comercio. El carrito también se demuestra para acreditar su requerimiento funcional, pero no lo llamamos UC-10: el documento define ese caso como selección para un checkout directo sin carrito. En UC-08 mostraremos los filtros implementados, sin incluir marca. En UC-19 mostraremos la eliminación disponible, sujeta a relaciones; no la presentaremos como desactivación lógica.</a:t>
            </a:r>
          </a:p>
          <a:p xmlns:a="http://schemas.openxmlformats.org/drawingml/2006/main">
            <a:r>
              <a:t/>
            </a:r>
          </a:p>
          <a:p xmlns:a="http://schemas.openxmlformats.org/drawingml/2006/main">
            <a:r>
              <a:t>FUENTES: Documentacion/Casos de Uso- Totaltech.pdf: pp. 2–3 y notas de modelado p.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8 | 6:45–8:15 · 1:30</a:t>
            </a:r>
          </a:p>
          <a:p xmlns:a="http://schemas.openxmlformats.org/drawingml/2006/main">
            <a:r>
              <a:t/>
            </a:r>
          </a:p>
          <a:p xmlns:a="http://schemas.openxmlformats.org/drawingml/2006/main">
            <a:r>
              <a:t>Además de las funciones, contemplamos cinco criterios de calidad. Rendimiento: el catálogo usa paginación y consulta en paralelo categorías y productos. La documentación fija tres segundos como objetivo; una carga rápida en nuestra computadora no demuestra rendimiento de producción. Usabilidad: veremos etiquetas, validaciones y una búsqueda vacía que se puede limpiar. Compatibilidad: mostraremos escritorio y un ancho móvil; eso no sustituye una prueba en cada navegador previsto. Seguridad: hay contraseñas con hash, controles por rol y protección de formularios. Estos controles son evidencia parcial y no equivalen a certificar cifrado integral ni cumplimiento de privacidad. Mantenibilidad: la separación entre interfaz, API, lógica y persistencia permite localizar responsabilidades. Este último criterio se ve principalmente en el código. La idea es explicar qué decisión respalda cada requisito y hasta dónde llega la evidencia.</a:t>
            </a:r>
          </a:p>
          <a:p xmlns:a="http://schemas.openxmlformats.org/drawingml/2006/main">
            <a:r>
              <a:t/>
            </a:r>
          </a:p>
          <a:p xmlns:a="http://schemas.openxmlformats.org/drawingml/2006/main">
            <a:r>
              <a:t>FUENTES: Documentación general, p. 9; ProductosController.Index; ProductosRepositorio.ObtenerCatalogoAsync; UsuariosLogica; ValidateAntiForgeryToken.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9 | 8:15–10:15 · 2:00</a:t>
            </a:r>
          </a:p>
          <a:p xmlns:a="http://schemas.openxmlformats.org/drawingml/2006/main">
            <a:r>
              <a:t/>
            </a:r>
          </a:p>
          <a:p xmlns:a="http://schemas.openxmlformats.org/drawingml/2006/main">
            <a:r>
              <a:t>Esta matriz muestra la trazabilidad de los cinco casos. Registro conecta Gestión de usuarios con HomeController.Register y el formulario de registro. Acceso conecta ese mismo grupo con la autenticación y la pantalla de inicio de sesión. Búsqueda conecta Catálogo con ProductosController.Index y la página de productos. Detalle conecta el catálogo con ProductosController.Detalle y la ficha. ABM conecta Gestión de productos con las acciones de administración. Ampliemos UC-08: la necesidad es encontrar una notebook según criterios. El controlador recibe texto, categoría, precios y disponibilidad. Llama al servicio HTTP, que consulta GET /productos/catalogo. La API deriva la consulta a la lógica y al repositorio. El fragmento visible es real: Skip calcula el desplazamiento y Take limita la cantidad de productos de la página. Así conectamos el comportamiento solicitado con una decisión de implementación. El resultado vuelve a la vista Razor y se convierte en productos visibles. El carrito tiene su propia cadena: CarritoController, CarritosEndpoints, lógica y persistencia. En la demostración verificaremos esos resultados sin volver a interrumpir el recorrido con código.</a:t>
            </a:r>
          </a:p>
          <a:p xmlns:a="http://schemas.openxmlformats.org/drawingml/2006/main">
            <a:r>
              <a:t/>
            </a:r>
          </a:p>
          <a:p xmlns:a="http://schemas.openxmlformats.org/drawingml/2006/main">
            <a:r>
              <a:t>FUENTES: Frontend/Controllers/HomeController.cs; Frontend/Controllers/ProductosController.cs; Frontend/Controllers/CarritoController.cs; Totaltech/Endpoints/AuthEndpoints.cs; Totaltech/Endpoints/ProductosEndpoints.cs; Totaltech/Endpoints/CarritosEndpoints.cs; Totaltech/Repositorios/ProductosRepositorio.cs, líneas 119–120.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10 | 10:15–11:30 · 1:15</a:t>
            </a:r>
            <a:endParaRPr/>
          </a:p>
          <a:p xmlns:a="http://schemas.openxmlformats.org/drawingml/2006/main">
            <a:r>
              <a:t/>
            </a:r>
            <a:endParaRPr/>
          </a:p>
          <a:p xmlns:a="http://schemas.openxmlformats.org/drawingml/2006/main">
            <a:r>
              <a:t>La aplicación separa presentación, reglas y persistencia. La vista Razor muestra información y formularios. El controlador MVC coordina la solicitud y utiliza un servicio HTTP para comunicarse con la API. Los endpoints reciben la operación; la lógica aplica las reglas y el repositorio accede a SQL Server mediante Entity Framework Core. Podemos seguir la búsqueda de una notebook de izquierda a derecha y luego la respuesta de vuelta hasta la pantalla. Esta separación ayuda a localizar dónde corregir o ampliar una función. No estamos afirmando que cada componente sea un microservicio ni que se despliegue de forma independiente: describimos las responsabilidades del proyecto real. La arquitectura respalda la mantenibilidad y el control de las operaciones en el servidor.</a:t>
            </a:r>
            <a:endParaRPr/>
          </a:p>
          <a:p xmlns:a="http://schemas.openxmlformats.org/drawingml/2006/main">
            <a:r>
              <a:t/>
            </a:r>
            <a:endParaRPr/>
          </a:p>
          <a:p xmlns:a="http://schemas.openxmlformats.org/drawingml/2006/main">
            <a:r>
              <a:t>FUENTES: Frontend/Services/ProductosApiService.cs; Totaltech/Endpoints/ProductosEndpoints.cs; Totaltech/Logica/ProductosLogica.cs; Totaltech/Repositorios/ProductosRepositorio.cs.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11 | 11:30–12:30 · 1:00</a:t>
            </a:r>
            <a:endParaRPr/>
          </a:p>
          <a:p xmlns:a="http://schemas.openxmlformats.org/drawingml/2006/main">
            <a:r>
              <a:t/>
            </a:r>
            <a:endParaRPr/>
          </a:p>
          <a:p xmlns:a="http://schemas.openxmlformats.org/drawingml/2006/main">
            <a:r>
              <a:t>La versión que presentamos permite usar cuentas, catálogo, detalle, carrito y administración de productos. La próxima etapa es completar la compra web e integrar el pago. Aunque hay operaciones de pedidos en backend, eso no significa que el checkout MVC esté terminado: su controlador está reservado. También quedan límites concretos: no mostraremos filtros por marca y la eliminación de productos está condicionada por sus relaciones. Para un piloto comercial hay que cuidar la actualización del catálogo, preparar al administrador y comprobar el entorno de ejecución. Presentamos una base funcional verificable y una evolución definida, sin confundir funciones previstas con capacidades disponibles.</a:t>
            </a:r>
            <a:endParaRPr/>
          </a:p>
          <a:p xmlns:a="http://schemas.openxmlformats.org/drawingml/2006/main">
            <a:r>
              <a:t/>
            </a:r>
            <a:endParaRPr/>
          </a:p>
          <a:p xmlns:a="http://schemas.openxmlformats.org/drawingml/2006/main">
            <a:r>
              <a:t>FUENTES: Frontend/Controllers/CheckoutController.cs; documentación de casos de uso; matriz de trazabilidad existente.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12 | 12:30–13:30 · 1:00</a:t>
            </a:r>
            <a:endParaRPr/>
          </a:p>
          <a:p xmlns:a="http://schemas.openxmlformats.org/drawingml/2006/main">
            <a:r>
              <a:t/>
            </a:r>
            <a:endParaRPr/>
          </a:p>
          <a:p xmlns:a="http://schemas.openxmlformats.org/drawingml/2006/main">
            <a:r>
              <a:t>La propuesta reúne tres resultados. Primero, un catálogo consultable donde el cliente puede buscar y revisar información. Segundo, una selección organizada en un carrito con cantidades y totales. Tercero, una administración centralizada para mantener la oferta. Un piloto permitiría cargar productos del comercio, preparar a quien los administra y observar consultas y actualizaciones habituales. Sería el momento de recoger comentarios y medir tiempos reales de uso, en lugar de prometer beneficios que todavía no se midieron. La implementación actual es la base de esa evaluación. Ahora vamos a comprobar en la página la experiencia del cliente y el trabajo del administrador, siguiendo la misma historia de la notebook.</a:t>
            </a:r>
            <a:endParaRPr/>
          </a:p>
          <a:p xmlns:a="http://schemas.openxmlformats.org/drawingml/2006/main">
            <a:r>
              <a:t/>
            </a:r>
            <a:endParaRPr/>
          </a:p>
          <a:p xmlns:a="http://schemas.openxmlformats.org/drawingml/2006/main">
            <a:r>
              <a:t>FUENTES: Propuesta de piloto: recomendación del equipo, sin resultados comerciales medidos.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13 | 13:30–14:00 · 0:30</a:t>
            </a:r>
            <a:endParaRPr/>
          </a:p>
          <a:p xmlns:a="http://schemas.openxmlformats.org/drawingml/2006/main">
            <a:r>
              <a:t/>
            </a:r>
            <a:endParaRPr/>
          </a:p>
          <a:p xmlns:a="http://schemas.openxmlformats.org/drawingml/2006/main">
            <a:r>
              <a:t>Vamos a recorrer el sistema como cliente: registro, acceso, búsqueda, detalle y carrito. Después pasaremos a la sesión administrativa para crear, editar y eliminar un producto de demostración. Cerraremos con la adaptación móvil y los permisos. Toda la demostración empieza ahora y dura nueve minutos. Al terminar, mantener el navegador abierto y cerrar oralmente: “Con TotalTech, el comercio mantiene su oferta y el cliente puede encontrar y organizar los productos que le interesan”.</a:t>
            </a:r>
            <a:endParaRPr/>
          </a:p>
          <a:p xmlns:a="http://schemas.openxmlformats.org/drawingml/2006/main">
            <a:r>
              <a:t/>
            </a:r>
            <a:endParaRPr/>
          </a:p>
          <a:p xmlns:a="http://schemas.openxmlformats.org/drawingml/2006/main">
            <a:r>
              <a:t>FUENTES: Guion de demostración: ver sección final; usar datos ficticios y sesiones separadas.</a:t>
            </a:r>
            <a:endParaRPr/>
          </a:p>
          <a:p xmlns:a="http://schemas.openxmlformats.org/drawingml/2006/main">
            <a:r>
              <a:t/>
            </a:r>
            <a:endParaRPr/>
          </a:p>
          <a:p xmlns:a="http://schemas.openxmlformats.org/drawingml/2006/main">
            <a:r>
              <a:t>DEMOSTRACIÓN FINAL (14:00–23:00):</a:t>
            </a:r>
            <a:endParaRPr/>
          </a:p>
          <a:p xmlns:a="http://schemas.openxmlformats.org/drawingml/2006/main">
            <a:r>
              <a:t>Registro (1:15) — UC-01 / RF registrar: Abrir /Home/Register. Enviar incompleto para mostrar una validación. Completar datos ficticios con correo único y una contraseña válida; crear la cuenta. Comprobar la confirmación.</a:t>
            </a:r>
            <a:endParaRPr/>
          </a:p>
          <a:p xmlns:a="http://schemas.openxmlformats.org/drawingml/2006/main">
            <a:r>
              <a:t/>
            </a:r>
            <a:endParaRPr/>
          </a:p>
          <a:p xmlns:a="http://schemas.openxmlformats.org/drawingml/2006/main">
            <a:r>
              <a:t>Acceso (0:45) — UC-02 / RF autenticar: Abrir /Home/Login. Iniciar sesión con la cuenta recién creada. Mostrar la navegación disponible para cliente. Mantener separada la sesión administrativa.</a:t>
            </a:r>
            <a:endParaRPr/>
          </a:p>
          <a:p xmlns:a="http://schemas.openxmlformats.org/drawingml/2006/main">
            <a:r>
              <a:t/>
            </a:r>
            <a:endParaRPr/>
          </a:p>
          <a:p xmlns:a="http://schemas.openxmlformats.org/drawingml/2006/main">
            <a:r>
              <a:t>Búsqueda (1:15) — UC-08 / RF catálogo: Abrir /Productos. Buscar notebook, elegir categoría, rango de precios y sólo disponibles según los datos del catálogo. Aplicar. Buscar un texto inexistente y recuperar resultados con Limpiar filtros.</a:t>
            </a:r>
            <a:endParaRPr/>
          </a:p>
          <a:p xmlns:a="http://schemas.openxmlformats.org/drawingml/2006/main">
            <a:r>
              <a:t/>
            </a:r>
            <a:endParaRPr/>
          </a:p>
          <a:p xmlns:a="http://schemas.openxmlformats.org/drawingml/2006/main">
            <a:r>
              <a:t>Detalle (0:45) — UC-09 / RF catálogo: Abrir una notebook disponible. Señalar imagen, descripción, precio y stock. Elegir un producto con al menos dos unidades para el siguiente paso.</a:t>
            </a:r>
            <a:endParaRPr/>
          </a:p>
          <a:p xmlns:a="http://schemas.openxmlformats.org/drawingml/2006/main">
            <a:r>
              <a:t/>
            </a:r>
            <a:endParaRPr/>
          </a:p>
          <a:p xmlns:a="http://schemas.openxmlformats.org/drawingml/2006/main">
            <a:r>
              <a:t>Carrito (1:15) — RF carrito, sin nuevo identificador UC: Agregar la notebook. Cambiar cantidad de 1 a 2 y actualizar. Comparar subtotal y total. Eliminar y mostrar carrito vacío. No continuar hacia checkout.</a:t>
            </a:r>
            <a:endParaRPr/>
          </a:p>
          <a:p xmlns:a="http://schemas.openxmlformats.org/drawingml/2006/main">
            <a:r>
              <a:t/>
            </a:r>
            <a:endParaRPr/>
          </a:p>
          <a:p xmlns:a="http://schemas.openxmlformats.org/drawingml/2006/main">
            <a:r>
              <a:t>Administración (2:30) — UC-19 / RF productos: En la sesión Admin crear Producto de demostración TotalTech con categoría y proveedor válidos, precio y stock. Editar precio, descripción e imagen. Recargar catálogo público y comprobar el cambio. Eliminar únicamente ese producto, sin relaciones. Mostrar confirmación.</a:t>
            </a:r>
            <a:endParaRPr/>
          </a:p>
          <a:p xmlns:a="http://schemas.openxmlformats.org/drawingml/2006/main">
            <a:r>
              <a:t/>
            </a:r>
            <a:endParaRPr/>
          </a:p>
          <a:p xmlns:a="http://schemas.openxmlformats.org/drawingml/2006/main">
            <a:r>
              <a:t>Calidad y cierre (1:15) — RNF usabilidad, compatibilidad y seguridad: Mostrar el catálogo a ancho móvil. En la sesión cliente comprobar que no puede acceder a una acción administrativa. Relacionar validaciones y controles con lo observado. Cerrar con la propuesta de piloto y la frase final, manteniendo el sistema abierto.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84ae665eef411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d5034e1b5c468a" /><Relationship Type="http://schemas.openxmlformats.org/officeDocument/2006/relationships/slideLayout" Target="/ppt/slideLayouts/slideLayout1.xml" Id="R8064d0c4decd4dc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64d0c4decd4dc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4b44b9ac6c4daf" /><Relationship Type="http://schemas.openxmlformats.org/officeDocument/2006/relationships/notesSlide" Target="/ppt/notesSlides/notesSlide1.xml" Id="R461ea11dc0ec48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e5774057c04360" /><Relationship Type="http://schemas.openxmlformats.org/officeDocument/2006/relationships/notesSlide" Target="/ppt/notesSlides/notesSlide2.xml" Id="R1dd3716735874f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0dc854cd2f4a73" /><Relationship Type="http://schemas.openxmlformats.org/officeDocument/2006/relationships/notesSlide" Target="/ppt/notesSlides/notesSlide3.xml" Id="Rd4e7421502f740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a3f4a06ebfb4d60" /><Relationship Type="http://schemas.openxmlformats.org/officeDocument/2006/relationships/notesSlide" Target="/ppt/notesSlides/notesSlide4.xml" Id="R75759cd042a645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12a6d471824d7e" /><Relationship Type="http://schemas.openxmlformats.org/officeDocument/2006/relationships/notesSlide" Target="/ppt/notesSlides/notesSlide5.xml" Id="Rec0c22047b4f42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051a1a7bc64508" /><Relationship Type="http://schemas.openxmlformats.org/officeDocument/2006/relationships/notesSlide" Target="/ppt/notesSlides/notesSlide6.xml" Id="Rf5b94ccc9d9e4a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6acffe86ff4f6d" /><Relationship Type="http://schemas.openxmlformats.org/officeDocument/2006/relationships/notesSlide" Target="/ppt/notesSlides/notesSlide7.xml" Id="R6f3d3bff0bf841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9842f5c62b4f81" /><Relationship Type="http://schemas.openxmlformats.org/officeDocument/2006/relationships/notesSlide" Target="/ppt/notesSlides/notesSlide8.xml" Id="Ra26732212b0e46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b86f56f5ff74fb5" /><Relationship Type="http://schemas.openxmlformats.org/officeDocument/2006/relationships/notesSlide" Target="/ppt/notesSlides/notesSlide9.xml" Id="Rbafbb954f9a043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429e49e77ac4883" /><Relationship Type="http://schemas.openxmlformats.org/officeDocument/2006/relationships/notesSlide" Target="/ppt/notesSlides/notesSlide10.xml" Id="R412568f7c16346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96ad77998b479e" /><Relationship Type="http://schemas.openxmlformats.org/officeDocument/2006/relationships/notesSlide" Target="/ppt/notesSlides/notesSlide11.xml" Id="Rd58e53aa665a4f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b5f62c9f486439c" /><Relationship Type="http://schemas.openxmlformats.org/officeDocument/2006/relationships/notesSlide" Target="/ppt/notesSlides/notesSlide12.xml" Id="R7a420f33f54b4a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4ffdc2cd1d64947" /><Relationship Type="http://schemas.openxmlformats.org/officeDocument/2006/relationships/notesSlide" Target="/ppt/notesSlides/notesSlide13.xml" Id="Rd3e9577c5122409c" /></Relationships>
</file>

<file path=ppt/slides/slide1.xml><?xml version="1.0" encoding="utf-8"?>
<p:sld xmlns:p="http://schemas.openxmlformats.org/presentationml/2006/main">
  <p:cSld>
    <p:bg>
      <p:bgPr>
        <a:solidFill xmlns:a="http://schemas.openxmlformats.org/drawingml/2006/main">
          <a:srgbClr val="153A7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12421AD-E18D-405A-B666-70181A34398A}"/>
              </a:ext>
            </a:extLst>
          </p:cNvPr>
          <p:cNvSpPr>
            <a:spLocks xmlns:a="http://schemas.openxmlformats.org/drawingml/2006/main" noGrp="1"/>
          </p:cNvSpPr>
          <p:nvPr/>
        </p:nvSpPr>
        <p:spPr>
          <a:xfrm xmlns:a="http://schemas.openxmlformats.org/drawingml/2006/main">
            <a:off x="640080" y="1352550"/>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4950" b="1">
                <a:solidFill>
                  <a:srgbClr val="FFFFFF"/>
                </a:solidFill>
                <a:latin typeface="Cambria"/>
                <a:ea typeface="Cambria"/>
                <a:cs typeface="Cambria"/>
              </a:defRPr>
            </a:defPPr>
          </a:lstStyle>
          <a:p xmlns:a="http://schemas.openxmlformats.org/drawingml/2006/main">
            <a:pPr marL="0" indent="0">
              <a:buNone/>
              <a:defRPr sz="4950" b="1">
                <a:solidFill>
                  <a:srgbClr val="FFFFFF"/>
                </a:solidFill>
                <a:latin typeface="Cambria"/>
                <a:ea typeface="Cambria"/>
                <a:cs typeface="Cambria"/>
              </a:defRPr>
            </a:pPr>
            <a:r>
              <a:rPr sz="4950" b="1">
                <a:solidFill>
                  <a:srgbClr val="FFFFFF"/>
                </a:solidFill>
                <a:latin typeface="Cambria"/>
                <a:ea typeface="Cambria"/>
                <a:cs typeface="Cambria"/>
              </a:rPr>
              <a:t>TotalTech</a:t>
            </a:r>
            <a:endParaRPr sz="4400"/>
          </a:p>
        </p:txBody>
      </p:sp>
      <p:sp>
        <p:nvSpPr>
          <p:cNvPr id="3" name="">
            <a:extLst xmlns:a="http://schemas.openxmlformats.org/drawingml/2006/main">
              <a:ext uri="{FF2B5EF4-FFF2-40B4-BE49-F238E27FC236}">
                <a16:creationId xmlns:a16="http://schemas.microsoft.com/office/drawing/2014/main" id="{5F50B5D6-3DB2-4238-9E68-0ACD9654500B}"/>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C8DCFF"/>
                </a:solidFill>
                <a:latin typeface="Calibri"/>
                <a:ea typeface="Calibri"/>
                <a:cs typeface="Calibri"/>
              </a:defRPr>
            </a:defPPr>
          </a:lstStyle>
          <a:p xmlns:a="http://schemas.openxmlformats.org/drawingml/2006/main">
            <a:pPr>
              <a:defRPr sz="1050" b="0">
                <a:solidFill>
                  <a:srgbClr val="C8DCFF"/>
                </a:solidFill>
                <a:latin typeface="Calibri"/>
                <a:ea typeface="Calibri"/>
                <a:cs typeface="Calibri"/>
              </a:defRPr>
            </a:pPr>
            <a:r>
              <a:rPr sz="1050" b="0">
                <a:solidFill>
                  <a:srgbClr val="C8DCFF"/>
                </a:solidFill>
                <a:latin typeface="Calibri"/>
                <a:ea typeface="Calibri"/>
                <a:cs typeface="Calibri"/>
              </a:rPr>
              <a:t>01 / 13</a:t>
            </a:r>
          </a:p>
        </p:txBody>
      </p:sp>
      <p:sp>
        <p:nvSpPr>
          <p:cNvPr id="4" name="">
            <a:extLst xmlns:a="http://schemas.openxmlformats.org/drawingml/2006/main">
              <a:ext uri="{FF2B5EF4-FFF2-40B4-BE49-F238E27FC236}">
                <a16:creationId xmlns:a16="http://schemas.microsoft.com/office/drawing/2014/main" id="{C46889AF-2957-4E2C-999C-F3324A2A4133}"/>
              </a:ext>
            </a:extLst>
          </p:cNvPr>
          <p:cNvSpPr>
            <a:spLocks xmlns:a="http://schemas.openxmlformats.org/drawingml/2006/main" noGrp="1"/>
          </p:cNvSpPr>
          <p:nvPr/>
        </p:nvSpPr>
        <p:spPr>
          <a:xfrm xmlns:a="http://schemas.openxmlformats.org/drawingml/2006/main">
            <a:off x="638175" y="2476500"/>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DBE9FF"/>
                </a:solidFill>
                <a:latin typeface="Calibri"/>
                <a:ea typeface="Calibri"/>
                <a:cs typeface="Calibri"/>
              </a:defRPr>
            </a:defPPr>
          </a:lstStyle>
          <a:p xmlns:a="http://schemas.openxmlformats.org/drawingml/2006/main">
            <a:pPr>
              <a:defRPr sz="2325" b="0">
                <a:solidFill>
                  <a:srgbClr val="DBE9FF"/>
                </a:solidFill>
                <a:latin typeface="Calibri"/>
                <a:ea typeface="Calibri"/>
                <a:cs typeface="Calibri"/>
              </a:defRPr>
            </a:pPr>
            <a:r>
              <a:rPr sz="2325" b="0">
                <a:solidFill>
                  <a:srgbClr val="DBE9FF"/>
                </a:solidFill>
                <a:latin typeface="Calibri"/>
                <a:ea typeface="Calibri"/>
                <a:cs typeface="Calibri"/>
              </a:rPr>
              <a:t>Catálogo actualizado, clientes conectados</a:t>
            </a:r>
          </a:p>
          <a:p xmlns:a="http://schemas.openxmlformats.org/drawingml/2006/main">
            <a:pPr>
              <a:defRPr sz="2325" b="0">
                <a:solidFill>
                  <a:srgbClr val="DBE9FF"/>
                </a:solidFill>
                <a:latin typeface="Calibri"/>
                <a:ea typeface="Calibri"/>
                <a:cs typeface="Calibri"/>
              </a:defRPr>
            </a:pPr>
            <a:r>
              <a:rPr sz="2325" b="0">
                <a:solidFill>
                  <a:srgbClr val="DBE9FF"/>
                </a:solidFill>
                <a:latin typeface="Calibri"/>
                <a:ea typeface="Calibri"/>
                <a:cs typeface="Calibri"/>
              </a:rPr>
              <a:t>y administración centralizada</a:t>
            </a:r>
          </a:p>
        </p:txBody>
      </p:sp>
      <p:sp>
        <p:nvSpPr>
          <p:cNvPr id="5" name="">
            <a:extLst xmlns:a="http://schemas.openxmlformats.org/drawingml/2006/main">
              <a:ext uri="{FF2B5EF4-FFF2-40B4-BE49-F238E27FC236}">
                <a16:creationId xmlns:a16="http://schemas.microsoft.com/office/drawing/2014/main" id="{0C6D6030-3D68-4B6A-8DDE-53F62481C115}"/>
              </a:ext>
            </a:extLst>
          </p:cNvPr>
          <p:cNvSpPr>
            <a:spLocks xmlns:a="http://schemas.openxmlformats.org/drawingml/2006/main" noGrp="1"/>
          </p:cNvSpPr>
          <p:nvPr/>
        </p:nvSpPr>
        <p:spPr>
          <a:xfrm xmlns:a="http://schemas.openxmlformats.org/drawingml/2006/main">
            <a:off x="638175" y="3838575"/>
            <a:ext cx="7762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FFFFFF"/>
                </a:solidFill>
                <a:latin typeface="Calibri"/>
                <a:ea typeface="Calibri"/>
                <a:cs typeface="Calibri"/>
              </a:defRPr>
            </a:defPPr>
          </a:lstStyle>
          <a:p xmlns:a="http://schemas.openxmlformats.org/drawingml/2006/main">
            <a:pPr>
              <a:defRPr sz="1425" b="0">
                <a:solidFill>
                  <a:srgbClr val="FFFFFF"/>
                </a:solidFill>
                <a:latin typeface="Calibri"/>
                <a:ea typeface="Calibri"/>
                <a:cs typeface="Calibri"/>
              </a:defRPr>
            </a:pPr>
            <a:r>
              <a:rPr sz="1425" b="0">
                <a:solidFill>
                  <a:srgbClr val="FFFFFF"/>
                </a:solidFill>
                <a:latin typeface="Calibri"/>
                <a:ea typeface="Calibri"/>
                <a:cs typeface="Calibri"/>
              </a:rPr>
              <a:t>Daiana Chinellato · Facundo Sola</a:t>
            </a:r>
          </a:p>
          <a:p xmlns:a="http://schemas.openxmlformats.org/drawingml/2006/main">
            <a:pPr>
              <a:defRPr sz="1425" b="0">
                <a:solidFill>
                  <a:srgbClr val="FFFFFF"/>
                </a:solidFill>
                <a:latin typeface="Calibri"/>
                <a:ea typeface="Calibri"/>
                <a:cs typeface="Calibri"/>
              </a:defRPr>
            </a:pPr>
            <a:r>
              <a:rPr sz="1425" b="0">
                <a:solidFill>
                  <a:srgbClr val="FFFFFF"/>
                </a:solidFill>
                <a:latin typeface="Calibri"/>
                <a:ea typeface="Calibri"/>
                <a:cs typeface="Calibri"/>
              </a:rPr>
              <a:t>ICES · Tecnicatura Superior en Desarrollo de Software · 2026</a:t>
            </a:r>
          </a:p>
        </p:txBody>
      </p:sp>
    </p:spTree>
    <p:extLst>
      <p:ext uri="{BB962C8B-B14F-4D97-AF65-F5344CB8AC3E}">
        <p14:creationId xmlns:p14="http://schemas.microsoft.com/office/powerpoint/2010/main" val="1999113394"/>
      </p:ext>
    </p:extLst>
  </p:cSld>
</p:sld>
</file>

<file path=ppt/slides/slide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460E52B-7CC7-4DB3-AD7B-31791EDBCE0B}"/>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Por qué elegimos este proyecto</a:t>
            </a:r>
            <a:endParaRPr sz="2800"/>
          </a:p>
        </p:txBody>
      </p:sp>
      <p:sp>
        <p:nvSpPr>
          <p:cNvPr id="3" name="">
            <a:extLst xmlns:a="http://schemas.openxmlformats.org/drawingml/2006/main">
              <a:ext uri="{FF2B5EF4-FFF2-40B4-BE49-F238E27FC236}">
                <a16:creationId xmlns:a16="http://schemas.microsoft.com/office/drawing/2014/main" id="{04572CCB-D8CC-4A3E-900E-A83E24877216}"/>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02 / 13</a:t>
            </a:r>
          </a:p>
        </p:txBody>
      </p:sp>
      <p:sp>
        <p:nvSpPr>
          <p:cNvPr id="4" name="">
            <a:extLst xmlns:a="http://schemas.openxmlformats.org/drawingml/2006/main">
              <a:ext uri="{FF2B5EF4-FFF2-40B4-BE49-F238E27FC236}">
                <a16:creationId xmlns:a16="http://schemas.microsoft.com/office/drawing/2014/main" id="{908B5B16-C9B2-4459-B933-FFCD46404281}"/>
              </a:ext>
            </a:extLst>
          </p:cNvPr>
          <p:cNvSpPr>
            <a:spLocks xmlns:a="http://schemas.openxmlformats.org/drawingml/2006/main" noGrp="1"/>
          </p:cNvSpPr>
          <p:nvPr/>
        </p:nvSpPr>
        <p:spPr>
          <a:xfrm xmlns:a="http://schemas.openxmlformats.org/drawingml/2006/main">
            <a:off x="457200" y="1400175"/>
            <a:ext cx="7953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3A70"/>
                </a:solidFill>
                <a:latin typeface="Calibri"/>
                <a:ea typeface="Calibri"/>
                <a:cs typeface="Calibri"/>
              </a:defRPr>
            </a:defPPr>
          </a:lstStyle>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La oferta cambia.</a:t>
            </a:r>
          </a:p>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La información debe acompañarla.</a:t>
            </a:r>
          </a:p>
        </p:txBody>
      </p:sp>
      <p:sp>
        <p:nvSpPr>
          <p:cNvPr id="5" name="">
            <a:extLst xmlns:a="http://schemas.openxmlformats.org/drawingml/2006/main">
              <a:ext uri="{FF2B5EF4-FFF2-40B4-BE49-F238E27FC236}">
                <a16:creationId xmlns:a16="http://schemas.microsoft.com/office/drawing/2014/main" id="{8B067E13-254C-4C2C-A4D1-ED6BF766DB27}"/>
              </a:ext>
            </a:extLst>
          </p:cNvPr>
          <p:cNvSpPr>
            <a:spLocks xmlns:a="http://schemas.openxmlformats.org/drawingml/2006/main" noGrp="1"/>
          </p:cNvSpPr>
          <p:nvPr/>
        </p:nvSpPr>
        <p:spPr>
          <a:xfrm xmlns:a="http://schemas.openxmlformats.org/drawingml/2006/main">
            <a:off x="457200" y="2800350"/>
            <a:ext cx="785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334D"/>
                </a:solidFill>
                <a:latin typeface="Calibri"/>
                <a:ea typeface="Calibri"/>
                <a:cs typeface="Calibri"/>
              </a:defRPr>
            </a:defPPr>
          </a:lstStyle>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Productos, precios y disponibilidad reunidos</a:t>
            </a:r>
          </a:p>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en un catálogo que el comercio puede mantener.</a:t>
            </a:r>
          </a:p>
        </p:txBody>
      </p:sp>
      <p:sp>
        <p:nvSpPr>
          <p:cNvPr id="6" name="">
            <a:extLst xmlns:a="http://schemas.openxmlformats.org/drawingml/2006/main">
              <a:ext uri="{FF2B5EF4-FFF2-40B4-BE49-F238E27FC236}">
                <a16:creationId xmlns:a16="http://schemas.microsoft.com/office/drawing/2014/main" id="{9D7A1697-0588-4655-9EB3-65A210BC2EB7}"/>
              </a:ext>
            </a:extLst>
          </p:cNvPr>
          <p:cNvSpPr>
            <a:spLocks xmlns:a="http://schemas.openxmlformats.org/drawingml/2006/main" noGrp="1"/>
          </p:cNvSpPr>
          <p:nvPr/>
        </p:nvSpPr>
        <p:spPr>
          <a:xfrm xmlns:a="http://schemas.openxmlformats.org/drawingml/2006/main">
            <a:off x="457200" y="4124325"/>
            <a:ext cx="785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474EE"/>
                </a:solidFill>
                <a:latin typeface="Calibri"/>
                <a:ea typeface="Calibri"/>
                <a:cs typeface="Calibri"/>
              </a:defRPr>
            </a:defPPr>
          </a:lstStyle>
          <a:p xmlns:a="http://schemas.openxmlformats.org/drawingml/2006/main">
            <a:pPr>
              <a:defRPr sz="1650" b="1">
                <a:solidFill>
                  <a:srgbClr val="2474EE"/>
                </a:solidFill>
                <a:latin typeface="Calibri"/>
                <a:ea typeface="Calibri"/>
                <a:cs typeface="Calibri"/>
              </a:defRPr>
            </a:pPr>
            <a:r>
              <a:rPr sz="1650" b="1">
                <a:solidFill>
                  <a:srgbClr val="2474EE"/>
                </a:solidFill>
                <a:latin typeface="Calibri"/>
                <a:ea typeface="Calibri"/>
                <a:cs typeface="Calibri"/>
              </a:rPr>
              <a:t>Una necesidad concreta de las tiendas de tecnología</a:t>
            </a:r>
          </a:p>
        </p:txBody>
      </p:sp>
    </p:spTree>
    <p:extLst>
      <p:ext uri="{BB962C8B-B14F-4D97-AF65-F5344CB8AC3E}">
        <p14:creationId xmlns:p14="http://schemas.microsoft.com/office/powerpoint/2010/main" val="1278411600"/>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635F08-B36F-FB0E-109E-E075D78D9D1D}"/>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Propósito del sistema</a:t>
            </a:r>
            <a:endParaRPr sz="2800"/>
          </a:p>
        </p:txBody>
      </p:sp>
      <p:sp>
        <p:nvSpPr>
          <p:cNvPr id="3" name="">
            <a:extLst xmlns:a="http://schemas.openxmlformats.org/drawingml/2006/main">
              <a:ext uri="{FF2B5EF4-FFF2-40B4-BE49-F238E27FC236}">
                <a16:creationId xmlns:a16="http://schemas.microsoft.com/office/drawing/2014/main" id="{6D0CA821-6811-4F7E-BE28-4A1618CE4353}"/>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03 / 13</a:t>
            </a:r>
          </a:p>
        </p:txBody>
      </p:sp>
      <p:sp>
        <p:nvSpPr>
          <p:cNvPr id="4" name="">
            <a:extLst xmlns:a="http://schemas.openxmlformats.org/drawingml/2006/main">
              <a:ext uri="{FF2B5EF4-FFF2-40B4-BE49-F238E27FC236}">
                <a16:creationId xmlns:a16="http://schemas.microsoft.com/office/drawing/2014/main" id="{1E169E56-F496-43FD-8929-BB482E97252C}"/>
              </a:ext>
            </a:extLst>
          </p:cNvPr>
          <p:cNvSpPr>
            <a:spLocks xmlns:a="http://schemas.openxmlformats.org/drawingml/2006/main" noGrp="1"/>
          </p:cNvSpPr>
          <p:nvPr/>
        </p:nvSpPr>
        <p:spPr>
          <a:xfrm xmlns:a="http://schemas.openxmlformats.org/drawingml/2006/main">
            <a:off x="457200" y="1409700"/>
            <a:ext cx="8229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53A70"/>
                </a:solidFill>
                <a:latin typeface="Calibri"/>
                <a:ea typeface="Calibri"/>
                <a:cs typeface="Calibri"/>
              </a:defRPr>
            </a:defPPr>
          </a:lstStyle>
          <a:p xmlns:a="http://schemas.openxmlformats.org/drawingml/2006/main">
            <a:pPr>
              <a:defRPr sz="2850" b="1">
                <a:solidFill>
                  <a:srgbClr val="153A70"/>
                </a:solidFill>
                <a:latin typeface="Calibri"/>
                <a:ea typeface="Calibri"/>
                <a:cs typeface="Calibri"/>
              </a:defRPr>
            </a:pPr>
            <a:r>
              <a:rPr sz="2850" b="1">
                <a:solidFill>
                  <a:srgbClr val="153A70"/>
                </a:solidFill>
                <a:latin typeface="Calibri"/>
                <a:ea typeface="Calibri"/>
                <a:cs typeface="Calibri"/>
              </a:rPr>
              <a:t>Que cliente y comercio trabajen</a:t>
            </a:r>
          </a:p>
          <a:p xmlns:a="http://schemas.openxmlformats.org/drawingml/2006/main">
            <a:pPr>
              <a:defRPr sz="2850" b="1">
                <a:solidFill>
                  <a:srgbClr val="153A70"/>
                </a:solidFill>
                <a:latin typeface="Calibri"/>
                <a:ea typeface="Calibri"/>
                <a:cs typeface="Calibri"/>
              </a:defRPr>
            </a:pPr>
            <a:r>
              <a:rPr sz="2850" b="1">
                <a:solidFill>
                  <a:srgbClr val="153A70"/>
                </a:solidFill>
                <a:latin typeface="Calibri"/>
                <a:ea typeface="Calibri"/>
                <a:cs typeface="Calibri"/>
              </a:rPr>
              <a:t>sobre la misma información</a:t>
            </a:r>
          </a:p>
        </p:txBody>
      </p:sp>
      <p:sp>
        <p:nvSpPr>
          <p:cNvPr id="5" name="">
            <a:extLst xmlns:a="http://schemas.openxmlformats.org/drawingml/2006/main">
              <a:ext uri="{FF2B5EF4-FFF2-40B4-BE49-F238E27FC236}">
                <a16:creationId xmlns:a16="http://schemas.microsoft.com/office/drawing/2014/main" id="{1E17A51A-D207-4406-8FAB-8144C67A118B}"/>
              </a:ext>
            </a:extLst>
          </p:cNvPr>
          <p:cNvSpPr>
            <a:spLocks xmlns:a="http://schemas.openxmlformats.org/drawingml/2006/main" noGrp="1"/>
          </p:cNvSpPr>
          <p:nvPr/>
        </p:nvSpPr>
        <p:spPr>
          <a:xfrm xmlns:a="http://schemas.openxmlformats.org/drawingml/2006/main">
            <a:off x="457200" y="2895600"/>
            <a:ext cx="819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334D"/>
                </a:solidFill>
                <a:latin typeface="Calibri"/>
                <a:ea typeface="Calibri"/>
                <a:cs typeface="Calibri"/>
              </a:defRPr>
            </a:defPPr>
          </a:lstStyle>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Encontrar productos y organizar la selección.</a:t>
            </a:r>
          </a:p>
          <a:p xmlns:a="http://schemas.openxmlformats.org/drawingml/2006/main">
            <a:pPr>
              <a:defRPr sz="2025" b="0">
                <a:solidFill>
                  <a:srgbClr val="20334D"/>
                </a:solidFill>
                <a:latin typeface="Calibri"/>
                <a:ea typeface="Calibri"/>
                <a:cs typeface="Calibri"/>
              </a:defRPr>
            </a:pPr>
            <a:r>
              <a:rPr sz="2025" b="0">
                <a:solidFill>
                  <a:srgbClr val="20334D"/>
                </a:solidFill>
                <a:latin typeface="Calibri"/>
                <a:ea typeface="Calibri"/>
                <a:cs typeface="Calibri"/>
              </a:rPr>
              <a:t>Mantener imágenes, precios y stock desde administración.</a:t>
            </a:r>
          </a:p>
        </p:txBody>
      </p:sp>
    </p:spTree>
    <p:extLst>
      <p:ext uri="{BB962C8B-B14F-4D97-AF65-F5344CB8AC3E}">
        <p14:creationId xmlns:p14="http://schemas.microsoft.com/office/powerpoint/2010/main" val="2351518287"/>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3DDA757-151A-171F-83CF-F4156810A315}"/>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El problema y la oportunidad</a:t>
            </a:r>
            <a:endParaRPr sz="2800"/>
          </a:p>
        </p:txBody>
      </p:sp>
      <p:sp>
        <p:nvSpPr>
          <p:cNvPr id="3" name="">
            <a:extLst xmlns:a="http://schemas.openxmlformats.org/drawingml/2006/main">
              <a:ext uri="{FF2B5EF4-FFF2-40B4-BE49-F238E27FC236}">
                <a16:creationId xmlns:a16="http://schemas.microsoft.com/office/drawing/2014/main" id="{F9F8B273-B554-4FBF-92DB-0EEC72D47006}"/>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04 / 13</a:t>
            </a:r>
          </a:p>
        </p:txBody>
      </p:sp>
      <p:graphicFrame>
        <p:nvGraphicFramePr>
          <p:cNvPr id="4" name="">
            <a:extLst xmlns:a="http://schemas.openxmlformats.org/drawingml/2006/main">
              <a:ext uri="{FF2B5EF4-FFF2-40B4-BE49-F238E27FC236}">
                <a16:creationId xmlns:a16="http://schemas.microsoft.com/office/drawing/2014/main" id="{C4401CC0-E5C0-4CF1-A1B7-19A55ABAE299}"/>
              </a:ext>
            </a:extLst>
          </p:cNvPr>
          <p:cNvGraphicFramePr/>
          <p:nvPr/>
        </p:nvGraphicFramePr>
        <p:xfrm>
          <a:off xmlns:a="http://schemas.openxmlformats.org/drawingml/2006/main" x="457200" y="1190625"/>
          <a:ext xmlns:a="http://schemas.openxmlformats.org/drawingml/2006/main" cx="8229600" cy="2762250"/>
        </p:xfrm>
        <a:graphic xmlns:a="http://schemas.openxmlformats.org/drawingml/2006/main">
          <a:graphicData uri="http://schemas.openxmlformats.org/drawingml/2006/table">
            <a:tbl>
              <a:tblPr/>
              <a:tblGrid>
                <a:gridCol w="3810000"/>
                <a:gridCol w="4419600"/>
              </a:tblGrid>
              <a:tr h="690563">
                <a:tc>
                  <a:txBody>
                    <a:bodyPr/>
                    <a:lstStyle/>
                    <a:p>
                      <a:r>
                        <a:rPr sz="1875" b="1">
                          <a:solidFill>
                            <a:srgbClr val="FFFFFF"/>
                          </a:solidFill>
                          <a:latin typeface="Calibri"/>
                          <a:ea typeface="Calibri"/>
                          <a:cs typeface="Calibri"/>
                        </a:rPr>
                        <a:t>Necesidad del comercio</a:t>
                      </a:r>
                    </a:p>
                  </a:txBody>
                  <a:tcPr marL="91440" marR="91440" marT="45720" marB="45720">
                    <a:solidFill>
                      <a:srgbClr val="153A70"/>
                    </a:solidFill>
                  </a:tcPr>
                </a:tc>
                <a:tc>
                  <a:txBody>
                    <a:bodyPr/>
                    <a:lstStyle/>
                    <a:p>
                      <a:r>
                        <a:rPr sz="1875" b="1">
                          <a:solidFill>
                            <a:srgbClr val="FFFFFF"/>
                          </a:solidFill>
                          <a:latin typeface="Calibri"/>
                          <a:ea typeface="Calibri"/>
                          <a:cs typeface="Calibri"/>
                        </a:rPr>
                        <a:t>Respuesta de TotalTech</a:t>
                      </a:r>
                    </a:p>
                  </a:txBody>
                  <a:tcPr marL="91440" marR="91440" marT="45720" marB="45720">
                    <a:solidFill>
                      <a:srgbClr val="153A70"/>
                    </a:solidFill>
                  </a:tcPr>
                </a:tc>
              </a:tr>
              <a:tr h="690563">
                <a:tc>
                  <a:txBody>
                    <a:bodyPr/>
                    <a:lstStyle/>
                    <a:p>
                      <a:r>
                        <a:rPr sz="1875" b="1">
                          <a:solidFill>
                            <a:srgbClr val="20334D"/>
                          </a:solidFill>
                          <a:latin typeface="Calibri"/>
                          <a:ea typeface="Calibri"/>
                          <a:cs typeface="Calibri"/>
                        </a:rPr>
                        <a:t>Información que queda desactualizada</a:t>
                      </a:r>
                    </a:p>
                  </a:txBody>
                  <a:tcPr marL="91440" marR="91440" marT="45720" marB="45720">
                    <a:solidFill>
                      <a:srgbClr val="FFFFFF"/>
                    </a:solidFill>
                  </a:tcPr>
                </a:tc>
                <a:tc>
                  <a:txBody>
                    <a:bodyPr/>
                    <a:lstStyle/>
                    <a:p>
                      <a:r>
                        <a:rPr sz="1875" b="0">
                          <a:solidFill>
                            <a:srgbClr val="20334D"/>
                          </a:solidFill>
                          <a:latin typeface="Calibri"/>
                          <a:ea typeface="Calibri"/>
                          <a:cs typeface="Calibri"/>
                        </a:rPr>
                        <a:t>Catálogo editable desde administración</a:t>
                      </a:r>
                    </a:p>
                  </a:txBody>
                  <a:tcPr marL="91440" marR="91440" marT="45720" marB="45720">
                    <a:solidFill>
                      <a:srgbClr val="FFFFFF"/>
                    </a:solidFill>
                  </a:tcPr>
                </a:tc>
              </a:tr>
              <a:tr h="690563">
                <a:tc>
                  <a:txBody>
                    <a:bodyPr/>
                    <a:lstStyle/>
                    <a:p>
                      <a:r>
                        <a:rPr sz="1875" b="1">
                          <a:solidFill>
                            <a:srgbClr val="20334D"/>
                          </a:solidFill>
                          <a:latin typeface="Calibri"/>
                          <a:ea typeface="Calibri"/>
                          <a:cs typeface="Calibri"/>
                        </a:rPr>
                        <a:t>Dificultad para encontrar una opción</a:t>
                      </a:r>
                    </a:p>
                  </a:txBody>
                  <a:tcPr marL="91440" marR="91440" marT="45720" marB="45720">
                    <a:solidFill>
                      <a:srgbClr val="EAF0FA"/>
                    </a:solidFill>
                  </a:tcPr>
                </a:tc>
                <a:tc>
                  <a:txBody>
                    <a:bodyPr/>
                    <a:lstStyle/>
                    <a:p>
                      <a:r>
                        <a:rPr sz="1875" b="0">
                          <a:solidFill>
                            <a:srgbClr val="20334D"/>
                          </a:solidFill>
                          <a:latin typeface="Calibri"/>
                          <a:ea typeface="Calibri"/>
                          <a:cs typeface="Calibri"/>
                        </a:rPr>
                        <a:t>Búsqueda y filtros de productos</a:t>
                      </a:r>
                    </a:p>
                  </a:txBody>
                  <a:tcPr marL="91440" marR="91440" marT="45720" marB="45720">
                    <a:solidFill>
                      <a:srgbClr val="EAF0FA"/>
                    </a:solidFill>
                  </a:tcPr>
                </a:tc>
              </a:tr>
              <a:tr h="690563">
                <a:tc>
                  <a:txBody>
                    <a:bodyPr/>
                    <a:lstStyle/>
                    <a:p>
                      <a:r>
                        <a:rPr sz="1875" b="1">
                          <a:solidFill>
                            <a:srgbClr val="20334D"/>
                          </a:solidFill>
                          <a:latin typeface="Calibri"/>
                          <a:ea typeface="Calibri"/>
                          <a:cs typeface="Calibri"/>
                        </a:rPr>
                        <a:t>Selecciones e importes dispersos</a:t>
                      </a:r>
                    </a:p>
                  </a:txBody>
                  <a:tcPr marL="91440" marR="91440" marT="45720" marB="45720">
                    <a:solidFill>
                      <a:srgbClr val="FFFFFF"/>
                    </a:solidFill>
                  </a:tcPr>
                </a:tc>
                <a:tc>
                  <a:txBody>
                    <a:bodyPr/>
                    <a:lstStyle/>
                    <a:p>
                      <a:r>
                        <a:rPr sz="1875" b="0">
                          <a:solidFill>
                            <a:srgbClr val="20334D"/>
                          </a:solidFill>
                          <a:latin typeface="Calibri"/>
                          <a:ea typeface="Calibri"/>
                          <a:cs typeface="Calibri"/>
                        </a:rPr>
                        <a:t>Carrito con cantidades y totales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7BB2CD8-81D0-4078-8541-6A9650603C25}"/>
              </a:ext>
            </a:extLst>
          </p:cNvPr>
          <p:cNvSpPr>
            <a:spLocks xmlns:a="http://schemas.openxmlformats.org/drawingml/2006/main" noGrp="1"/>
          </p:cNvSpPr>
          <p:nvPr/>
        </p:nvSpPr>
        <p:spPr>
          <a:xfrm xmlns:a="http://schemas.openxmlformats.org/drawingml/2006/main">
            <a:off x="457200" y="4276725"/>
            <a:ext cx="822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474EE"/>
                </a:solidFill>
                <a:latin typeface="Calibri"/>
                <a:ea typeface="Calibri"/>
                <a:cs typeface="Calibri"/>
              </a:defRPr>
            </a:defPPr>
          </a:lstStyle>
          <a:p xmlns:a="http://schemas.openxmlformats.org/drawingml/2006/main">
            <a:pPr>
              <a:defRPr sz="1650" b="0">
                <a:solidFill>
                  <a:srgbClr val="2474EE"/>
                </a:solidFill>
                <a:latin typeface="Calibri"/>
                <a:ea typeface="Calibri"/>
                <a:cs typeface="Calibri"/>
              </a:defRPr>
            </a:pPr>
            <a:r>
              <a:rPr sz="1650" b="0">
                <a:solidFill>
                  <a:srgbClr val="2474EE"/>
                </a:solidFill>
                <a:latin typeface="Calibri"/>
                <a:ea typeface="Calibri"/>
                <a:cs typeface="Calibri"/>
              </a:rPr>
              <a:t>Cada problema se conecta con una función que vamos a demostrar.</a:t>
            </a:r>
          </a:p>
        </p:txBody>
      </p:sp>
    </p:spTree>
    <p:extLst>
      <p:ext uri="{BB962C8B-B14F-4D97-AF65-F5344CB8AC3E}">
        <p14:creationId xmlns:p14="http://schemas.microsoft.com/office/powerpoint/2010/main" val="1294924452"/>
      </p:ext>
    </p:extLst>
  </p:cSld>
</p:sld>
</file>

<file path=ppt/slides/slide5.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5E65C9-F94B-DC30-CA47-0DB279B8A800}"/>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La solución y sus usuarios</a:t>
            </a:r>
            <a:endParaRPr sz="2800"/>
          </a:p>
        </p:txBody>
      </p:sp>
      <p:sp>
        <p:nvSpPr>
          <p:cNvPr id="3" name="">
            <a:extLst xmlns:a="http://schemas.openxmlformats.org/drawingml/2006/main">
              <a:ext uri="{FF2B5EF4-FFF2-40B4-BE49-F238E27FC236}">
                <a16:creationId xmlns:a16="http://schemas.microsoft.com/office/drawing/2014/main" id="{D9B0B58E-698D-4C54-9EEA-C27D30A22E00}"/>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05 / 13</a:t>
            </a:r>
          </a:p>
        </p:txBody>
      </p:sp>
      <p:sp>
        <p:nvSpPr>
          <p:cNvPr id="4" name="">
            <a:extLst xmlns:a="http://schemas.openxmlformats.org/drawingml/2006/main">
              <a:ext uri="{FF2B5EF4-FFF2-40B4-BE49-F238E27FC236}">
                <a16:creationId xmlns:a16="http://schemas.microsoft.com/office/drawing/2014/main" id="{BEA43EB5-B504-4C05-B019-4E378622140F}"/>
              </a:ext>
            </a:extLst>
          </p:cNvPr>
          <p:cNvSpPr>
            <a:spLocks xmlns:a="http://schemas.openxmlformats.org/drawingml/2006/main" noGrp="1"/>
          </p:cNvSpPr>
          <p:nvPr/>
        </p:nvSpPr>
        <p:spPr>
          <a:xfrm xmlns:a="http://schemas.openxmlformats.org/drawingml/2006/main">
            <a:off x="457200" y="13335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Cliente</a:t>
            </a:r>
          </a:p>
        </p:txBody>
      </p:sp>
      <p:sp>
        <p:nvSpPr>
          <p:cNvPr id="5" name="">
            <a:extLst xmlns:a="http://schemas.openxmlformats.org/drawingml/2006/main">
              <a:ext uri="{FF2B5EF4-FFF2-40B4-BE49-F238E27FC236}">
                <a16:creationId xmlns:a16="http://schemas.microsoft.com/office/drawing/2014/main" id="{01684EC0-900E-4A59-B8AA-59B5A7508A8E}"/>
              </a:ext>
            </a:extLst>
          </p:cNvPr>
          <p:cNvSpPr>
            <a:spLocks xmlns:a="http://schemas.openxmlformats.org/drawingml/2006/main" noGrp="1"/>
          </p:cNvSpPr>
          <p:nvPr/>
        </p:nvSpPr>
        <p:spPr>
          <a:xfrm xmlns:a="http://schemas.openxmlformats.org/drawingml/2006/main">
            <a:off x="457200" y="1905000"/>
            <a:ext cx="3857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Crea su cuenta e inicia sesión.</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Busca y consulta productos.</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Organiza su carrito.</a:t>
            </a:r>
          </a:p>
        </p:txBody>
      </p:sp>
      <p:sp>
        <p:nvSpPr>
          <p:cNvPr id="6" name="">
            <a:extLst xmlns:a="http://schemas.openxmlformats.org/drawingml/2006/main">
              <a:ext uri="{FF2B5EF4-FFF2-40B4-BE49-F238E27FC236}">
                <a16:creationId xmlns:a16="http://schemas.microsoft.com/office/drawing/2014/main" id="{378C12AC-B432-45A3-A5A3-8499C8A9CE73}"/>
              </a:ext>
            </a:extLst>
          </p:cNvPr>
          <p:cNvSpPr>
            <a:spLocks xmlns:a="http://schemas.openxmlformats.org/drawingml/2006/main" noGrp="1"/>
          </p:cNvSpPr>
          <p:nvPr/>
        </p:nvSpPr>
        <p:spPr>
          <a:xfrm xmlns:a="http://schemas.openxmlformats.org/drawingml/2006/main">
            <a:off x="4762500" y="1333500"/>
            <a:ext cx="392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Administrador</a:t>
            </a:r>
          </a:p>
        </p:txBody>
      </p:sp>
      <p:sp>
        <p:nvSpPr>
          <p:cNvPr id="7" name="">
            <a:extLst xmlns:a="http://schemas.openxmlformats.org/drawingml/2006/main">
              <a:ext uri="{FF2B5EF4-FFF2-40B4-BE49-F238E27FC236}">
                <a16:creationId xmlns:a16="http://schemas.microsoft.com/office/drawing/2014/main" id="{59B5F5B3-BFC3-42A4-AC73-73EA1E156440}"/>
              </a:ext>
            </a:extLst>
          </p:cNvPr>
          <p:cNvSpPr>
            <a:spLocks xmlns:a="http://schemas.openxmlformats.org/drawingml/2006/main" noGrp="1"/>
          </p:cNvSpPr>
          <p:nvPr/>
        </p:nvSpPr>
        <p:spPr>
          <a:xfrm xmlns:a="http://schemas.openxmlformats.org/drawingml/2006/main">
            <a:off x="4762500" y="1905000"/>
            <a:ext cx="3924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Crea y edita productos.</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Mantiene precio, stock e imagen.</a:t>
            </a:r>
          </a:p>
          <a:p xmlns:a="http://schemas.openxmlformats.org/drawingml/2006/main">
            <a:r>
              <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Actualiza el catálogo público.</a:t>
            </a:r>
          </a:p>
        </p:txBody>
      </p:sp>
    </p:spTree>
    <p:extLst>
      <p:ext uri="{BB962C8B-B14F-4D97-AF65-F5344CB8AC3E}">
        <p14:creationId xmlns:p14="http://schemas.microsoft.com/office/powerpoint/2010/main" val="2713122508"/>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C9AA59-A034-475D-AAAE-9B1DD46F7698}"/>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Cinco requerimientos funcionales</a:t>
            </a:r>
          </a:p>
        </p:txBody>
      </p:sp>
      <p:sp>
        <p:nvSpPr>
          <p:cNvPr id="2" name="">
            <a:extLst xmlns:a="http://schemas.openxmlformats.org/drawingml/2006/main">
              <a:ext uri="{FF2B5EF4-FFF2-40B4-BE49-F238E27FC236}">
                <a16:creationId xmlns:a16="http://schemas.microsoft.com/office/drawing/2014/main" id="{CD199511-B45C-4382-9011-011D2F291F12}"/>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06 / 13</a:t>
            </a:r>
          </a:p>
        </p:txBody>
      </p:sp>
      <p:graphicFrame>
        <p:nvGraphicFramePr>
          <p:cNvPr id="3" name="">
            <a:extLst xmlns:a="http://schemas.openxmlformats.org/drawingml/2006/main">
              <a:ext uri="{FF2B5EF4-FFF2-40B4-BE49-F238E27FC236}">
                <a16:creationId xmlns:a16="http://schemas.microsoft.com/office/drawing/2014/main" id="{D91683C7-DE69-4876-A68B-56C489FECA1F}"/>
              </a:ext>
            </a:extLst>
          </p:cNvPr>
          <p:cNvGraphicFramePr/>
          <p:nvPr/>
        </p:nvGraphicFramePr>
        <p:xfrm>
          <a:off xmlns:a="http://schemas.openxmlformats.org/drawingml/2006/main" x="457200" y="1190625"/>
          <a:ext xmlns:a="http://schemas.openxmlformats.org/drawingml/2006/main" cx="8229600" cy="3067050"/>
        </p:xfrm>
        <a:graphic xmlns:a="http://schemas.openxmlformats.org/drawingml/2006/main">
          <a:graphicData uri="http://schemas.openxmlformats.org/drawingml/2006/table">
            <a:tbl>
              <a:tblPr/>
              <a:tblGrid>
                <a:gridCol w="3095625"/>
                <a:gridCol w="952500"/>
                <a:gridCol w="4181475"/>
              </a:tblGrid>
              <a:tr h="511175">
                <a:tc>
                  <a:txBody>
                    <a:bodyPr/>
                    <a:lstStyle/>
                    <a:p>
                      <a:r>
                        <a:rPr sz="1575" b="1">
                          <a:solidFill>
                            <a:srgbClr val="FFFFFF"/>
                          </a:solidFill>
                          <a:latin typeface="Calibri"/>
                          <a:ea typeface="Calibri"/>
                          <a:cs typeface="Calibri"/>
                        </a:rPr>
                        <a:t>Requerimiento concreto</a:t>
                      </a:r>
                    </a:p>
                  </a:txBody>
                  <a:tcPr marL="91440" marR="91440" marT="45720" marB="45720">
                    <a:solidFill>
                      <a:srgbClr val="153A70"/>
                    </a:solidFill>
                  </a:tcPr>
                </a:tc>
                <a:tc>
                  <a:txBody>
                    <a:bodyPr/>
                    <a:lstStyle/>
                    <a:p>
                      <a:r>
                        <a:rPr sz="1575" b="1">
                          <a:solidFill>
                            <a:srgbClr val="FFFFFF"/>
                          </a:solidFill>
                          <a:latin typeface="Calibri"/>
                          <a:ea typeface="Calibri"/>
                          <a:cs typeface="Calibri"/>
                        </a:rPr>
                        <a:t>Origen</a:t>
                      </a:r>
                    </a:p>
                  </a:txBody>
                  <a:tcPr marL="91440" marR="91440" marT="45720" marB="45720">
                    <a:solidFill>
                      <a:srgbClr val="153A70"/>
                    </a:solidFill>
                  </a:tcPr>
                </a:tc>
                <a:tc>
                  <a:txBody>
                    <a:bodyPr/>
                    <a:lstStyle/>
                    <a:p>
                      <a:r>
                        <a:rPr sz="1575" b="1">
                          <a:solidFill>
                            <a:srgbClr val="FFFFFF"/>
                          </a:solidFill>
                          <a:latin typeface="Calibri"/>
                          <a:ea typeface="Calibri"/>
                          <a:cs typeface="Calibri"/>
                        </a:rPr>
                        <a:t>Resultado visible</a:t>
                      </a:r>
                    </a:p>
                  </a:txBody>
                  <a:tcPr marL="91440" marR="91440" marT="45720" marB="45720">
                    <a:solidFill>
                      <a:srgbClr val="153A70"/>
                    </a:solidFill>
                  </a:tcPr>
                </a:tc>
              </a:tr>
              <a:tr h="511175">
                <a:tc>
                  <a:txBody>
                    <a:bodyPr/>
                    <a:lstStyle/>
                    <a:p>
                      <a:r>
                        <a:rPr sz="1575" b="1">
                          <a:solidFill>
                            <a:srgbClr val="20334D"/>
                          </a:solidFill>
                          <a:latin typeface="Calibri"/>
                          <a:ea typeface="Calibri"/>
                          <a:cs typeface="Calibri"/>
                        </a:rPr>
                        <a:t>Registrar usuarios</a:t>
                      </a:r>
                    </a:p>
                  </a:txBody>
                  <a:tcPr marL="91440" marR="91440" marT="45720" marB="45720">
                    <a:solidFill>
                      <a:srgbClr val="FFFFFF"/>
                    </a:solidFill>
                  </a:tcPr>
                </a:tc>
                <a:tc>
                  <a:txBody>
                    <a:bodyPr/>
                    <a:lstStyle/>
                    <a:p>
                      <a:r>
                        <a:rPr sz="1575" b="0">
                          <a:solidFill>
                            <a:srgbClr val="20334D"/>
                          </a:solidFill>
                          <a:latin typeface="Calibri"/>
                          <a:ea typeface="Calibri"/>
                          <a:cs typeface="Calibri"/>
                        </a:rPr>
                        <a:t>Grupo 5</a:t>
                      </a:r>
                    </a:p>
                  </a:txBody>
                  <a:tcPr marL="91440" marR="91440" marT="45720" marB="45720">
                    <a:solidFill>
                      <a:srgbClr val="FFFFFF"/>
                    </a:solidFill>
                  </a:tcPr>
                </a:tc>
                <a:tc>
                  <a:txBody>
                    <a:bodyPr/>
                    <a:lstStyle/>
                    <a:p>
                      <a:r>
                        <a:rPr sz="1575" b="0">
                          <a:solidFill>
                            <a:srgbClr val="20334D"/>
                          </a:solidFill>
                          <a:latin typeface="Calibri"/>
                          <a:ea typeface="Calibri"/>
                          <a:cs typeface="Calibri"/>
                        </a:rPr>
                        <a:t>Cuenta creada y validaciones</a:t>
                      </a:r>
                    </a:p>
                  </a:txBody>
                  <a:tcPr marL="91440" marR="91440" marT="45720" marB="45720">
                    <a:solidFill>
                      <a:srgbClr val="FFFFFF"/>
                    </a:solidFill>
                  </a:tcPr>
                </a:tc>
              </a:tr>
              <a:tr h="511175">
                <a:tc>
                  <a:txBody>
                    <a:bodyPr/>
                    <a:lstStyle/>
                    <a:p>
                      <a:r>
                        <a:rPr sz="1575" b="1">
                          <a:solidFill>
                            <a:srgbClr val="20334D"/>
                          </a:solidFill>
                          <a:latin typeface="Calibri"/>
                          <a:ea typeface="Calibri"/>
                          <a:cs typeface="Calibri"/>
                        </a:rPr>
                        <a:t>Autenticar usuarios</a:t>
                      </a:r>
                    </a:p>
                  </a:txBody>
                  <a:tcPr marL="91440" marR="91440" marT="45720" marB="45720">
                    <a:solidFill>
                      <a:srgbClr val="EAF0FA"/>
                    </a:solidFill>
                  </a:tcPr>
                </a:tc>
                <a:tc>
                  <a:txBody>
                    <a:bodyPr/>
                    <a:lstStyle/>
                    <a:p>
                      <a:r>
                        <a:rPr sz="1575" b="0">
                          <a:solidFill>
                            <a:srgbClr val="20334D"/>
                          </a:solidFill>
                          <a:latin typeface="Calibri"/>
                          <a:ea typeface="Calibri"/>
                          <a:cs typeface="Calibri"/>
                        </a:rPr>
                        <a:t>Grupo 5</a:t>
                      </a:r>
                    </a:p>
                  </a:txBody>
                  <a:tcPr marL="91440" marR="91440" marT="45720" marB="45720">
                    <a:solidFill>
                      <a:srgbClr val="EAF0FA"/>
                    </a:solidFill>
                  </a:tcPr>
                </a:tc>
                <a:tc>
                  <a:txBody>
                    <a:bodyPr/>
                    <a:lstStyle/>
                    <a:p>
                      <a:r>
                        <a:rPr sz="1575" b="0">
                          <a:solidFill>
                            <a:srgbClr val="20334D"/>
                          </a:solidFill>
                          <a:latin typeface="Calibri"/>
                          <a:ea typeface="Calibri"/>
                          <a:cs typeface="Calibri"/>
                        </a:rPr>
                        <a:t>Acceso según credenciales y rol</a:t>
                      </a:r>
                    </a:p>
                  </a:txBody>
                  <a:tcPr marL="91440" marR="91440" marT="45720" marB="45720">
                    <a:solidFill>
                      <a:srgbClr val="EAF0FA"/>
                    </a:solidFill>
                  </a:tcPr>
                </a:tc>
              </a:tr>
              <a:tr h="511175">
                <a:tc>
                  <a:txBody>
                    <a:bodyPr/>
                    <a:lstStyle/>
                    <a:p>
                      <a:r>
                        <a:rPr sz="1575" b="1">
                          <a:solidFill>
                            <a:srgbClr val="20334D"/>
                          </a:solidFill>
                          <a:latin typeface="Calibri"/>
                          <a:ea typeface="Calibri"/>
                          <a:cs typeface="Calibri"/>
                        </a:rPr>
                        <a:t>Consultar y buscar productos</a:t>
                      </a:r>
                    </a:p>
                  </a:txBody>
                  <a:tcPr marL="91440" marR="91440" marT="45720" marB="45720">
                    <a:solidFill>
                      <a:srgbClr val="FFFFFF"/>
                    </a:solidFill>
                  </a:tcPr>
                </a:tc>
                <a:tc>
                  <a:txBody>
                    <a:bodyPr/>
                    <a:lstStyle/>
                    <a:p>
                      <a:r>
                        <a:rPr sz="1575" b="0">
                          <a:solidFill>
                            <a:srgbClr val="20334D"/>
                          </a:solidFill>
                          <a:latin typeface="Calibri"/>
                          <a:ea typeface="Calibri"/>
                          <a:cs typeface="Calibri"/>
                        </a:rPr>
                        <a:t>Grupo 2</a:t>
                      </a:r>
                    </a:p>
                  </a:txBody>
                  <a:tcPr marL="91440" marR="91440" marT="45720" marB="45720">
                    <a:solidFill>
                      <a:srgbClr val="FFFFFF"/>
                    </a:solidFill>
                  </a:tcPr>
                </a:tc>
                <a:tc>
                  <a:txBody>
                    <a:bodyPr/>
                    <a:lstStyle/>
                    <a:p>
                      <a:r>
                        <a:rPr sz="1575" b="0">
                          <a:solidFill>
                            <a:srgbClr val="20334D"/>
                          </a:solidFill>
                          <a:latin typeface="Calibri"/>
                          <a:ea typeface="Calibri"/>
                          <a:cs typeface="Calibri"/>
                        </a:rPr>
                        <a:t>Catálogo, filtros y detalle</a:t>
                      </a:r>
                    </a:p>
                  </a:txBody>
                  <a:tcPr marL="91440" marR="91440" marT="45720" marB="45720">
                    <a:solidFill>
                      <a:srgbClr val="FFFFFF"/>
                    </a:solidFill>
                  </a:tcPr>
                </a:tc>
              </a:tr>
              <a:tr h="511175">
                <a:tc>
                  <a:txBody>
                    <a:bodyPr/>
                    <a:lstStyle/>
                    <a:p>
                      <a:r>
                        <a:rPr sz="1575" b="1">
                          <a:solidFill>
                            <a:srgbClr val="20334D"/>
                          </a:solidFill>
                          <a:latin typeface="Calibri"/>
                          <a:ea typeface="Calibri"/>
                          <a:cs typeface="Calibri"/>
                        </a:rPr>
                        <a:t>Administrar el carrito</a:t>
                      </a:r>
                    </a:p>
                  </a:txBody>
                  <a:tcPr marL="91440" marR="91440" marT="45720" marB="45720">
                    <a:solidFill>
                      <a:srgbClr val="EAF0FA"/>
                    </a:solidFill>
                  </a:tcPr>
                </a:tc>
                <a:tc>
                  <a:txBody>
                    <a:bodyPr/>
                    <a:lstStyle/>
                    <a:p>
                      <a:r>
                        <a:rPr sz="1575" b="0">
                          <a:solidFill>
                            <a:srgbClr val="20334D"/>
                          </a:solidFill>
                          <a:latin typeface="Calibri"/>
                          <a:ea typeface="Calibri"/>
                          <a:cs typeface="Calibri"/>
                        </a:rPr>
                        <a:t>Grupo 3</a:t>
                      </a:r>
                    </a:p>
                  </a:txBody>
                  <a:tcPr marL="91440" marR="91440" marT="45720" marB="45720">
                    <a:solidFill>
                      <a:srgbClr val="EAF0FA"/>
                    </a:solidFill>
                  </a:tcPr>
                </a:tc>
                <a:tc>
                  <a:txBody>
                    <a:bodyPr/>
                    <a:lstStyle/>
                    <a:p>
                      <a:r>
                        <a:rPr sz="1575" b="0">
                          <a:solidFill>
                            <a:srgbClr val="20334D"/>
                          </a:solidFill>
                          <a:latin typeface="Calibri"/>
                          <a:ea typeface="Calibri"/>
                          <a:cs typeface="Calibri"/>
                        </a:rPr>
                        <a:t>Cantidades, eliminación y totales</a:t>
                      </a:r>
                    </a:p>
                  </a:txBody>
                  <a:tcPr marL="91440" marR="91440" marT="45720" marB="45720">
                    <a:solidFill>
                      <a:srgbClr val="EAF0FA"/>
                    </a:solidFill>
                  </a:tcPr>
                </a:tc>
              </a:tr>
              <a:tr h="511175">
                <a:tc>
                  <a:txBody>
                    <a:bodyPr/>
                    <a:lstStyle/>
                    <a:p>
                      <a:r>
                        <a:rPr sz="1575" b="1">
                          <a:solidFill>
                            <a:srgbClr val="20334D"/>
                          </a:solidFill>
                          <a:latin typeface="Calibri"/>
                          <a:ea typeface="Calibri"/>
                          <a:cs typeface="Calibri"/>
                        </a:rPr>
                        <a:t>Gestionar productos</a:t>
                      </a:r>
                    </a:p>
                  </a:txBody>
                  <a:tcPr marL="91440" marR="91440" marT="45720" marB="45720">
                    <a:solidFill>
                      <a:srgbClr val="FFFFFF"/>
                    </a:solidFill>
                  </a:tcPr>
                </a:tc>
                <a:tc>
                  <a:txBody>
                    <a:bodyPr/>
                    <a:lstStyle/>
                    <a:p>
                      <a:r>
                        <a:rPr sz="1575" b="0">
                          <a:solidFill>
                            <a:srgbClr val="20334D"/>
                          </a:solidFill>
                          <a:latin typeface="Calibri"/>
                          <a:ea typeface="Calibri"/>
                          <a:cs typeface="Calibri"/>
                        </a:rPr>
                        <a:t>Grupo 1</a:t>
                      </a:r>
                    </a:p>
                  </a:txBody>
                  <a:tcPr marL="91440" marR="91440" marT="45720" marB="45720">
                    <a:solidFill>
                      <a:srgbClr val="FFFFFF"/>
                    </a:solidFill>
                  </a:tcPr>
                </a:tc>
                <a:tc>
                  <a:txBody>
                    <a:bodyPr/>
                    <a:lstStyle/>
                    <a:p>
                      <a:r>
                        <a:rPr sz="1575" b="0">
                          <a:solidFill>
                            <a:srgbClr val="20334D"/>
                          </a:solidFill>
                          <a:latin typeface="Calibri"/>
                          <a:ea typeface="Calibri"/>
                          <a:cs typeface="Calibri"/>
                        </a:rPr>
                        <a:t>Alta, edición y eliminación permitida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1C3BE39-2BCC-47F5-8313-27596CF96E55}"/>
              </a:ext>
            </a:extLst>
          </p:cNvPr>
          <p:cNvSpPr>
            <a:spLocks xmlns:a="http://schemas.openxmlformats.org/drawingml/2006/main" noGrp="1"/>
          </p:cNvSpPr>
          <p:nvPr/>
        </p:nvSpPr>
        <p:spPr>
          <a:xfrm xmlns:a="http://schemas.openxmlformats.org/drawingml/2006/main">
            <a:off x="457200" y="4410075"/>
            <a:ext cx="8229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2647A"/>
                </a:solidFill>
                <a:latin typeface="Calibri"/>
                <a:ea typeface="Calibri"/>
                <a:cs typeface="Calibri"/>
              </a:defRPr>
            </a:defPPr>
          </a:lstStyle>
          <a:p xmlns:a="http://schemas.openxmlformats.org/drawingml/2006/main">
            <a:pPr>
              <a:defRPr sz="1350" b="0">
                <a:solidFill>
                  <a:srgbClr val="52647A"/>
                </a:solidFill>
                <a:latin typeface="Calibri"/>
                <a:ea typeface="Calibri"/>
                <a:cs typeface="Calibri"/>
              </a:defRPr>
            </a:pPr>
            <a:r>
              <a:rPr sz="1350" b="0">
                <a:solidFill>
                  <a:srgbClr val="52647A"/>
                </a:solidFill>
                <a:latin typeface="Calibri"/>
                <a:ea typeface="Calibri"/>
                <a:cs typeface="Calibri"/>
              </a:rPr>
              <a:t>Cinco requisitos derivados de los grupos originales; no cinco módulos completos.</a:t>
            </a:r>
          </a:p>
        </p:txBody>
      </p:sp>
    </p:spTree>
    <p:extLst>
      <p:ext uri="{BB962C8B-B14F-4D97-AF65-F5344CB8AC3E}">
        <p14:creationId xmlns:p14="http://schemas.microsoft.com/office/powerpoint/2010/main" val="908143956"/>
      </p:ext>
    </p:extLst>
  </p:cSld>
</p:sld>
</file>

<file path=ppt/slides/slide7.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C073ED-2D8C-4EA4-B2E0-CCD172C72E1B}"/>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Cinco casos de uso seleccionados</a:t>
            </a:r>
          </a:p>
        </p:txBody>
      </p:sp>
      <p:sp>
        <p:nvSpPr>
          <p:cNvPr id="2" name="">
            <a:extLst xmlns:a="http://schemas.openxmlformats.org/drawingml/2006/main">
              <a:ext uri="{FF2B5EF4-FFF2-40B4-BE49-F238E27FC236}">
                <a16:creationId xmlns:a16="http://schemas.microsoft.com/office/drawing/2014/main" id="{D17E77DB-A87C-4DCC-B22A-51B80A05881A}"/>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07 / 13</a:t>
            </a:r>
          </a:p>
        </p:txBody>
      </p:sp>
      <p:graphicFrame>
        <p:nvGraphicFramePr>
          <p:cNvPr id="3" name="">
            <a:extLst xmlns:a="http://schemas.openxmlformats.org/drawingml/2006/main">
              <a:ext uri="{FF2B5EF4-FFF2-40B4-BE49-F238E27FC236}">
                <a16:creationId xmlns:a16="http://schemas.microsoft.com/office/drawing/2014/main" id="{EF6C86DA-C951-40C9-B6E0-5AF2181920F7}"/>
              </a:ext>
            </a:extLst>
          </p:cNvPr>
          <p:cNvGraphicFramePr/>
          <p:nvPr/>
        </p:nvGraphicFramePr>
        <p:xfrm>
          <a:off xmlns:a="http://schemas.openxmlformats.org/drawingml/2006/main" x="457200" y="1190625"/>
          <a:ext xmlns:a="http://schemas.openxmlformats.org/drawingml/2006/main" cx="8229600" cy="3000375"/>
        </p:xfrm>
        <a:graphic xmlns:a="http://schemas.openxmlformats.org/drawingml/2006/main">
          <a:graphicData uri="http://schemas.openxmlformats.org/drawingml/2006/table">
            <a:tbl>
              <a:tblPr/>
              <a:tblGrid>
                <a:gridCol w="3143250"/>
                <a:gridCol w="1428750"/>
                <a:gridCol w="3657600"/>
              </a:tblGrid>
              <a:tr h="500063">
                <a:tc>
                  <a:txBody>
                    <a:bodyPr/>
                    <a:lstStyle/>
                    <a:p>
                      <a:r>
                        <a:rPr sz="1575" b="1">
                          <a:solidFill>
                            <a:srgbClr val="FFFFFF"/>
                          </a:solidFill>
                          <a:latin typeface="Calibri"/>
                          <a:ea typeface="Calibri"/>
                          <a:cs typeface="Calibri"/>
                        </a:rPr>
                        <a:t>Caso de uso</a:t>
                      </a:r>
                    </a:p>
                  </a:txBody>
                  <a:tcPr marL="91440" marR="91440" marT="45720" marB="45720">
                    <a:solidFill>
                      <a:srgbClr val="153A70"/>
                    </a:solidFill>
                  </a:tcPr>
                </a:tc>
                <a:tc>
                  <a:txBody>
                    <a:bodyPr/>
                    <a:lstStyle/>
                    <a:p>
                      <a:r>
                        <a:rPr sz="1575" b="1">
                          <a:solidFill>
                            <a:srgbClr val="FFFFFF"/>
                          </a:solidFill>
                          <a:latin typeface="Calibri"/>
                          <a:ea typeface="Calibri"/>
                          <a:cs typeface="Calibri"/>
                        </a:rPr>
                        <a:t>Actor</a:t>
                      </a:r>
                    </a:p>
                  </a:txBody>
                  <a:tcPr marL="91440" marR="91440" marT="45720" marB="45720">
                    <a:solidFill>
                      <a:srgbClr val="153A70"/>
                    </a:solidFill>
                  </a:tcPr>
                </a:tc>
                <a:tc>
                  <a:txBody>
                    <a:bodyPr/>
                    <a:lstStyle/>
                    <a:p>
                      <a:r>
                        <a:rPr sz="1575" b="1">
                          <a:solidFill>
                            <a:srgbClr val="FFFFFF"/>
                          </a:solidFill>
                          <a:latin typeface="Calibri"/>
                          <a:ea typeface="Calibri"/>
                          <a:cs typeface="Calibri"/>
                        </a:rPr>
                        <a:t>Resultado esperado</a:t>
                      </a:r>
                    </a:p>
                  </a:txBody>
                  <a:tcPr marL="91440" marR="91440" marT="45720" marB="45720">
                    <a:solidFill>
                      <a:srgbClr val="153A70"/>
                    </a:solidFill>
                  </a:tcPr>
                </a:tc>
              </a:tr>
              <a:tr h="500063">
                <a:tc>
                  <a:txBody>
                    <a:bodyPr/>
                    <a:lstStyle/>
                    <a:p>
                      <a:r>
                        <a:rPr sz="1575" b="1">
                          <a:solidFill>
                            <a:srgbClr val="20334D"/>
                          </a:solidFill>
                          <a:latin typeface="Calibri"/>
                          <a:ea typeface="Calibri"/>
                          <a:cs typeface="Calibri"/>
                        </a:rPr>
                        <a:t>UC-01 · Registrarse</a:t>
                      </a:r>
                    </a:p>
                  </a:txBody>
                  <a:tcPr marL="91440" marR="91440" marT="45720" marB="45720">
                    <a:solidFill>
                      <a:srgbClr val="FFFFFF"/>
                    </a:solidFill>
                  </a:tcPr>
                </a:tc>
                <a:tc>
                  <a:txBody>
                    <a:bodyPr/>
                    <a:lstStyle/>
                    <a:p>
                      <a:r>
                        <a:rPr sz="1575" b="0">
                          <a:solidFill>
                            <a:srgbClr val="20334D"/>
                          </a:solidFill>
                          <a:latin typeface="Calibri"/>
                          <a:ea typeface="Calibri"/>
                          <a:cs typeface="Calibri"/>
                        </a:rPr>
                        <a:t>Visitante</a:t>
                      </a:r>
                    </a:p>
                  </a:txBody>
                  <a:tcPr marL="91440" marR="91440" marT="45720" marB="45720">
                    <a:solidFill>
                      <a:srgbClr val="FFFFFF"/>
                    </a:solidFill>
                  </a:tcPr>
                </a:tc>
                <a:tc>
                  <a:txBody>
                    <a:bodyPr/>
                    <a:lstStyle/>
                    <a:p>
                      <a:r>
                        <a:rPr sz="1575" b="0">
                          <a:solidFill>
                            <a:srgbClr val="20334D"/>
                          </a:solidFill>
                          <a:latin typeface="Calibri"/>
                          <a:ea typeface="Calibri"/>
                          <a:cs typeface="Calibri"/>
                        </a:rPr>
                        <a:t>Obtiene una cuenta de cliente</a:t>
                      </a:r>
                    </a:p>
                  </a:txBody>
                  <a:tcPr marL="91440" marR="91440" marT="45720" marB="45720">
                    <a:solidFill>
                      <a:srgbClr val="FFFFFF"/>
                    </a:solidFill>
                  </a:tcPr>
                </a:tc>
              </a:tr>
              <a:tr h="500063">
                <a:tc>
                  <a:txBody>
                    <a:bodyPr/>
                    <a:lstStyle/>
                    <a:p>
                      <a:r>
                        <a:rPr sz="1575" b="1">
                          <a:solidFill>
                            <a:srgbClr val="20334D"/>
                          </a:solidFill>
                          <a:latin typeface="Calibri"/>
                          <a:ea typeface="Calibri"/>
                          <a:cs typeface="Calibri"/>
                        </a:rPr>
                        <a:t>UC-02 · Iniciar sesión</a:t>
                      </a:r>
                    </a:p>
                  </a:txBody>
                  <a:tcPr marL="91440" marR="91440" marT="45720" marB="45720">
                    <a:solidFill>
                      <a:srgbClr val="EAF0FA"/>
                    </a:solidFill>
                  </a:tcPr>
                </a:tc>
                <a:tc>
                  <a:txBody>
                    <a:bodyPr/>
                    <a:lstStyle/>
                    <a:p>
                      <a:r>
                        <a:rPr sz="1575" b="0">
                          <a:solidFill>
                            <a:srgbClr val="20334D"/>
                          </a:solidFill>
                          <a:latin typeface="Calibri"/>
                          <a:ea typeface="Calibri"/>
                          <a:cs typeface="Calibri"/>
                        </a:rPr>
                        <a:t>Usuario</a:t>
                      </a:r>
                    </a:p>
                  </a:txBody>
                  <a:tcPr marL="91440" marR="91440" marT="45720" marB="45720">
                    <a:solidFill>
                      <a:srgbClr val="EAF0FA"/>
                    </a:solidFill>
                  </a:tcPr>
                </a:tc>
                <a:tc>
                  <a:txBody>
                    <a:bodyPr/>
                    <a:lstStyle/>
                    <a:p>
                      <a:r>
                        <a:rPr sz="1575" b="0">
                          <a:solidFill>
                            <a:srgbClr val="20334D"/>
                          </a:solidFill>
                          <a:latin typeface="Calibri"/>
                          <a:ea typeface="Calibri"/>
                          <a:cs typeface="Calibri"/>
                        </a:rPr>
                        <a:t>Accede con sus credenciales</a:t>
                      </a:r>
                    </a:p>
                  </a:txBody>
                  <a:tcPr marL="91440" marR="91440" marT="45720" marB="45720">
                    <a:solidFill>
                      <a:srgbClr val="EAF0FA"/>
                    </a:solidFill>
                  </a:tcPr>
                </a:tc>
              </a:tr>
              <a:tr h="500063">
                <a:tc>
                  <a:txBody>
                    <a:bodyPr/>
                    <a:lstStyle/>
                    <a:p>
                      <a:r>
                        <a:rPr sz="1575" b="1">
                          <a:solidFill>
                            <a:srgbClr val="20334D"/>
                          </a:solidFill>
                          <a:latin typeface="Calibri"/>
                          <a:ea typeface="Calibri"/>
                          <a:cs typeface="Calibri"/>
                        </a:rPr>
                        <a:t>UC-08 · Filtrar y buscar</a:t>
                      </a:r>
                    </a:p>
                  </a:txBody>
                  <a:tcPr marL="91440" marR="91440" marT="45720" marB="45720">
                    <a:solidFill>
                      <a:srgbClr val="FFFFFF"/>
                    </a:solidFill>
                  </a:tcPr>
                </a:tc>
                <a:tc>
                  <a:txBody>
                    <a:bodyPr/>
                    <a:lstStyle/>
                    <a:p>
                      <a:r>
                        <a:rPr sz="1575" b="0">
                          <a:solidFill>
                            <a:srgbClr val="20334D"/>
                          </a:solidFill>
                          <a:latin typeface="Calibri"/>
                          <a:ea typeface="Calibri"/>
                          <a:cs typeface="Calibri"/>
                        </a:rPr>
                        <a:t>Cliente</a:t>
                      </a:r>
                    </a:p>
                  </a:txBody>
                  <a:tcPr marL="91440" marR="91440" marT="45720" marB="45720">
                    <a:solidFill>
                      <a:srgbClr val="FFFFFF"/>
                    </a:solidFill>
                  </a:tcPr>
                </a:tc>
                <a:tc>
                  <a:txBody>
                    <a:bodyPr/>
                    <a:lstStyle/>
                    <a:p>
                      <a:r>
                        <a:rPr sz="1575" b="0">
                          <a:solidFill>
                            <a:srgbClr val="20334D"/>
                          </a:solidFill>
                          <a:latin typeface="Calibri"/>
                          <a:ea typeface="Calibri"/>
                          <a:cs typeface="Calibri"/>
                        </a:rPr>
                        <a:t>Encuentra productos</a:t>
                      </a:r>
                    </a:p>
                  </a:txBody>
                  <a:tcPr marL="91440" marR="91440" marT="45720" marB="45720">
                    <a:solidFill>
                      <a:srgbClr val="FFFFFF"/>
                    </a:solidFill>
                  </a:tcPr>
                </a:tc>
              </a:tr>
              <a:tr h="500063">
                <a:tc>
                  <a:txBody>
                    <a:bodyPr/>
                    <a:lstStyle/>
                    <a:p>
                      <a:r>
                        <a:rPr sz="1575" b="1">
                          <a:solidFill>
                            <a:srgbClr val="20334D"/>
                          </a:solidFill>
                          <a:latin typeface="Calibri"/>
                          <a:ea typeface="Calibri"/>
                          <a:cs typeface="Calibri"/>
                        </a:rPr>
                        <a:t>UC-09 · Ver detalle</a:t>
                      </a:r>
                    </a:p>
                  </a:txBody>
                  <a:tcPr marL="91440" marR="91440" marT="45720" marB="45720">
                    <a:solidFill>
                      <a:srgbClr val="EAF0FA"/>
                    </a:solidFill>
                  </a:tcPr>
                </a:tc>
                <a:tc>
                  <a:txBody>
                    <a:bodyPr/>
                    <a:lstStyle/>
                    <a:p>
                      <a:r>
                        <a:rPr sz="1575" b="0">
                          <a:solidFill>
                            <a:srgbClr val="20334D"/>
                          </a:solidFill>
                          <a:latin typeface="Calibri"/>
                          <a:ea typeface="Calibri"/>
                          <a:cs typeface="Calibri"/>
                        </a:rPr>
                        <a:t>Cliente</a:t>
                      </a:r>
                    </a:p>
                  </a:txBody>
                  <a:tcPr marL="91440" marR="91440" marT="45720" marB="45720">
                    <a:solidFill>
                      <a:srgbClr val="EAF0FA"/>
                    </a:solidFill>
                  </a:tcPr>
                </a:tc>
                <a:tc>
                  <a:txBody>
                    <a:bodyPr/>
                    <a:lstStyle/>
                    <a:p>
                      <a:r>
                        <a:rPr sz="1575" b="0">
                          <a:solidFill>
                            <a:srgbClr val="20334D"/>
                          </a:solidFill>
                          <a:latin typeface="Calibri"/>
                          <a:ea typeface="Calibri"/>
                          <a:cs typeface="Calibri"/>
                        </a:rPr>
                        <a:t>Consulta la ficha del producto</a:t>
                      </a:r>
                    </a:p>
                  </a:txBody>
                  <a:tcPr marL="91440" marR="91440" marT="45720" marB="45720">
                    <a:solidFill>
                      <a:srgbClr val="EAF0FA"/>
                    </a:solidFill>
                  </a:tcPr>
                </a:tc>
              </a:tr>
              <a:tr h="500063">
                <a:tc>
                  <a:txBody>
                    <a:bodyPr/>
                    <a:lstStyle/>
                    <a:p>
                      <a:r>
                        <a:rPr sz="1575" b="1">
                          <a:solidFill>
                            <a:srgbClr val="20334D"/>
                          </a:solidFill>
                          <a:latin typeface="Calibri"/>
                          <a:ea typeface="Calibri"/>
                          <a:cs typeface="Calibri"/>
                        </a:rPr>
                        <a:t>UC-19 · ABM de productos</a:t>
                      </a:r>
                    </a:p>
                  </a:txBody>
                  <a:tcPr marL="91440" marR="91440" marT="45720" marB="45720">
                    <a:solidFill>
                      <a:srgbClr val="FFFFFF"/>
                    </a:solidFill>
                  </a:tcPr>
                </a:tc>
                <a:tc>
                  <a:txBody>
                    <a:bodyPr/>
                    <a:lstStyle/>
                    <a:p>
                      <a:r>
                        <a:rPr sz="1575" b="0">
                          <a:solidFill>
                            <a:srgbClr val="20334D"/>
                          </a:solidFill>
                          <a:latin typeface="Calibri"/>
                          <a:ea typeface="Calibri"/>
                          <a:cs typeface="Calibri"/>
                        </a:rPr>
                        <a:t>Administrador</a:t>
                      </a:r>
                    </a:p>
                  </a:txBody>
                  <a:tcPr marL="91440" marR="91440" marT="45720" marB="45720">
                    <a:solidFill>
                      <a:srgbClr val="FFFFFF"/>
                    </a:solidFill>
                  </a:tcPr>
                </a:tc>
                <a:tc>
                  <a:txBody>
                    <a:bodyPr/>
                    <a:lstStyle/>
                    <a:p>
                      <a:r>
                        <a:rPr sz="1575" b="0">
                          <a:solidFill>
                            <a:srgbClr val="20334D"/>
                          </a:solidFill>
                          <a:latin typeface="Calibri"/>
                          <a:ea typeface="Calibri"/>
                          <a:cs typeface="Calibri"/>
                        </a:rPr>
                        <a:t>Actualiza la oferta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F8B793B-3FEC-40FE-AEA4-790A1C590C99}"/>
              </a:ext>
            </a:extLst>
          </p:cNvPr>
          <p:cNvSpPr>
            <a:spLocks xmlns:a="http://schemas.openxmlformats.org/drawingml/2006/main" noGrp="1"/>
          </p:cNvSpPr>
          <p:nvPr/>
        </p:nvSpPr>
        <p:spPr>
          <a:xfrm xmlns:a="http://schemas.openxmlformats.org/drawingml/2006/main">
            <a:off x="457200" y="4371975"/>
            <a:ext cx="822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47A"/>
                </a:solidFill>
                <a:latin typeface="Calibri"/>
                <a:ea typeface="Calibri"/>
                <a:cs typeface="Calibri"/>
              </a:defRPr>
            </a:defPPr>
          </a:lstStyle>
          <a:p xmlns:a="http://schemas.openxmlformats.org/drawingml/2006/main">
            <a:pPr>
              <a:defRPr sz="1425" b="0">
                <a:solidFill>
                  <a:srgbClr val="52647A"/>
                </a:solidFill>
                <a:latin typeface="Calibri"/>
                <a:ea typeface="Calibri"/>
                <a:cs typeface="Calibri"/>
              </a:defRPr>
            </a:pPr>
            <a:r>
              <a:rPr sz="1425" b="0">
                <a:solidFill>
                  <a:srgbClr val="52647A"/>
                </a:solidFill>
                <a:latin typeface="Calibri"/>
                <a:ea typeface="Calibri"/>
                <a:cs typeface="Calibri"/>
              </a:rPr>
              <a:t>El carrito se demuestra adicionalmente; no se lo identifica como UC-10.</a:t>
            </a:r>
          </a:p>
        </p:txBody>
      </p:sp>
    </p:spTree>
    <p:extLst>
      <p:ext uri="{BB962C8B-B14F-4D97-AF65-F5344CB8AC3E}">
        <p14:creationId xmlns:p14="http://schemas.microsoft.com/office/powerpoint/2010/main" val="609181058"/>
      </p:ext>
    </p:extLst>
  </p:cSld>
</p:sld>
</file>

<file path=ppt/slides/slide8.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3E47DA-55B4-4048-84A7-B5FD7F4C68B1}"/>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Cinco criterios de calidad</a:t>
            </a:r>
          </a:p>
        </p:txBody>
      </p:sp>
      <p:sp>
        <p:nvSpPr>
          <p:cNvPr id="2" name="">
            <a:extLst xmlns:a="http://schemas.openxmlformats.org/drawingml/2006/main">
              <a:ext uri="{FF2B5EF4-FFF2-40B4-BE49-F238E27FC236}">
                <a16:creationId xmlns:a16="http://schemas.microsoft.com/office/drawing/2014/main" id="{78BECC2B-5F2B-4EFA-8A38-71B02B327CD4}"/>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08 / 13</a:t>
            </a:r>
          </a:p>
        </p:txBody>
      </p:sp>
      <p:graphicFrame>
        <p:nvGraphicFramePr>
          <p:cNvPr id="3" name="">
            <a:extLst xmlns:a="http://schemas.openxmlformats.org/drawingml/2006/main">
              <a:ext uri="{FF2B5EF4-FFF2-40B4-BE49-F238E27FC236}">
                <a16:creationId xmlns:a16="http://schemas.microsoft.com/office/drawing/2014/main" id="{0B5556E8-5C9D-4DD8-8C46-6A749BC2A7E3}"/>
              </a:ext>
            </a:extLst>
          </p:cNvPr>
          <p:cNvGraphicFramePr/>
          <p:nvPr/>
        </p:nvGraphicFramePr>
        <p:xfrm>
          <a:off xmlns:a="http://schemas.openxmlformats.org/drawingml/2006/main" x="457200" y="1190625"/>
          <a:ext xmlns:a="http://schemas.openxmlformats.org/drawingml/2006/main" cx="8229600" cy="3143250"/>
        </p:xfrm>
        <a:graphic xmlns:a="http://schemas.openxmlformats.org/drawingml/2006/main">
          <a:graphicData uri="http://schemas.openxmlformats.org/drawingml/2006/table">
            <a:tbl>
              <a:tblPr/>
              <a:tblGrid>
                <a:gridCol w="1743075"/>
                <a:gridCol w="3143250"/>
                <a:gridCol w="3343275"/>
              </a:tblGrid>
              <a:tr h="523875">
                <a:tc>
                  <a:txBody>
                    <a:bodyPr/>
                    <a:lstStyle/>
                    <a:p>
                      <a:r>
                        <a:rPr sz="1500" b="1">
                          <a:solidFill>
                            <a:srgbClr val="FFFFFF"/>
                          </a:solidFill>
                          <a:latin typeface="Calibri"/>
                          <a:ea typeface="Calibri"/>
                          <a:cs typeface="Calibri"/>
                        </a:rPr>
                        <a:t>RNF</a:t>
                      </a:r>
                    </a:p>
                  </a:txBody>
                  <a:tcPr marL="91440" marR="91440" marT="45720" marB="45720">
                    <a:solidFill>
                      <a:srgbClr val="153A70"/>
                    </a:solidFill>
                  </a:tcPr>
                </a:tc>
                <a:tc>
                  <a:txBody>
                    <a:bodyPr/>
                    <a:lstStyle/>
                    <a:p>
                      <a:r>
                        <a:rPr sz="1500" b="1">
                          <a:solidFill>
                            <a:srgbClr val="FFFFFF"/>
                          </a:solidFill>
                          <a:latin typeface="Calibri"/>
                          <a:ea typeface="Calibri"/>
                          <a:cs typeface="Calibri"/>
                        </a:rPr>
                        <a:t>Decisión contemplada</a:t>
                      </a:r>
                    </a:p>
                  </a:txBody>
                  <a:tcPr marL="91440" marR="91440" marT="45720" marB="45720">
                    <a:solidFill>
                      <a:srgbClr val="153A70"/>
                    </a:solidFill>
                  </a:tcPr>
                </a:tc>
                <a:tc>
                  <a:txBody>
                    <a:bodyPr/>
                    <a:lstStyle/>
                    <a:p>
                      <a:r>
                        <a:rPr sz="1500" b="1">
                          <a:solidFill>
                            <a:srgbClr val="FFFFFF"/>
                          </a:solidFill>
                          <a:latin typeface="Calibri"/>
                          <a:ea typeface="Calibri"/>
                          <a:cs typeface="Calibri"/>
                        </a:rPr>
                        <a:t>Evidencia y alcance</a:t>
                      </a:r>
                    </a:p>
                  </a:txBody>
                  <a:tcPr marL="91440" marR="91440" marT="45720" marB="45720">
                    <a:solidFill>
                      <a:srgbClr val="153A70"/>
                    </a:solidFill>
                  </a:tcPr>
                </a:tc>
              </a:tr>
              <a:tr h="523875">
                <a:tc>
                  <a:txBody>
                    <a:bodyPr/>
                    <a:lstStyle/>
                    <a:p>
                      <a:r>
                        <a:rPr sz="1500" b="1">
                          <a:solidFill>
                            <a:srgbClr val="20334D"/>
                          </a:solidFill>
                          <a:latin typeface="Calibri"/>
                          <a:ea typeface="Calibri"/>
                          <a:cs typeface="Calibri"/>
                        </a:rPr>
                        <a:t>1 · Rendimiento</a:t>
                      </a:r>
                    </a:p>
                  </a:txBody>
                  <a:tcPr marL="91440" marR="91440" marT="45720" marB="45720">
                    <a:solidFill>
                      <a:srgbClr val="FFFFFF"/>
                    </a:solidFill>
                  </a:tcPr>
                </a:tc>
                <a:tc>
                  <a:txBody>
                    <a:bodyPr/>
                    <a:lstStyle/>
                    <a:p>
                      <a:r>
                        <a:rPr sz="1500" b="0">
                          <a:solidFill>
                            <a:srgbClr val="20334D"/>
                          </a:solidFill>
                          <a:latin typeface="Calibri"/>
                          <a:ea typeface="Calibri"/>
                          <a:cs typeface="Calibri"/>
                        </a:rPr>
                        <a:t>Paginación y carga paralela</a:t>
                      </a:r>
                    </a:p>
                  </a:txBody>
                  <a:tcPr marL="91440" marR="91440" marT="45720" marB="45720">
                    <a:solidFill>
                      <a:srgbClr val="FFFFFF"/>
                    </a:solidFill>
                  </a:tcPr>
                </a:tc>
                <a:tc>
                  <a:txBody>
                    <a:bodyPr/>
                    <a:lstStyle/>
                    <a:p>
                      <a:r>
                        <a:rPr sz="1500" b="0">
                          <a:solidFill>
                            <a:srgbClr val="20334D"/>
                          </a:solidFill>
                          <a:latin typeface="Calibri"/>
                          <a:ea typeface="Calibri"/>
                          <a:cs typeface="Calibri"/>
                        </a:rPr>
                        <a:t>≤3 s: objetivo, no garantía</a:t>
                      </a:r>
                    </a:p>
                  </a:txBody>
                  <a:tcPr marL="91440" marR="91440" marT="45720" marB="45720">
                    <a:solidFill>
                      <a:srgbClr val="FFFFFF"/>
                    </a:solidFill>
                  </a:tcPr>
                </a:tc>
              </a:tr>
              <a:tr h="523875">
                <a:tc>
                  <a:txBody>
                    <a:bodyPr/>
                    <a:lstStyle/>
                    <a:p>
                      <a:r>
                        <a:rPr sz="1500" b="1">
                          <a:solidFill>
                            <a:srgbClr val="20334D"/>
                          </a:solidFill>
                          <a:latin typeface="Calibri"/>
                          <a:ea typeface="Calibri"/>
                          <a:cs typeface="Calibri"/>
                        </a:rPr>
                        <a:t>2 · Usabilidad</a:t>
                      </a:r>
                    </a:p>
                  </a:txBody>
                  <a:tcPr marL="91440" marR="91440" marT="45720" marB="45720">
                    <a:solidFill>
                      <a:srgbClr val="EAF0FA"/>
                    </a:solidFill>
                  </a:tcPr>
                </a:tc>
                <a:tc>
                  <a:txBody>
                    <a:bodyPr/>
                    <a:lstStyle/>
                    <a:p>
                      <a:r>
                        <a:rPr sz="1500" b="0">
                          <a:solidFill>
                            <a:srgbClr val="20334D"/>
                          </a:solidFill>
                          <a:latin typeface="Calibri"/>
                          <a:ea typeface="Calibri"/>
                          <a:cs typeface="Calibri"/>
                        </a:rPr>
                        <a:t>Validaciones y mensajes claros</a:t>
                      </a:r>
                    </a:p>
                  </a:txBody>
                  <a:tcPr marL="91440" marR="91440" marT="45720" marB="45720">
                    <a:solidFill>
                      <a:srgbClr val="EAF0FA"/>
                    </a:solidFill>
                  </a:tcPr>
                </a:tc>
                <a:tc>
                  <a:txBody>
                    <a:bodyPr/>
                    <a:lstStyle/>
                    <a:p>
                      <a:r>
                        <a:rPr sz="1500" b="0">
                          <a:solidFill>
                            <a:srgbClr val="20334D"/>
                          </a:solidFill>
                          <a:latin typeface="Calibri"/>
                          <a:ea typeface="Calibri"/>
                          <a:cs typeface="Calibri"/>
                        </a:rPr>
                        <a:t>Validaciones y estados vacíos</a:t>
                      </a:r>
                    </a:p>
                  </a:txBody>
                  <a:tcPr marL="91440" marR="91440" marT="45720" marB="45720">
                    <a:solidFill>
                      <a:srgbClr val="EAF0FA"/>
                    </a:solidFill>
                  </a:tcPr>
                </a:tc>
              </a:tr>
              <a:tr h="523875">
                <a:tc>
                  <a:txBody>
                    <a:bodyPr/>
                    <a:lstStyle/>
                    <a:p>
                      <a:r>
                        <a:rPr sz="1500" b="1">
                          <a:solidFill>
                            <a:srgbClr val="20334D"/>
                          </a:solidFill>
                          <a:latin typeface="Calibri"/>
                          <a:ea typeface="Calibri"/>
                          <a:cs typeface="Calibri"/>
                        </a:rPr>
                        <a:t>3 · Compatibilidad</a:t>
                      </a:r>
                    </a:p>
                  </a:txBody>
                  <a:tcPr marL="91440" marR="91440" marT="45720" marB="45720">
                    <a:solidFill>
                      <a:srgbClr val="FFFFFF"/>
                    </a:solidFill>
                  </a:tcPr>
                </a:tc>
                <a:tc>
                  <a:txBody>
                    <a:bodyPr/>
                    <a:lstStyle/>
                    <a:p>
                      <a:r>
                        <a:rPr sz="1500" b="0">
                          <a:solidFill>
                            <a:srgbClr val="20334D"/>
                          </a:solidFill>
                          <a:latin typeface="Calibri"/>
                          <a:ea typeface="Calibri"/>
                          <a:cs typeface="Calibri"/>
                        </a:rPr>
                        <a:t>Diseño adaptable</a:t>
                      </a:r>
                    </a:p>
                  </a:txBody>
                  <a:tcPr marL="91440" marR="91440" marT="45720" marB="45720">
                    <a:solidFill>
                      <a:srgbClr val="FFFFFF"/>
                    </a:solidFill>
                  </a:tcPr>
                </a:tc>
                <a:tc>
                  <a:txBody>
                    <a:bodyPr/>
                    <a:lstStyle/>
                    <a:p>
                      <a:r>
                        <a:rPr sz="1500" b="0">
                          <a:solidFill>
                            <a:srgbClr val="20334D"/>
                          </a:solidFill>
                          <a:latin typeface="Calibri"/>
                          <a:ea typeface="Calibri"/>
                          <a:cs typeface="Calibri"/>
                        </a:rPr>
                        <a:t>Móvil; navegadores por verificar</a:t>
                      </a:r>
                    </a:p>
                  </a:txBody>
                  <a:tcPr marL="91440" marR="91440" marT="45720" marB="45720">
                    <a:solidFill>
                      <a:srgbClr val="FFFFFF"/>
                    </a:solidFill>
                  </a:tcPr>
                </a:tc>
              </a:tr>
              <a:tr h="523875">
                <a:tc>
                  <a:txBody>
                    <a:bodyPr/>
                    <a:lstStyle/>
                    <a:p>
                      <a:r>
                        <a:rPr sz="1500" b="1">
                          <a:solidFill>
                            <a:srgbClr val="20334D"/>
                          </a:solidFill>
                          <a:latin typeface="Calibri"/>
                          <a:ea typeface="Calibri"/>
                          <a:cs typeface="Calibri"/>
                        </a:rPr>
                        <a:t>4 · Seguridad</a:t>
                      </a:r>
                    </a:p>
                  </a:txBody>
                  <a:tcPr marL="91440" marR="91440" marT="45720" marB="45720">
                    <a:solidFill>
                      <a:srgbClr val="EAF0FA"/>
                    </a:solidFill>
                  </a:tcPr>
                </a:tc>
                <a:tc>
                  <a:txBody>
                    <a:bodyPr/>
                    <a:lstStyle/>
                    <a:p>
                      <a:r>
                        <a:rPr sz="1500" b="0">
                          <a:solidFill>
                            <a:srgbClr val="20334D"/>
                          </a:solidFill>
                          <a:latin typeface="Calibri"/>
                          <a:ea typeface="Calibri"/>
                          <a:cs typeface="Calibri"/>
                        </a:rPr>
                        <a:t>Hash, roles y antifalsificación</a:t>
                      </a:r>
                    </a:p>
                  </a:txBody>
                  <a:tcPr marL="91440" marR="91440" marT="45720" marB="45720">
                    <a:solidFill>
                      <a:srgbClr val="EAF0FA"/>
                    </a:solidFill>
                  </a:tcPr>
                </a:tc>
                <a:tc>
                  <a:txBody>
                    <a:bodyPr/>
                    <a:lstStyle/>
                    <a:p>
                      <a:r>
                        <a:rPr sz="1500" b="0">
                          <a:solidFill>
                            <a:srgbClr val="20334D"/>
                          </a:solidFill>
                          <a:latin typeface="Calibri"/>
                          <a:ea typeface="Calibri"/>
                          <a:cs typeface="Calibri"/>
                        </a:rPr>
                        <a:t>Controles parciales del requisito</a:t>
                      </a:r>
                    </a:p>
                  </a:txBody>
                  <a:tcPr marL="91440" marR="91440" marT="45720" marB="45720">
                    <a:solidFill>
                      <a:srgbClr val="EAF0FA"/>
                    </a:solidFill>
                  </a:tcPr>
                </a:tc>
              </a:tr>
              <a:tr h="523875">
                <a:tc>
                  <a:txBody>
                    <a:bodyPr/>
                    <a:lstStyle/>
                    <a:p>
                      <a:r>
                        <a:rPr sz="1500" b="1">
                          <a:solidFill>
                            <a:srgbClr val="20334D"/>
                          </a:solidFill>
                          <a:latin typeface="Calibri"/>
                          <a:ea typeface="Calibri"/>
                          <a:cs typeface="Calibri"/>
                        </a:rPr>
                        <a:t>5 · Mantenibilidad</a:t>
                      </a:r>
                    </a:p>
                  </a:txBody>
                  <a:tcPr marL="91440" marR="91440" marT="45720" marB="45720">
                    <a:solidFill>
                      <a:srgbClr val="FFFFFF"/>
                    </a:solidFill>
                  </a:tcPr>
                </a:tc>
                <a:tc>
                  <a:txBody>
                    <a:bodyPr/>
                    <a:lstStyle/>
                    <a:p>
                      <a:r>
                        <a:rPr sz="1500" b="0">
                          <a:solidFill>
                            <a:srgbClr val="20334D"/>
                          </a:solidFill>
                          <a:latin typeface="Calibri"/>
                          <a:ea typeface="Calibri"/>
                          <a:cs typeface="Calibri"/>
                        </a:rPr>
                        <a:t>Responsabilidades por capa</a:t>
                      </a:r>
                    </a:p>
                  </a:txBody>
                  <a:tcPr marL="91440" marR="91440" marT="45720" marB="45720">
                    <a:solidFill>
                      <a:srgbClr val="FFFFFF"/>
                    </a:solidFill>
                  </a:tcPr>
                </a:tc>
                <a:tc>
                  <a:txBody>
                    <a:bodyPr/>
                    <a:lstStyle/>
                    <a:p>
                      <a:r>
                        <a:rPr sz="1500" b="0">
                          <a:solidFill>
                            <a:srgbClr val="20334D"/>
                          </a:solidFill>
                          <a:latin typeface="Calibri"/>
                          <a:ea typeface="Calibri"/>
                          <a:cs typeface="Calibri"/>
                        </a:rPr>
                        <a:t>Recorrido del código</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8EBC0FA-11F7-4FC0-A023-F9FAE4A9ABEA}"/>
              </a:ext>
            </a:extLst>
          </p:cNvPr>
          <p:cNvSpPr>
            <a:spLocks xmlns:a="http://schemas.openxmlformats.org/drawingml/2006/main" noGrp="1"/>
          </p:cNvSpPr>
          <p:nvPr/>
        </p:nvSpPr>
        <p:spPr>
          <a:xfrm xmlns:a="http://schemas.openxmlformats.org/drawingml/2006/main">
            <a:off x="457200" y="4476750"/>
            <a:ext cx="822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47A"/>
                </a:solidFill>
                <a:latin typeface="Calibri"/>
                <a:ea typeface="Calibri"/>
                <a:cs typeface="Calibri"/>
              </a:defRPr>
            </a:defPPr>
          </a:lstStyle>
          <a:p xmlns:a="http://schemas.openxmlformats.org/drawingml/2006/main">
            <a:pPr>
              <a:defRPr sz="1425" b="0">
                <a:solidFill>
                  <a:srgbClr val="52647A"/>
                </a:solidFill>
                <a:latin typeface="Calibri"/>
                <a:ea typeface="Calibri"/>
                <a:cs typeface="Calibri"/>
              </a:defRPr>
            </a:pPr>
            <a:r>
              <a:rPr sz="1425" b="0">
                <a:solidFill>
                  <a:srgbClr val="52647A"/>
                </a:solidFill>
                <a:latin typeface="Calibri"/>
                <a:ea typeface="Calibri"/>
                <a:cs typeface="Calibri"/>
              </a:rPr>
              <a:t>Contemplado no significa cumplimiento integral certificado.</a:t>
            </a:r>
          </a:p>
        </p:txBody>
      </p:sp>
    </p:spTree>
    <p:extLst>
      <p:ext uri="{BB962C8B-B14F-4D97-AF65-F5344CB8AC3E}">
        <p14:creationId xmlns:p14="http://schemas.microsoft.com/office/powerpoint/2010/main" val="423653910"/>
      </p:ext>
    </p:extLst>
  </p:cSld>
</p:sld>
</file>

<file path=ppt/slides/slide9.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2484FC-E7BB-40CD-9055-E0D7AB357BD8}"/>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00" b="1">
                <a:solidFill>
                  <a:srgbClr val="153A70"/>
                </a:solidFill>
                <a:latin typeface="Cambria"/>
                <a:ea typeface="Cambria"/>
                <a:cs typeface="Cambria"/>
              </a:defRPr>
            </a:defPPr>
          </a:lstStyle>
          <a:p xmlns:a="http://schemas.openxmlformats.org/drawingml/2006/main">
            <a:pPr>
              <a:defRPr sz="2800" b="1">
                <a:solidFill>
                  <a:srgbClr val="153A70"/>
                </a:solidFill>
                <a:latin typeface="Cambria"/>
                <a:ea typeface="Cambria"/>
                <a:cs typeface="Cambria"/>
              </a:defRPr>
            </a:pPr>
            <a:r>
              <a:rPr sz="2800" b="1">
                <a:solidFill>
                  <a:srgbClr val="153A70"/>
                </a:solidFill>
                <a:latin typeface="Cambria"/>
                <a:ea typeface="Cambria"/>
                <a:cs typeface="Cambria"/>
              </a:rPr>
              <a:t>La documentación y su implementación</a:t>
            </a:r>
          </a:p>
        </p:txBody>
      </p:sp>
      <p:sp>
        <p:nvSpPr>
          <p:cNvPr id="2" name="">
            <a:extLst xmlns:a="http://schemas.openxmlformats.org/drawingml/2006/main">
              <a:ext uri="{FF2B5EF4-FFF2-40B4-BE49-F238E27FC236}">
                <a16:creationId xmlns:a16="http://schemas.microsoft.com/office/drawing/2014/main" id="{0FC1F7F8-B25B-401F-ABD4-6D3239E21885}"/>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09 / 13</a:t>
            </a:r>
          </a:p>
        </p:txBody>
      </p:sp>
      <p:graphicFrame>
        <p:nvGraphicFramePr>
          <p:cNvPr id="3" name="">
            <a:extLst xmlns:a="http://schemas.openxmlformats.org/drawingml/2006/main">
              <a:ext uri="{FF2B5EF4-FFF2-40B4-BE49-F238E27FC236}">
                <a16:creationId xmlns:a16="http://schemas.microsoft.com/office/drawing/2014/main" id="{B6799536-D7D1-4750-B0C4-74E0B53EEEE9}"/>
              </a:ext>
            </a:extLst>
          </p:cNvPr>
          <p:cNvGraphicFramePr/>
          <p:nvPr/>
        </p:nvGraphicFramePr>
        <p:xfrm>
          <a:off xmlns:a="http://schemas.openxmlformats.org/drawingml/2006/main" x="457200" y="1095375"/>
          <a:ext xmlns:a="http://schemas.openxmlformats.org/drawingml/2006/main" cx="8229600" cy="2238375"/>
        </p:xfrm>
        <a:graphic xmlns:a="http://schemas.openxmlformats.org/drawingml/2006/main">
          <a:graphicData uri="http://schemas.openxmlformats.org/drawingml/2006/table">
            <a:tbl>
              <a:tblPr/>
              <a:tblGrid>
                <a:gridCol w="2143125"/>
                <a:gridCol w="857250"/>
                <a:gridCol w="3228975"/>
                <a:gridCol w="2000250"/>
              </a:tblGrid>
              <a:tr h="373063">
                <a:tc>
                  <a:txBody>
                    <a:bodyPr/>
                    <a:lstStyle/>
                    <a:p>
                      <a:r>
                        <a:rPr sz="1350" b="1">
                          <a:solidFill>
                            <a:srgbClr val="FFFFFF"/>
                          </a:solidFill>
                          <a:latin typeface="Calibri"/>
                          <a:ea typeface="Calibri"/>
                          <a:cs typeface="Calibri"/>
                        </a:rPr>
                        <a:t>Documento</a:t>
                      </a:r>
                    </a:p>
                  </a:txBody>
                  <a:tcPr marL="91440" marR="91440" marT="45720" marB="45720">
                    <a:solidFill>
                      <a:srgbClr val="153A70"/>
                    </a:solidFill>
                  </a:tcPr>
                </a:tc>
                <a:tc>
                  <a:txBody>
                    <a:bodyPr/>
                    <a:lstStyle/>
                    <a:p>
                      <a:r>
                        <a:rPr sz="1350" b="1">
                          <a:solidFill>
                            <a:srgbClr val="FFFFFF"/>
                          </a:solidFill>
                          <a:latin typeface="Calibri"/>
                          <a:ea typeface="Calibri"/>
                          <a:cs typeface="Calibri"/>
                        </a:rPr>
                        <a:t>Caso</a:t>
                      </a:r>
                    </a:p>
                  </a:txBody>
                  <a:tcPr marL="91440" marR="91440" marT="45720" marB="45720">
                    <a:solidFill>
                      <a:srgbClr val="153A70"/>
                    </a:solidFill>
                  </a:tcPr>
                </a:tc>
                <a:tc>
                  <a:txBody>
                    <a:bodyPr/>
                    <a:lstStyle/>
                    <a:p>
                      <a:r>
                        <a:rPr sz="1350" b="1">
                          <a:solidFill>
                            <a:srgbClr val="FFFFFF"/>
                          </a:solidFill>
                          <a:latin typeface="Calibri"/>
                          <a:ea typeface="Calibri"/>
                          <a:cs typeface="Calibri"/>
                        </a:rPr>
                        <a:t>Código MVC</a:t>
                      </a:r>
                    </a:p>
                  </a:txBody>
                  <a:tcPr marL="91440" marR="91440" marT="45720" marB="45720">
                    <a:solidFill>
                      <a:srgbClr val="153A70"/>
                    </a:solidFill>
                  </a:tcPr>
                </a:tc>
                <a:tc>
                  <a:txBody>
                    <a:bodyPr/>
                    <a:lstStyle/>
                    <a:p>
                      <a:r>
                        <a:rPr sz="1350" b="1">
                          <a:solidFill>
                            <a:srgbClr val="FFFFFF"/>
                          </a:solidFill>
                          <a:latin typeface="Calibri"/>
                          <a:ea typeface="Calibri"/>
                          <a:cs typeface="Calibri"/>
                        </a:rPr>
                        <a:t>Pantalla</a:t>
                      </a:r>
                    </a:p>
                  </a:txBody>
                  <a:tcPr marL="91440" marR="91440" marT="45720" marB="45720">
                    <a:solidFill>
                      <a:srgbClr val="153A70"/>
                    </a:solidFill>
                  </a:tcPr>
                </a:tc>
              </a:tr>
              <a:tr h="373063">
                <a:tc>
                  <a:txBody>
                    <a:bodyPr/>
                    <a:lstStyle/>
                    <a:p>
                      <a:r>
                        <a:rPr sz="1350" b="1">
                          <a:solidFill>
                            <a:srgbClr val="20334D"/>
                          </a:solidFill>
                          <a:latin typeface="Calibri"/>
                          <a:ea typeface="Calibri"/>
                          <a:cs typeface="Calibri"/>
                        </a:rPr>
                        <a:t>Grupo 5 · Usuarios</a:t>
                      </a:r>
                    </a:p>
                  </a:txBody>
                  <a:tcPr marL="91440" marR="91440" marT="45720" marB="45720">
                    <a:solidFill>
                      <a:srgbClr val="FFFFFF"/>
                    </a:solidFill>
                  </a:tcPr>
                </a:tc>
                <a:tc>
                  <a:txBody>
                    <a:bodyPr/>
                    <a:lstStyle/>
                    <a:p>
                      <a:r>
                        <a:rPr sz="1350" b="0">
                          <a:solidFill>
                            <a:srgbClr val="20334D"/>
                          </a:solidFill>
                          <a:latin typeface="Calibri"/>
                          <a:ea typeface="Calibri"/>
                          <a:cs typeface="Calibri"/>
                        </a:rPr>
                        <a:t>UC-01</a:t>
                      </a:r>
                    </a:p>
                  </a:txBody>
                  <a:tcPr marL="91440" marR="91440" marT="45720" marB="45720">
                    <a:solidFill>
                      <a:srgbClr val="FFFFFF"/>
                    </a:solidFill>
                  </a:tcPr>
                </a:tc>
                <a:tc>
                  <a:txBody>
                    <a:bodyPr/>
                    <a:lstStyle/>
                    <a:p>
                      <a:r>
                        <a:rPr sz="1350" b="0">
                          <a:solidFill>
                            <a:srgbClr val="20334D"/>
                          </a:solidFill>
                          <a:latin typeface="Calibri"/>
                          <a:ea typeface="Calibri"/>
                          <a:cs typeface="Calibri"/>
                        </a:rPr>
                        <a:t>HomeController.Register</a:t>
                      </a:r>
                    </a:p>
                  </a:txBody>
                  <a:tcPr marL="91440" marR="91440" marT="45720" marB="45720">
                    <a:solidFill>
                      <a:srgbClr val="FFFFFF"/>
                    </a:solidFill>
                  </a:tcPr>
                </a:tc>
                <a:tc>
                  <a:txBody>
                    <a:bodyPr/>
                    <a:lstStyle/>
                    <a:p>
                      <a:r>
                        <a:rPr sz="1350" b="0">
                          <a:solidFill>
                            <a:srgbClr val="20334D"/>
                          </a:solidFill>
                          <a:latin typeface="Calibri"/>
                          <a:ea typeface="Calibri"/>
                          <a:cs typeface="Calibri"/>
                        </a:rPr>
                        <a:t>Registro</a:t>
                      </a:r>
                    </a:p>
                  </a:txBody>
                  <a:tcPr marL="91440" marR="91440" marT="45720" marB="45720">
                    <a:solidFill>
                      <a:srgbClr val="FFFFFF"/>
                    </a:solidFill>
                  </a:tcPr>
                </a:tc>
              </a:tr>
              <a:tr h="373063">
                <a:tc>
                  <a:txBody>
                    <a:bodyPr/>
                    <a:lstStyle/>
                    <a:p>
                      <a:r>
                        <a:rPr sz="1350" b="1">
                          <a:solidFill>
                            <a:srgbClr val="20334D"/>
                          </a:solidFill>
                          <a:latin typeface="Calibri"/>
                          <a:ea typeface="Calibri"/>
                          <a:cs typeface="Calibri"/>
                        </a:rPr>
                        <a:t>Grupo 5 · Usuarios</a:t>
                      </a:r>
                    </a:p>
                  </a:txBody>
                  <a:tcPr marL="91440" marR="91440" marT="45720" marB="45720">
                    <a:solidFill>
                      <a:srgbClr val="EAF0FA"/>
                    </a:solidFill>
                  </a:tcPr>
                </a:tc>
                <a:tc>
                  <a:txBody>
                    <a:bodyPr/>
                    <a:lstStyle/>
                    <a:p>
                      <a:r>
                        <a:rPr sz="1350" b="0">
                          <a:solidFill>
                            <a:srgbClr val="20334D"/>
                          </a:solidFill>
                          <a:latin typeface="Calibri"/>
                          <a:ea typeface="Calibri"/>
                          <a:cs typeface="Calibri"/>
                        </a:rPr>
                        <a:t>UC-02</a:t>
                      </a:r>
                    </a:p>
                  </a:txBody>
                  <a:tcPr marL="91440" marR="91440" marT="45720" marB="45720">
                    <a:solidFill>
                      <a:srgbClr val="EAF0FA"/>
                    </a:solidFill>
                  </a:tcPr>
                </a:tc>
                <a:tc>
                  <a:txBody>
                    <a:bodyPr/>
                    <a:lstStyle/>
                    <a:p>
                      <a:r>
                        <a:rPr sz="1350" b="0">
                          <a:solidFill>
                            <a:srgbClr val="20334D"/>
                          </a:solidFill>
                          <a:latin typeface="Calibri"/>
                          <a:ea typeface="Calibri"/>
                          <a:cs typeface="Calibri"/>
                        </a:rPr>
                        <a:t>HomeController.Login</a:t>
                      </a:r>
                    </a:p>
                  </a:txBody>
                  <a:tcPr marL="91440" marR="91440" marT="45720" marB="45720">
                    <a:solidFill>
                      <a:srgbClr val="EAF0FA"/>
                    </a:solidFill>
                  </a:tcPr>
                </a:tc>
                <a:tc>
                  <a:txBody>
                    <a:bodyPr/>
                    <a:lstStyle/>
                    <a:p>
                      <a:r>
                        <a:rPr sz="1350" b="0">
                          <a:solidFill>
                            <a:srgbClr val="20334D"/>
                          </a:solidFill>
                          <a:latin typeface="Calibri"/>
                          <a:ea typeface="Calibri"/>
                          <a:cs typeface="Calibri"/>
                        </a:rPr>
                        <a:t>Acceso</a:t>
                      </a:r>
                    </a:p>
                  </a:txBody>
                  <a:tcPr marL="91440" marR="91440" marT="45720" marB="45720">
                    <a:solidFill>
                      <a:srgbClr val="EAF0FA"/>
                    </a:solidFill>
                  </a:tcPr>
                </a:tc>
              </a:tr>
              <a:tr h="373063">
                <a:tc>
                  <a:txBody>
                    <a:bodyPr/>
                    <a:lstStyle/>
                    <a:p>
                      <a:r>
                        <a:rPr sz="1350" b="1">
                          <a:solidFill>
                            <a:srgbClr val="20334D"/>
                          </a:solidFill>
                          <a:latin typeface="Calibri"/>
                          <a:ea typeface="Calibri"/>
                          <a:cs typeface="Calibri"/>
                        </a:rPr>
                        <a:t>Grupo 2 · Catálogo</a:t>
                      </a:r>
                    </a:p>
                  </a:txBody>
                  <a:tcPr marL="91440" marR="91440" marT="45720" marB="45720">
                    <a:solidFill>
                      <a:srgbClr val="FFFFFF"/>
                    </a:solidFill>
                  </a:tcPr>
                </a:tc>
                <a:tc>
                  <a:txBody>
                    <a:bodyPr/>
                    <a:lstStyle/>
                    <a:p>
                      <a:r>
                        <a:rPr sz="1350" b="0">
                          <a:solidFill>
                            <a:srgbClr val="20334D"/>
                          </a:solidFill>
                          <a:latin typeface="Calibri"/>
                          <a:ea typeface="Calibri"/>
                          <a:cs typeface="Calibri"/>
                        </a:rPr>
                        <a:t>UC-08</a:t>
                      </a:r>
                    </a:p>
                  </a:txBody>
                  <a:tcPr marL="91440" marR="91440" marT="45720" marB="45720">
                    <a:solidFill>
                      <a:srgbClr val="FFFFFF"/>
                    </a:solidFill>
                  </a:tcPr>
                </a:tc>
                <a:tc>
                  <a:txBody>
                    <a:bodyPr/>
                    <a:lstStyle/>
                    <a:p>
                      <a:r>
                        <a:rPr sz="1350" b="0">
                          <a:solidFill>
                            <a:srgbClr val="20334D"/>
                          </a:solidFill>
                          <a:latin typeface="Calibri"/>
                          <a:ea typeface="Calibri"/>
                          <a:cs typeface="Calibri"/>
                        </a:rPr>
                        <a:t>ProductosController.Index</a:t>
                      </a:r>
                    </a:p>
                  </a:txBody>
                  <a:tcPr marL="91440" marR="91440" marT="45720" marB="45720">
                    <a:solidFill>
                      <a:srgbClr val="FFFFFF"/>
                    </a:solidFill>
                  </a:tcPr>
                </a:tc>
                <a:tc>
                  <a:txBody>
                    <a:bodyPr/>
                    <a:lstStyle/>
                    <a:p>
                      <a:r>
                        <a:rPr sz="1350" b="0">
                          <a:solidFill>
                            <a:srgbClr val="20334D"/>
                          </a:solidFill>
                          <a:latin typeface="Calibri"/>
                          <a:ea typeface="Calibri"/>
                          <a:cs typeface="Calibri"/>
                        </a:rPr>
                        <a:t>Catálogo</a:t>
                      </a:r>
                    </a:p>
                  </a:txBody>
                  <a:tcPr marL="91440" marR="91440" marT="45720" marB="45720">
                    <a:solidFill>
                      <a:srgbClr val="FFFFFF"/>
                    </a:solidFill>
                  </a:tcPr>
                </a:tc>
              </a:tr>
              <a:tr h="373063">
                <a:tc>
                  <a:txBody>
                    <a:bodyPr/>
                    <a:lstStyle/>
                    <a:p>
                      <a:r>
                        <a:rPr sz="1350" b="1">
                          <a:solidFill>
                            <a:srgbClr val="20334D"/>
                          </a:solidFill>
                          <a:latin typeface="Calibri"/>
                          <a:ea typeface="Calibri"/>
                          <a:cs typeface="Calibri"/>
                        </a:rPr>
                        <a:t>Grupo 2 · Catálogo</a:t>
                      </a:r>
                    </a:p>
                  </a:txBody>
                  <a:tcPr marL="91440" marR="91440" marT="45720" marB="45720">
                    <a:solidFill>
                      <a:srgbClr val="EAF0FA"/>
                    </a:solidFill>
                  </a:tcPr>
                </a:tc>
                <a:tc>
                  <a:txBody>
                    <a:bodyPr/>
                    <a:lstStyle/>
                    <a:p>
                      <a:r>
                        <a:rPr sz="1350" b="0">
                          <a:solidFill>
                            <a:srgbClr val="20334D"/>
                          </a:solidFill>
                          <a:latin typeface="Calibri"/>
                          <a:ea typeface="Calibri"/>
                          <a:cs typeface="Calibri"/>
                        </a:rPr>
                        <a:t>UC-09</a:t>
                      </a:r>
                    </a:p>
                  </a:txBody>
                  <a:tcPr marL="91440" marR="91440" marT="45720" marB="45720">
                    <a:solidFill>
                      <a:srgbClr val="EAF0FA"/>
                    </a:solidFill>
                  </a:tcPr>
                </a:tc>
                <a:tc>
                  <a:txBody>
                    <a:bodyPr/>
                    <a:lstStyle/>
                    <a:p>
                      <a:r>
                        <a:rPr sz="1350" b="0">
                          <a:solidFill>
                            <a:srgbClr val="20334D"/>
                          </a:solidFill>
                          <a:latin typeface="Calibri"/>
                          <a:ea typeface="Calibri"/>
                          <a:cs typeface="Calibri"/>
                        </a:rPr>
                        <a:t>ProductosController.Detalle</a:t>
                      </a:r>
                    </a:p>
                  </a:txBody>
                  <a:tcPr marL="91440" marR="91440" marT="45720" marB="45720">
                    <a:solidFill>
                      <a:srgbClr val="EAF0FA"/>
                    </a:solidFill>
                  </a:tcPr>
                </a:tc>
                <a:tc>
                  <a:txBody>
                    <a:bodyPr/>
                    <a:lstStyle/>
                    <a:p>
                      <a:r>
                        <a:rPr sz="1350" b="0">
                          <a:solidFill>
                            <a:srgbClr val="20334D"/>
                          </a:solidFill>
                          <a:latin typeface="Calibri"/>
                          <a:ea typeface="Calibri"/>
                          <a:cs typeface="Calibri"/>
                        </a:rPr>
                        <a:t>Ficha</a:t>
                      </a:r>
                    </a:p>
                  </a:txBody>
                  <a:tcPr marL="91440" marR="91440" marT="45720" marB="45720">
                    <a:solidFill>
                      <a:srgbClr val="EAF0FA"/>
                    </a:solidFill>
                  </a:tcPr>
                </a:tc>
              </a:tr>
              <a:tr h="373063">
                <a:tc>
                  <a:txBody>
                    <a:bodyPr/>
                    <a:lstStyle/>
                    <a:p>
                      <a:r>
                        <a:rPr sz="1350" b="1">
                          <a:solidFill>
                            <a:srgbClr val="20334D"/>
                          </a:solidFill>
                          <a:latin typeface="Calibri"/>
                          <a:ea typeface="Calibri"/>
                          <a:cs typeface="Calibri"/>
                        </a:rPr>
                        <a:t>Grupo 1 · Productos</a:t>
                      </a:r>
                    </a:p>
                  </a:txBody>
                  <a:tcPr marL="91440" marR="91440" marT="45720" marB="45720">
                    <a:solidFill>
                      <a:srgbClr val="FFFFFF"/>
                    </a:solidFill>
                  </a:tcPr>
                </a:tc>
                <a:tc>
                  <a:txBody>
                    <a:bodyPr/>
                    <a:lstStyle/>
                    <a:p>
                      <a:r>
                        <a:rPr sz="1350" b="0">
                          <a:solidFill>
                            <a:srgbClr val="20334D"/>
                          </a:solidFill>
                          <a:latin typeface="Calibri"/>
                          <a:ea typeface="Calibri"/>
                          <a:cs typeface="Calibri"/>
                        </a:rPr>
                        <a:t>UC-19</a:t>
                      </a:r>
                    </a:p>
                  </a:txBody>
                  <a:tcPr marL="91440" marR="91440" marT="45720" marB="45720">
                    <a:solidFill>
                      <a:srgbClr val="FFFFFF"/>
                    </a:solidFill>
                  </a:tcPr>
                </a:tc>
                <a:tc>
                  <a:txBody>
                    <a:bodyPr/>
                    <a:lstStyle/>
                    <a:p>
                      <a:r>
                        <a:rPr sz="1350" b="0">
                          <a:solidFill>
                            <a:srgbClr val="20334D"/>
                          </a:solidFill>
                          <a:latin typeface="Calibri"/>
                          <a:ea typeface="Calibri"/>
                          <a:cs typeface="Calibri"/>
                        </a:rPr>
                        <a:t>ProductosController: ABM</a:t>
                      </a:r>
                    </a:p>
                  </a:txBody>
                  <a:tcPr marL="91440" marR="91440" marT="45720" marB="45720">
                    <a:solidFill>
                      <a:srgbClr val="FFFFFF"/>
                    </a:solidFill>
                  </a:tcPr>
                </a:tc>
                <a:tc>
                  <a:txBody>
                    <a:bodyPr/>
                    <a:lstStyle/>
                    <a:p>
                      <a:r>
                        <a:rPr sz="1350" b="0">
                          <a:solidFill>
                            <a:srgbClr val="20334D"/>
                          </a:solidFill>
                          <a:latin typeface="Calibri"/>
                          <a:ea typeface="Calibri"/>
                          <a:cs typeface="Calibri"/>
                        </a:rPr>
                        <a:t>Administración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A98DBC0-393F-4D0E-A247-F0071F8C9A1D}"/>
              </a:ext>
            </a:extLst>
          </p:cNvPr>
          <p:cNvSpPr>
            <a:spLocks xmlns:a="http://schemas.openxmlformats.org/drawingml/2006/main" noGrp="1"/>
          </p:cNvSpPr>
          <p:nvPr/>
        </p:nvSpPr>
        <p:spPr>
          <a:xfrm xmlns:a="http://schemas.openxmlformats.org/drawingml/2006/main">
            <a:off x="457200" y="3476625"/>
            <a:ext cx="822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2474EE"/>
                </a:solidFill>
                <a:latin typeface="Calibri"/>
                <a:ea typeface="Calibri"/>
                <a:cs typeface="Calibri"/>
              </a:defRPr>
            </a:defPPr>
          </a:lstStyle>
          <a:p xmlns:a="http://schemas.openxmlformats.org/drawingml/2006/main">
            <a:pPr>
              <a:defRPr sz="1575" b="1">
                <a:solidFill>
                  <a:srgbClr val="2474EE"/>
                </a:solidFill>
                <a:latin typeface="Calibri"/>
                <a:ea typeface="Calibri"/>
                <a:cs typeface="Calibri"/>
              </a:defRPr>
            </a:pPr>
            <a:r>
              <a:rPr sz="1575" b="1">
                <a:solidFill>
                  <a:srgbClr val="2474EE"/>
                </a:solidFill>
                <a:latin typeface="Calibri"/>
                <a:ea typeface="Calibri"/>
                <a:cs typeface="Calibri"/>
              </a:rPr>
              <a:t>UC-08  ·  GET /productos/catalogo  →  repositorio  →  página de resultados</a:t>
            </a:r>
          </a:p>
        </p:txBody>
      </p:sp>
      <p:sp>
        <p:nvSpPr>
          <p:cNvPr id="5" name="">
            <a:extLst xmlns:a="http://schemas.openxmlformats.org/drawingml/2006/main">
              <a:ext uri="{FF2B5EF4-FFF2-40B4-BE49-F238E27FC236}">
                <a16:creationId xmlns:a16="http://schemas.microsoft.com/office/drawing/2014/main" id="{8B331CEF-AC9B-483C-AC68-F4E92FE8F6DE}"/>
              </a:ext>
            </a:extLst>
          </p:cNvPr>
          <p:cNvSpPr>
            <a:spLocks xmlns:a="http://schemas.openxmlformats.org/drawingml/2006/main" noGrp="1"/>
          </p:cNvSpPr>
          <p:nvPr/>
        </p:nvSpPr>
        <p:spPr>
          <a:xfrm xmlns:a="http://schemas.openxmlformats.org/drawingml/2006/main">
            <a:off x="457200" y="3895725"/>
            <a:ext cx="8229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20334D"/>
                </a:solidFill>
                <a:latin typeface="Consolas"/>
                <a:ea typeface="Consolas"/>
                <a:cs typeface="Consolas"/>
              </a:defRPr>
            </a:defPPr>
          </a:lstStyle>
          <a:p xmlns:a="http://schemas.openxmlformats.org/drawingml/2006/main">
            <a:pPr>
              <a:defRPr sz="1575" b="0">
                <a:solidFill>
                  <a:srgbClr val="20334D"/>
                </a:solidFill>
                <a:latin typeface="Consolas"/>
                <a:ea typeface="Consolas"/>
                <a:cs typeface="Consolas"/>
              </a:defRPr>
            </a:pPr>
            <a:r>
              <a:rPr sz="1575" b="0">
                <a:solidFill>
                  <a:srgbClr val="20334D"/>
                </a:solidFill>
                <a:latin typeface="Consolas"/>
                <a:ea typeface="Consolas"/>
                <a:cs typeface="Consolas"/>
              </a:rPr>
              <a:t>.Skip((filtro.Pagina - 1) * filtro.TamanoPagina)</a:t>
            </a:r>
          </a:p>
          <a:p xmlns:a="http://schemas.openxmlformats.org/drawingml/2006/main">
            <a:pPr>
              <a:defRPr sz="1575" b="0">
                <a:solidFill>
                  <a:srgbClr val="20334D"/>
                </a:solidFill>
                <a:latin typeface="Consolas"/>
                <a:ea typeface="Consolas"/>
                <a:cs typeface="Consolas"/>
              </a:defRPr>
            </a:pPr>
            <a:r>
              <a:rPr sz="1575" b="0">
                <a:solidFill>
                  <a:srgbClr val="20334D"/>
                </a:solidFill>
                <a:latin typeface="Consolas"/>
                <a:ea typeface="Consolas"/>
                <a:cs typeface="Consolas"/>
              </a:rPr>
              <a:t>.Take(filtro.TamanoPagina)</a:t>
            </a:r>
          </a:p>
        </p:txBody>
      </p:sp>
      <p:sp>
        <p:nvSpPr>
          <p:cNvPr id="6" name="">
            <a:extLst xmlns:a="http://schemas.openxmlformats.org/drawingml/2006/main">
              <a:ext uri="{FF2B5EF4-FFF2-40B4-BE49-F238E27FC236}">
                <a16:creationId xmlns:a16="http://schemas.microsoft.com/office/drawing/2014/main" id="{E640EEFE-90D5-478A-89A5-7DE74D535F7C}"/>
              </a:ext>
            </a:extLst>
          </p:cNvPr>
          <p:cNvSpPr>
            <a:spLocks xmlns:a="http://schemas.openxmlformats.org/drawingml/2006/main" noGrp="1"/>
          </p:cNvSpPr>
          <p:nvPr/>
        </p:nvSpPr>
        <p:spPr>
          <a:xfrm xmlns:a="http://schemas.openxmlformats.org/drawingml/2006/main">
            <a:off x="457200" y="4572000"/>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47A"/>
                </a:solidFill>
                <a:latin typeface="Calibri"/>
                <a:ea typeface="Calibri"/>
                <a:cs typeface="Calibri"/>
              </a:defRPr>
            </a:defPPr>
          </a:lstStyle>
          <a:p xmlns:a="http://schemas.openxmlformats.org/drawingml/2006/main">
            <a:pPr>
              <a:defRPr sz="1125" b="0">
                <a:solidFill>
                  <a:srgbClr val="52647A"/>
                </a:solidFill>
                <a:latin typeface="Calibri"/>
                <a:ea typeface="Calibri"/>
                <a:cs typeface="Calibri"/>
              </a:defRPr>
            </a:pPr>
            <a:r>
              <a:rPr sz="1125" b="0">
                <a:solidFill>
                  <a:srgbClr val="52647A"/>
                </a:solidFill>
                <a:latin typeface="Calibri"/>
                <a:ea typeface="Calibri"/>
                <a:cs typeface="Calibri"/>
              </a:rPr>
              <a:t>Código real: ProductosRepositorio.ObtenerCatalogoAsync</a:t>
            </a:r>
          </a:p>
        </p:txBody>
      </p:sp>
    </p:spTree>
    <p:extLst>
      <p:ext uri="{BB962C8B-B14F-4D97-AF65-F5344CB8AC3E}">
        <p14:creationId xmlns:p14="http://schemas.microsoft.com/office/powerpoint/2010/main" val="1608708293"/>
      </p:ext>
    </p:extLst>
  </p:cSld>
</p:sld>
</file>

<file path=ppt/slides/slide10.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7FDA315-BCF7-4F86-B4B0-179FD830B628}"/>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Arquitectura del sistema</a:t>
            </a:r>
            <a:endParaRPr sz="2800"/>
          </a:p>
        </p:txBody>
      </p:sp>
      <p:sp>
        <p:nvSpPr>
          <p:cNvPr id="3" name="">
            <a:extLst xmlns:a="http://schemas.openxmlformats.org/drawingml/2006/main">
              <a:ext uri="{FF2B5EF4-FFF2-40B4-BE49-F238E27FC236}">
                <a16:creationId xmlns:a16="http://schemas.microsoft.com/office/drawing/2014/main" id="{0275D51B-F6BB-4E64-B526-65B69E01ABF8}"/>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10 / 13</a:t>
            </a:r>
          </a:p>
        </p:txBody>
      </p:sp>
      <p:sp>
        <p:nvSpPr>
          <p:cNvPr id="4" name="">
            <a:extLst xmlns:a="http://schemas.openxmlformats.org/drawingml/2006/main">
              <a:ext uri="{FF2B5EF4-FFF2-40B4-BE49-F238E27FC236}">
                <a16:creationId xmlns:a16="http://schemas.microsoft.com/office/drawing/2014/main" id="{3DEBE9EA-557A-421D-B4B5-9111CCC3668C}"/>
              </a:ext>
            </a:extLst>
          </p:cNvPr>
          <p:cNvSpPr>
            <a:spLocks xmlns:a="http://schemas.openxmlformats.org/drawingml/2006/main" noGrp="1"/>
          </p:cNvSpPr>
          <p:nvPr/>
        </p:nvSpPr>
        <p:spPr>
          <a:xfrm xmlns:a="http://schemas.openxmlformats.org/drawingml/2006/main">
            <a:off x="457200" y="121920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74EE"/>
                </a:solidFill>
                <a:latin typeface="Calibri"/>
                <a:ea typeface="Calibri"/>
                <a:cs typeface="Calibri"/>
              </a:defRPr>
            </a:defPPr>
          </a:lstStyle>
          <a:p xmlns:a="http://schemas.openxmlformats.org/drawingml/2006/main">
            <a:pPr>
              <a:defRPr sz="1875" b="1">
                <a:solidFill>
                  <a:srgbClr val="2474EE"/>
                </a:solidFill>
                <a:latin typeface="Calibri"/>
                <a:ea typeface="Calibri"/>
                <a:cs typeface="Calibri"/>
              </a:defRPr>
            </a:pPr>
            <a:r>
              <a:rPr sz="1875" b="1">
                <a:solidFill>
                  <a:srgbClr val="2474EE"/>
                </a:solidFill>
                <a:latin typeface="Calibri"/>
                <a:ea typeface="Calibri"/>
                <a:cs typeface="Calibri"/>
              </a:rPr>
              <a:t>Presentación</a:t>
            </a:r>
          </a:p>
        </p:txBody>
      </p:sp>
      <p:sp>
        <p:nvSpPr>
          <p:cNvPr id="5" name="">
            <a:extLst xmlns:a="http://schemas.openxmlformats.org/drawingml/2006/main">
              <a:ext uri="{FF2B5EF4-FFF2-40B4-BE49-F238E27FC236}">
                <a16:creationId xmlns:a16="http://schemas.microsoft.com/office/drawing/2014/main" id="{4F8F0C76-7A1F-449C-B905-D3C744A030CE}"/>
              </a:ext>
            </a:extLst>
          </p:cNvPr>
          <p:cNvSpPr>
            <a:spLocks xmlns:a="http://schemas.openxmlformats.org/drawingml/2006/main" noGrp="1"/>
          </p:cNvSpPr>
          <p:nvPr/>
        </p:nvSpPr>
        <p:spPr>
          <a:xfrm xmlns:a="http://schemas.openxmlformats.org/drawingml/2006/main">
            <a:off x="457200" y="1657350"/>
            <a:ext cx="822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334D"/>
                </a:solidFill>
                <a:latin typeface="Calibri"/>
                <a:ea typeface="Calibri"/>
                <a:cs typeface="Calibri"/>
              </a:defRPr>
            </a:defPPr>
          </a:lstStyle>
          <a:p xmlns:a="http://schemas.openxmlformats.org/drawingml/2006/main">
            <a:pPr>
              <a:defRPr sz="2250" b="0">
                <a:solidFill>
                  <a:srgbClr val="20334D"/>
                </a:solidFill>
                <a:latin typeface="Calibri"/>
                <a:ea typeface="Calibri"/>
                <a:cs typeface="Calibri"/>
              </a:defRPr>
            </a:pPr>
            <a:r>
              <a:rPr sz="2250" b="0">
                <a:solidFill>
                  <a:srgbClr val="20334D"/>
                </a:solidFill>
                <a:latin typeface="Calibri"/>
                <a:ea typeface="Calibri"/>
                <a:cs typeface="Calibri"/>
              </a:rPr>
              <a:t>Vista Razor  →  Controlador MVC  →  Servicio HTTP</a:t>
            </a:r>
          </a:p>
        </p:txBody>
      </p:sp>
      <p:sp>
        <p:nvSpPr>
          <p:cNvPr id="6" name="">
            <a:extLst xmlns:a="http://schemas.openxmlformats.org/drawingml/2006/main">
              <a:ext uri="{FF2B5EF4-FFF2-40B4-BE49-F238E27FC236}">
                <a16:creationId xmlns:a16="http://schemas.microsoft.com/office/drawing/2014/main" id="{2654533E-100B-43FF-BF4F-C5A92414FA14}"/>
              </a:ext>
            </a:extLst>
          </p:cNvPr>
          <p:cNvSpPr>
            <a:spLocks xmlns:a="http://schemas.openxmlformats.org/drawingml/2006/main" noGrp="1"/>
          </p:cNvSpPr>
          <p:nvPr/>
        </p:nvSpPr>
        <p:spPr>
          <a:xfrm xmlns:a="http://schemas.openxmlformats.org/drawingml/2006/main">
            <a:off x="457200" y="234315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74EE"/>
                </a:solidFill>
                <a:latin typeface="Calibri"/>
                <a:ea typeface="Calibri"/>
                <a:cs typeface="Calibri"/>
              </a:defRPr>
            </a:defPPr>
          </a:lstStyle>
          <a:p xmlns:a="http://schemas.openxmlformats.org/drawingml/2006/main">
            <a:pPr>
              <a:defRPr sz="1875" b="1">
                <a:solidFill>
                  <a:srgbClr val="2474EE"/>
                </a:solidFill>
                <a:latin typeface="Calibri"/>
                <a:ea typeface="Calibri"/>
                <a:cs typeface="Calibri"/>
              </a:defRPr>
            </a:pPr>
            <a:r>
              <a:rPr sz="1875" b="1">
                <a:solidFill>
                  <a:srgbClr val="2474EE"/>
                </a:solidFill>
                <a:latin typeface="Calibri"/>
                <a:ea typeface="Calibri"/>
                <a:cs typeface="Calibri"/>
              </a:rPr>
              <a:t>Reglas del sistema</a:t>
            </a:r>
          </a:p>
        </p:txBody>
      </p:sp>
      <p:sp>
        <p:nvSpPr>
          <p:cNvPr id="7" name="">
            <a:extLst xmlns:a="http://schemas.openxmlformats.org/drawingml/2006/main">
              <a:ext uri="{FF2B5EF4-FFF2-40B4-BE49-F238E27FC236}">
                <a16:creationId xmlns:a16="http://schemas.microsoft.com/office/drawing/2014/main" id="{9BF1158C-3E59-4A27-9F7D-22C2344E0580}"/>
              </a:ext>
            </a:extLst>
          </p:cNvPr>
          <p:cNvSpPr>
            <a:spLocks xmlns:a="http://schemas.openxmlformats.org/drawingml/2006/main" noGrp="1"/>
          </p:cNvSpPr>
          <p:nvPr/>
        </p:nvSpPr>
        <p:spPr>
          <a:xfrm xmlns:a="http://schemas.openxmlformats.org/drawingml/2006/main">
            <a:off x="457200" y="2781300"/>
            <a:ext cx="822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334D"/>
                </a:solidFill>
                <a:latin typeface="Calibri"/>
                <a:ea typeface="Calibri"/>
                <a:cs typeface="Calibri"/>
              </a:defRPr>
            </a:defPPr>
          </a:lstStyle>
          <a:p xmlns:a="http://schemas.openxmlformats.org/drawingml/2006/main">
            <a:pPr>
              <a:defRPr sz="2250" b="0">
                <a:solidFill>
                  <a:srgbClr val="20334D"/>
                </a:solidFill>
                <a:latin typeface="Calibri"/>
                <a:ea typeface="Calibri"/>
                <a:cs typeface="Calibri"/>
              </a:defRPr>
            </a:pPr>
            <a:r>
              <a:rPr sz="2250" b="0">
                <a:solidFill>
                  <a:srgbClr val="20334D"/>
                </a:solidFill>
                <a:latin typeface="Calibri"/>
                <a:ea typeface="Calibri"/>
                <a:cs typeface="Calibri"/>
              </a:rPr>
              <a:t>API REST  →  Lógica  →  Repositorio</a:t>
            </a:r>
          </a:p>
        </p:txBody>
      </p:sp>
      <p:sp>
        <p:nvSpPr>
          <p:cNvPr id="8" name="">
            <a:extLst xmlns:a="http://schemas.openxmlformats.org/drawingml/2006/main">
              <a:ext uri="{FF2B5EF4-FFF2-40B4-BE49-F238E27FC236}">
                <a16:creationId xmlns:a16="http://schemas.microsoft.com/office/drawing/2014/main" id="{B1C27C81-43AE-4CE2-9FBD-C292487B42C2}"/>
              </a:ext>
            </a:extLst>
          </p:cNvPr>
          <p:cNvSpPr>
            <a:spLocks xmlns:a="http://schemas.openxmlformats.org/drawingml/2006/main" noGrp="1"/>
          </p:cNvSpPr>
          <p:nvPr/>
        </p:nvSpPr>
        <p:spPr>
          <a:xfrm xmlns:a="http://schemas.openxmlformats.org/drawingml/2006/main">
            <a:off x="457200" y="3467100"/>
            <a:ext cx="822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74EE"/>
                </a:solidFill>
                <a:latin typeface="Calibri"/>
                <a:ea typeface="Calibri"/>
                <a:cs typeface="Calibri"/>
              </a:defRPr>
            </a:defPPr>
          </a:lstStyle>
          <a:p xmlns:a="http://schemas.openxmlformats.org/drawingml/2006/main">
            <a:pPr>
              <a:defRPr sz="1875" b="1">
                <a:solidFill>
                  <a:srgbClr val="2474EE"/>
                </a:solidFill>
                <a:latin typeface="Calibri"/>
                <a:ea typeface="Calibri"/>
                <a:cs typeface="Calibri"/>
              </a:defRPr>
            </a:pPr>
            <a:r>
              <a:rPr sz="1875" b="1">
                <a:solidFill>
                  <a:srgbClr val="2474EE"/>
                </a:solidFill>
                <a:latin typeface="Calibri"/>
                <a:ea typeface="Calibri"/>
                <a:cs typeface="Calibri"/>
              </a:rPr>
              <a:t>Persistencia</a:t>
            </a:r>
          </a:p>
        </p:txBody>
      </p:sp>
      <p:sp>
        <p:nvSpPr>
          <p:cNvPr id="9" name="">
            <a:extLst xmlns:a="http://schemas.openxmlformats.org/drawingml/2006/main">
              <a:ext uri="{FF2B5EF4-FFF2-40B4-BE49-F238E27FC236}">
                <a16:creationId xmlns:a16="http://schemas.microsoft.com/office/drawing/2014/main" id="{C1A89989-73C7-42BD-92E5-E5B50AC803EC}"/>
              </a:ext>
            </a:extLst>
          </p:cNvPr>
          <p:cNvSpPr>
            <a:spLocks xmlns:a="http://schemas.openxmlformats.org/drawingml/2006/main" noGrp="1"/>
          </p:cNvSpPr>
          <p:nvPr/>
        </p:nvSpPr>
        <p:spPr>
          <a:xfrm xmlns:a="http://schemas.openxmlformats.org/drawingml/2006/main">
            <a:off x="457200" y="3886200"/>
            <a:ext cx="822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334D"/>
                </a:solidFill>
                <a:latin typeface="Calibri"/>
                <a:ea typeface="Calibri"/>
                <a:cs typeface="Calibri"/>
              </a:defRPr>
            </a:defPPr>
          </a:lstStyle>
          <a:p xmlns:a="http://schemas.openxmlformats.org/drawingml/2006/main">
            <a:pPr>
              <a:defRPr sz="2250" b="0">
                <a:solidFill>
                  <a:srgbClr val="20334D"/>
                </a:solidFill>
                <a:latin typeface="Calibri"/>
                <a:ea typeface="Calibri"/>
                <a:cs typeface="Calibri"/>
              </a:defRPr>
            </a:pPr>
            <a:r>
              <a:rPr sz="2250" b="0">
                <a:solidFill>
                  <a:srgbClr val="20334D"/>
                </a:solidFill>
                <a:latin typeface="Calibri"/>
                <a:ea typeface="Calibri"/>
                <a:cs typeface="Calibri"/>
              </a:rPr>
              <a:t>EF Core  →  SQL Server</a:t>
            </a:r>
          </a:p>
        </p:txBody>
      </p:sp>
      <p:sp>
        <p:nvSpPr>
          <p:cNvPr id="10" name="">
            <a:extLst xmlns:a="http://schemas.openxmlformats.org/drawingml/2006/main">
              <a:ext uri="{FF2B5EF4-FFF2-40B4-BE49-F238E27FC236}">
                <a16:creationId xmlns:a16="http://schemas.microsoft.com/office/drawing/2014/main" id="{AC1601CB-93CF-4D58-B434-02DEA2CB6530}"/>
              </a:ext>
            </a:extLst>
          </p:cNvPr>
          <p:cNvSpPr>
            <a:spLocks xmlns:a="http://schemas.openxmlformats.org/drawingml/2006/main" noGrp="1"/>
          </p:cNvSpPr>
          <p:nvPr/>
        </p:nvSpPr>
        <p:spPr>
          <a:xfrm xmlns:a="http://schemas.openxmlformats.org/drawingml/2006/main">
            <a:off x="457200" y="4514850"/>
            <a:ext cx="752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47A"/>
                </a:solidFill>
                <a:latin typeface="Calibri"/>
                <a:ea typeface="Calibri"/>
                <a:cs typeface="Calibri"/>
              </a:defRPr>
            </a:defPPr>
          </a:lstStyle>
          <a:p xmlns:a="http://schemas.openxmlformats.org/drawingml/2006/main">
            <a:pPr>
              <a:defRPr sz="1425" b="0">
                <a:solidFill>
                  <a:srgbClr val="52647A"/>
                </a:solidFill>
                <a:latin typeface="Calibri"/>
                <a:ea typeface="Calibri"/>
                <a:cs typeface="Calibri"/>
              </a:defRPr>
            </a:pPr>
            <a:r>
              <a:rPr sz="1425" b="0">
                <a:solidFill>
                  <a:srgbClr val="52647A"/>
                </a:solidFill>
                <a:latin typeface="Calibri"/>
                <a:ea typeface="Calibri"/>
                <a:cs typeface="Calibri"/>
              </a:rPr>
              <a:t>Cada etapa continúa en la siguiente; la respuesta vuelve a la pantalla.</a:t>
            </a:r>
          </a:p>
        </p:txBody>
      </p:sp>
    </p:spTree>
    <p:extLst>
      <p:ext uri="{BB962C8B-B14F-4D97-AF65-F5344CB8AC3E}">
        <p14:creationId xmlns:p14="http://schemas.microsoft.com/office/powerpoint/2010/main" val="1407959924"/>
      </p:ext>
    </p:extLst>
  </p:cSld>
</p:sld>
</file>

<file path=ppt/slides/slide1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352D4DF-1571-42EE-9F17-76591F7E57E8}"/>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Alcance actual y próxima etapa</a:t>
            </a:r>
            <a:endParaRPr sz="2800"/>
          </a:p>
        </p:txBody>
      </p:sp>
      <p:sp>
        <p:nvSpPr>
          <p:cNvPr id="3" name="">
            <a:extLst xmlns:a="http://schemas.openxmlformats.org/drawingml/2006/main">
              <a:ext uri="{FF2B5EF4-FFF2-40B4-BE49-F238E27FC236}">
                <a16:creationId xmlns:a16="http://schemas.microsoft.com/office/drawing/2014/main" id="{D062E0E4-5DA9-43AF-9CA5-E87CA2DAACB4}"/>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11 / 13</a:t>
            </a:r>
          </a:p>
        </p:txBody>
      </p:sp>
      <p:sp>
        <p:nvSpPr>
          <p:cNvPr id="4" name="">
            <a:extLst xmlns:a="http://schemas.openxmlformats.org/drawingml/2006/main">
              <a:ext uri="{FF2B5EF4-FFF2-40B4-BE49-F238E27FC236}">
                <a16:creationId xmlns:a16="http://schemas.microsoft.com/office/drawing/2014/main" id="{E0E2F6E5-0FB5-4DD9-A97F-2B2096AB13B5}"/>
              </a:ext>
            </a:extLst>
          </p:cNvPr>
          <p:cNvSpPr>
            <a:spLocks xmlns:a="http://schemas.openxmlformats.org/drawingml/2006/main" noGrp="1"/>
          </p:cNvSpPr>
          <p:nvPr/>
        </p:nvSpPr>
        <p:spPr>
          <a:xfrm xmlns:a="http://schemas.openxmlformats.org/drawingml/2006/main">
            <a:off x="457200" y="13335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Disponible hoy</a:t>
            </a:r>
          </a:p>
        </p:txBody>
      </p:sp>
      <p:sp>
        <p:nvSpPr>
          <p:cNvPr id="5" name="">
            <a:extLst xmlns:a="http://schemas.openxmlformats.org/drawingml/2006/main">
              <a:ext uri="{FF2B5EF4-FFF2-40B4-BE49-F238E27FC236}">
                <a16:creationId xmlns:a16="http://schemas.microsoft.com/office/drawing/2014/main" id="{735DE7E9-255B-4C27-9015-DE7329598D2C}"/>
              </a:ext>
            </a:extLst>
          </p:cNvPr>
          <p:cNvSpPr>
            <a:spLocks xmlns:a="http://schemas.openxmlformats.org/drawingml/2006/main" noGrp="1"/>
          </p:cNvSpPr>
          <p:nvPr/>
        </p:nvSpPr>
        <p:spPr>
          <a:xfrm xmlns:a="http://schemas.openxmlformats.org/drawingml/2006/main">
            <a:off x="457200" y="1905000"/>
            <a:ext cx="3857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Cuentas y acceso</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Catálogo, filtros y detalle</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Carrito con totales</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Administración de productos</a:t>
            </a:r>
          </a:p>
        </p:txBody>
      </p:sp>
      <p:sp>
        <p:nvSpPr>
          <p:cNvPr id="6" name="">
            <a:extLst xmlns:a="http://schemas.openxmlformats.org/drawingml/2006/main">
              <a:ext uri="{FF2B5EF4-FFF2-40B4-BE49-F238E27FC236}">
                <a16:creationId xmlns:a16="http://schemas.microsoft.com/office/drawing/2014/main" id="{2531ECDC-11C3-4177-9F6A-F681355505D6}"/>
              </a:ext>
            </a:extLst>
          </p:cNvPr>
          <p:cNvSpPr>
            <a:spLocks xmlns:a="http://schemas.openxmlformats.org/drawingml/2006/main" noGrp="1"/>
          </p:cNvSpPr>
          <p:nvPr/>
        </p:nvSpPr>
        <p:spPr>
          <a:xfrm xmlns:a="http://schemas.openxmlformats.org/drawingml/2006/main">
            <a:off x="4762500" y="1333500"/>
            <a:ext cx="3924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Próxima etapa</a:t>
            </a:r>
          </a:p>
        </p:txBody>
      </p:sp>
      <p:sp>
        <p:nvSpPr>
          <p:cNvPr id="7" name="">
            <a:extLst xmlns:a="http://schemas.openxmlformats.org/drawingml/2006/main">
              <a:ext uri="{FF2B5EF4-FFF2-40B4-BE49-F238E27FC236}">
                <a16:creationId xmlns:a16="http://schemas.microsoft.com/office/drawing/2014/main" id="{F253E11B-B78B-40F2-89F6-F44F417D33CA}"/>
              </a:ext>
            </a:extLst>
          </p:cNvPr>
          <p:cNvSpPr>
            <a:spLocks xmlns:a="http://schemas.openxmlformats.org/drawingml/2006/main" noGrp="1"/>
          </p:cNvSpPr>
          <p:nvPr/>
        </p:nvSpPr>
        <p:spPr>
          <a:xfrm xmlns:a="http://schemas.openxmlformats.org/drawingml/2006/main">
            <a:off x="4762500" y="1905000"/>
            <a:ext cx="39243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0334D"/>
                </a:solidFill>
                <a:latin typeface="Calibri"/>
                <a:ea typeface="Calibri"/>
                <a:cs typeface="Calibri"/>
              </a:defRPr>
            </a:defPPr>
          </a:lstStyle>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Completar la compra web</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Integrar el pago online</a:t>
            </a:r>
          </a:p>
          <a:p xmlns:a="http://schemas.openxmlformats.org/drawingml/2006/main">
            <a:pPr>
              <a:defRPr sz="1875" b="0">
                <a:solidFill>
                  <a:srgbClr val="20334D"/>
                </a:solidFill>
                <a:latin typeface="Calibri"/>
                <a:ea typeface="Calibri"/>
                <a:cs typeface="Calibri"/>
              </a:defRPr>
            </a:pPr>
            <a:r>
              <a:rPr sz="1875" b="0">
                <a:solidFill>
                  <a:srgbClr val="20334D"/>
                </a:solidFill>
                <a:latin typeface="Calibri"/>
                <a:ea typeface="Calibri"/>
                <a:cs typeface="Calibri"/>
              </a:rPr>
              <a:t>Validar el piloto con el comercio</a:t>
            </a:r>
          </a:p>
        </p:txBody>
      </p:sp>
      <p:sp>
        <p:nvSpPr>
          <p:cNvPr id="8" name="">
            <a:extLst xmlns:a="http://schemas.openxmlformats.org/drawingml/2006/main">
              <a:ext uri="{FF2B5EF4-FFF2-40B4-BE49-F238E27FC236}">
                <a16:creationId xmlns:a16="http://schemas.microsoft.com/office/drawing/2014/main" id="{FB09ECD1-5818-4232-9DD7-E10FC6BE87CD}"/>
              </a:ext>
            </a:extLst>
          </p:cNvPr>
          <p:cNvSpPr>
            <a:spLocks xmlns:a="http://schemas.openxmlformats.org/drawingml/2006/main" noGrp="1"/>
          </p:cNvSpPr>
          <p:nvPr/>
        </p:nvSpPr>
        <p:spPr>
          <a:xfrm xmlns:a="http://schemas.openxmlformats.org/drawingml/2006/main">
            <a:off x="457200" y="4000500"/>
            <a:ext cx="8229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47A"/>
                </a:solidFill>
                <a:latin typeface="Calibri"/>
                <a:ea typeface="Calibri"/>
                <a:cs typeface="Calibri"/>
              </a:defRPr>
            </a:defPPr>
          </a:lstStyle>
          <a:p xmlns:a="http://schemas.openxmlformats.org/drawingml/2006/main">
            <a:pPr>
              <a:defRPr sz="1500" b="0">
                <a:solidFill>
                  <a:srgbClr val="52647A"/>
                </a:solidFill>
                <a:latin typeface="Calibri"/>
                <a:ea typeface="Calibri"/>
                <a:cs typeface="Calibri"/>
              </a:defRPr>
            </a:pPr>
            <a:r>
              <a:rPr sz="1500" b="0">
                <a:solidFill>
                  <a:srgbClr val="52647A"/>
                </a:solidFill>
                <a:latin typeface="Calibri"/>
                <a:ea typeface="Calibri"/>
                <a:cs typeface="Calibri"/>
              </a:rPr>
              <a:t>Límites: sin filtro por marca; eliminación sujeta a relaciones.</a:t>
            </a:r>
          </a:p>
          <a:p xmlns:a="http://schemas.openxmlformats.org/drawingml/2006/main">
            <a:pPr>
              <a:defRPr sz="1500" b="0">
                <a:solidFill>
                  <a:srgbClr val="52647A"/>
                </a:solidFill>
                <a:latin typeface="Calibri"/>
                <a:ea typeface="Calibri"/>
                <a:cs typeface="Calibri"/>
              </a:defRPr>
            </a:pPr>
            <a:r>
              <a:rPr sz="1500" b="0">
                <a:solidFill>
                  <a:srgbClr val="52647A"/>
                </a:solidFill>
                <a:latin typeface="Calibri"/>
                <a:ea typeface="Calibri"/>
                <a:cs typeface="Calibri"/>
              </a:rPr>
              <a:t>Piloto: catálogo actualizado, capacitación y entorno disponible.</a:t>
            </a:r>
          </a:p>
        </p:txBody>
      </p:sp>
    </p:spTree>
    <p:extLst>
      <p:ext uri="{BB962C8B-B14F-4D97-AF65-F5344CB8AC3E}">
        <p14:creationId xmlns:p14="http://schemas.microsoft.com/office/powerpoint/2010/main" val="1575655885"/>
      </p:ext>
    </p:extLst>
  </p:cSld>
</p:sld>
</file>

<file path=ppt/slides/slide1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0EE3BE2-EBB4-4870-B569-C97CA5DD80EB}"/>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153A70"/>
                </a:solidFill>
                <a:latin typeface="Cambria"/>
                <a:ea typeface="Cambria"/>
                <a:cs typeface="Cambria"/>
              </a:defRPr>
            </a:defPPr>
          </a:lstStyle>
          <a:p xmlns:a="http://schemas.openxmlformats.org/drawingml/2006/main">
            <a:pPr marL="0" indent="0">
              <a:buNone/>
              <a:defRPr sz="2800" b="1">
                <a:solidFill>
                  <a:srgbClr val="153A70"/>
                </a:solidFill>
                <a:latin typeface="Cambria"/>
                <a:ea typeface="Cambria"/>
                <a:cs typeface="Cambria"/>
              </a:defRPr>
            </a:pPr>
            <a:r>
              <a:rPr sz="2800" b="1">
                <a:solidFill>
                  <a:srgbClr val="153A70"/>
                </a:solidFill>
                <a:latin typeface="Cambria"/>
                <a:ea typeface="Cambria"/>
                <a:cs typeface="Cambria"/>
              </a:rPr>
              <a:t>La propuesta para el comercio</a:t>
            </a:r>
            <a:endParaRPr sz="2800"/>
          </a:p>
        </p:txBody>
      </p:sp>
      <p:sp>
        <p:nvSpPr>
          <p:cNvPr id="3" name="">
            <a:extLst xmlns:a="http://schemas.openxmlformats.org/drawingml/2006/main">
              <a:ext uri="{FF2B5EF4-FFF2-40B4-BE49-F238E27FC236}">
                <a16:creationId xmlns:a16="http://schemas.microsoft.com/office/drawing/2014/main" id="{EB57A7CA-2589-4BE6-91BF-E1C3F29496F4}"/>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2647A"/>
                </a:solidFill>
                <a:latin typeface="Calibri"/>
                <a:ea typeface="Calibri"/>
                <a:cs typeface="Calibri"/>
              </a:defRPr>
            </a:defPPr>
          </a:lstStyle>
          <a:p xmlns:a="http://schemas.openxmlformats.org/drawingml/2006/main">
            <a:pPr>
              <a:defRPr sz="1050" b="0">
                <a:solidFill>
                  <a:srgbClr val="52647A"/>
                </a:solidFill>
                <a:latin typeface="Calibri"/>
                <a:ea typeface="Calibri"/>
                <a:cs typeface="Calibri"/>
              </a:defRPr>
            </a:pPr>
            <a:r>
              <a:rPr sz="1050" b="0">
                <a:solidFill>
                  <a:srgbClr val="52647A"/>
                </a:solidFill>
                <a:latin typeface="Calibri"/>
                <a:ea typeface="Calibri"/>
                <a:cs typeface="Calibri"/>
              </a:rPr>
              <a:t>12 / 13</a:t>
            </a:r>
          </a:p>
        </p:txBody>
      </p:sp>
      <p:sp>
        <p:nvSpPr>
          <p:cNvPr id="4" name="">
            <a:extLst xmlns:a="http://schemas.openxmlformats.org/drawingml/2006/main">
              <a:ext uri="{FF2B5EF4-FFF2-40B4-BE49-F238E27FC236}">
                <a16:creationId xmlns:a16="http://schemas.microsoft.com/office/drawing/2014/main" id="{32C3DF7E-2575-4019-9402-2CBAB71BC495}"/>
              </a:ext>
            </a:extLst>
          </p:cNvPr>
          <p:cNvSpPr>
            <a:spLocks xmlns:a="http://schemas.openxmlformats.org/drawingml/2006/main" noGrp="1"/>
          </p:cNvSpPr>
          <p:nvPr/>
        </p:nvSpPr>
        <p:spPr>
          <a:xfrm xmlns:a="http://schemas.openxmlformats.org/drawingml/2006/main">
            <a:off x="457200" y="1333500"/>
            <a:ext cx="822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3A70"/>
                </a:solidFill>
                <a:latin typeface="Calibri"/>
                <a:ea typeface="Calibri"/>
                <a:cs typeface="Calibri"/>
              </a:defRPr>
            </a:defPPr>
          </a:lstStyle>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Un catálogo consultable.</a:t>
            </a:r>
          </a:p>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Una selección organizada.</a:t>
            </a:r>
          </a:p>
          <a:p xmlns:a="http://schemas.openxmlformats.org/drawingml/2006/main">
            <a:pPr>
              <a:defRPr sz="2700" b="1">
                <a:solidFill>
                  <a:srgbClr val="153A70"/>
                </a:solidFill>
                <a:latin typeface="Calibri"/>
                <a:ea typeface="Calibri"/>
                <a:cs typeface="Calibri"/>
              </a:defRPr>
            </a:pPr>
            <a:r>
              <a:rPr sz="2700" b="1">
                <a:solidFill>
                  <a:srgbClr val="153A70"/>
                </a:solidFill>
                <a:latin typeface="Calibri"/>
                <a:ea typeface="Calibri"/>
                <a:cs typeface="Calibri"/>
              </a:rPr>
              <a:t>Una administración centralizada.</a:t>
            </a:r>
          </a:p>
        </p:txBody>
      </p:sp>
      <p:sp>
        <p:nvSpPr>
          <p:cNvPr id="5" name="">
            <a:extLst xmlns:a="http://schemas.openxmlformats.org/drawingml/2006/main">
              <a:ext uri="{FF2B5EF4-FFF2-40B4-BE49-F238E27FC236}">
                <a16:creationId xmlns:a16="http://schemas.microsoft.com/office/drawing/2014/main" id="{99A77098-B0AA-450C-AFC6-A701C9C1936C}"/>
              </a:ext>
            </a:extLst>
          </p:cNvPr>
          <p:cNvSpPr>
            <a:spLocks xmlns:a="http://schemas.openxmlformats.org/drawingml/2006/main" noGrp="1"/>
          </p:cNvSpPr>
          <p:nvPr/>
        </p:nvSpPr>
        <p:spPr>
          <a:xfrm xmlns:a="http://schemas.openxmlformats.org/drawingml/2006/main">
            <a:off x="457200" y="3438525"/>
            <a:ext cx="8229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74EE"/>
                </a:solidFill>
                <a:latin typeface="Calibri"/>
                <a:ea typeface="Calibri"/>
                <a:cs typeface="Calibri"/>
              </a:defRPr>
            </a:defPPr>
          </a:lstStyle>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Propuesta: evaluar un piloto</a:t>
            </a:r>
          </a:p>
          <a:p xmlns:a="http://schemas.openxmlformats.org/drawingml/2006/main">
            <a:pPr>
              <a:defRPr sz="2175" b="1">
                <a:solidFill>
                  <a:srgbClr val="2474EE"/>
                </a:solidFill>
                <a:latin typeface="Calibri"/>
                <a:ea typeface="Calibri"/>
                <a:cs typeface="Calibri"/>
              </a:defRPr>
            </a:pPr>
            <a:r>
              <a:rPr sz="2175" b="1">
                <a:solidFill>
                  <a:srgbClr val="2474EE"/>
                </a:solidFill>
                <a:latin typeface="Calibri"/>
                <a:ea typeface="Calibri"/>
                <a:cs typeface="Calibri"/>
              </a:rPr>
              <a:t>con los productos del comercio.</a:t>
            </a:r>
          </a:p>
        </p:txBody>
      </p:sp>
    </p:spTree>
    <p:extLst>
      <p:ext uri="{BB962C8B-B14F-4D97-AF65-F5344CB8AC3E}">
        <p14:creationId xmlns:p14="http://schemas.microsoft.com/office/powerpoint/2010/main" val="652763502"/>
      </p:ext>
    </p:extLst>
  </p:cSld>
</p:sld>
</file>

<file path=ppt/slides/slide13.xml><?xml version="1.0" encoding="utf-8"?>
<p:sld xmlns:p="http://schemas.openxmlformats.org/presentationml/2006/main">
  <p:cSld>
    <p:bg>
      <p:bgPr>
        <a:solidFill xmlns:a="http://schemas.openxmlformats.org/drawingml/2006/main">
          <a:srgbClr val="153A7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82D9CF-23A4-407E-96A7-C1C41B888DE3}"/>
              </a:ext>
            </a:extLst>
          </p:cNvPr>
          <p:cNvSpPr>
            <a:spLocks xmlns:a="http://schemas.openxmlformats.org/drawingml/2006/main" noGrp="1"/>
          </p:cNvSpPr>
          <p:nvPr/>
        </p:nvSpPr>
        <p:spPr>
          <a:xfrm xmlns:a="http://schemas.openxmlformats.org/drawingml/2006/main">
            <a:off x="457200" y="266700"/>
            <a:ext cx="822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2800" b="1">
                <a:solidFill>
                  <a:srgbClr val="FFFFFF"/>
                </a:solidFill>
                <a:latin typeface="Cambria"/>
                <a:ea typeface="Cambria"/>
                <a:cs typeface="Cambria"/>
              </a:defRPr>
            </a:defPPr>
          </a:lstStyle>
          <a:p xmlns:a="http://schemas.openxmlformats.org/drawingml/2006/main">
            <a:pPr marL="0" indent="0">
              <a:buNone/>
              <a:defRPr sz="2800" b="1">
                <a:solidFill>
                  <a:srgbClr val="FFFFFF"/>
                </a:solidFill>
                <a:latin typeface="Cambria"/>
                <a:ea typeface="Cambria"/>
                <a:cs typeface="Cambria"/>
              </a:defRPr>
            </a:pPr>
            <a:r>
              <a:rPr sz="2800" b="1">
                <a:solidFill>
                  <a:srgbClr val="FFFFFF"/>
                </a:solidFill>
                <a:latin typeface="Cambria"/>
                <a:ea typeface="Cambria"/>
                <a:cs typeface="Cambria"/>
              </a:rPr>
              <a:t>TotalTech en funcionamiento</a:t>
            </a:r>
            <a:endParaRPr sz="2800"/>
          </a:p>
        </p:txBody>
      </p:sp>
      <p:sp>
        <p:nvSpPr>
          <p:cNvPr id="3" name="">
            <a:extLst xmlns:a="http://schemas.openxmlformats.org/drawingml/2006/main">
              <a:ext uri="{FF2B5EF4-FFF2-40B4-BE49-F238E27FC236}">
                <a16:creationId xmlns:a16="http://schemas.microsoft.com/office/drawing/2014/main" id="{5ABEF4DA-F73D-4B33-9171-94ACE7A92886}"/>
              </a:ext>
            </a:extLst>
          </p:cNvPr>
          <p:cNvSpPr>
            <a:spLocks xmlns:a="http://schemas.openxmlformats.org/drawingml/2006/main" noGrp="1"/>
          </p:cNvSpPr>
          <p:nvPr/>
        </p:nvSpPr>
        <p:spPr>
          <a:xfrm xmlns:a="http://schemas.openxmlformats.org/drawingml/2006/main">
            <a:off x="7924800" y="4829175"/>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C8DCFF"/>
                </a:solidFill>
                <a:latin typeface="Calibri"/>
                <a:ea typeface="Calibri"/>
                <a:cs typeface="Calibri"/>
              </a:defRPr>
            </a:defPPr>
          </a:lstStyle>
          <a:p xmlns:a="http://schemas.openxmlformats.org/drawingml/2006/main">
            <a:pPr>
              <a:defRPr sz="1050" b="0">
                <a:solidFill>
                  <a:srgbClr val="C8DCFF"/>
                </a:solidFill>
                <a:latin typeface="Calibri"/>
                <a:ea typeface="Calibri"/>
                <a:cs typeface="Calibri"/>
              </a:defRPr>
            </a:pPr>
            <a:r>
              <a:rPr sz="1050" b="0">
                <a:solidFill>
                  <a:srgbClr val="C8DCFF"/>
                </a:solidFill>
                <a:latin typeface="Calibri"/>
                <a:ea typeface="Calibri"/>
                <a:cs typeface="Calibri"/>
              </a:rPr>
              <a:t>13 / 13</a:t>
            </a:r>
          </a:p>
        </p:txBody>
      </p:sp>
      <p:sp>
        <p:nvSpPr>
          <p:cNvPr id="4" name="">
            <a:extLst xmlns:a="http://schemas.openxmlformats.org/drawingml/2006/main">
              <a:ext uri="{FF2B5EF4-FFF2-40B4-BE49-F238E27FC236}">
                <a16:creationId xmlns:a16="http://schemas.microsoft.com/office/drawing/2014/main" id="{E3CF7880-76EA-4368-98A0-10E87490317F}"/>
              </a:ext>
            </a:extLst>
          </p:cNvPr>
          <p:cNvSpPr>
            <a:spLocks xmlns:a="http://schemas.openxmlformats.org/drawingml/2006/main" noGrp="1"/>
          </p:cNvSpPr>
          <p:nvPr/>
        </p:nvSpPr>
        <p:spPr>
          <a:xfrm xmlns:a="http://schemas.openxmlformats.org/drawingml/2006/main">
            <a:off x="457200" y="1400175"/>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El cliente busca una notebook</a:t>
            </a:r>
          </a:p>
        </p:txBody>
      </p:sp>
      <p:sp>
        <p:nvSpPr>
          <p:cNvPr id="5" name="">
            <a:extLst xmlns:a="http://schemas.openxmlformats.org/drawingml/2006/main">
              <a:ext uri="{FF2B5EF4-FFF2-40B4-BE49-F238E27FC236}">
                <a16:creationId xmlns:a16="http://schemas.microsoft.com/office/drawing/2014/main" id="{3CB7AB94-FC5C-411B-854D-E1BC89451C7E}"/>
              </a:ext>
            </a:extLst>
          </p:cNvPr>
          <p:cNvSpPr>
            <a:spLocks xmlns:a="http://schemas.openxmlformats.org/drawingml/2006/main" noGrp="1"/>
          </p:cNvSpPr>
          <p:nvPr/>
        </p:nvSpPr>
        <p:spPr>
          <a:xfrm xmlns:a="http://schemas.openxmlformats.org/drawingml/2006/main">
            <a:off x="457200" y="2076450"/>
            <a:ext cx="8229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DBE9FF"/>
                </a:solidFill>
                <a:latin typeface="Calibri"/>
                <a:ea typeface="Calibri"/>
                <a:cs typeface="Calibri"/>
              </a:defRPr>
            </a:defPPr>
          </a:lstStyle>
          <a:p xmlns:a="http://schemas.openxmlformats.org/drawingml/2006/main">
            <a:pPr>
              <a:defRPr sz="2025" b="0">
                <a:solidFill>
                  <a:srgbClr val="DBE9FF"/>
                </a:solidFill>
                <a:latin typeface="Calibri"/>
                <a:ea typeface="Calibri"/>
                <a:cs typeface="Calibri"/>
              </a:defRPr>
            </a:pPr>
            <a:r>
              <a:rPr sz="2025" b="0">
                <a:solidFill>
                  <a:srgbClr val="DBE9FF"/>
                </a:solidFill>
                <a:latin typeface="Calibri"/>
                <a:ea typeface="Calibri"/>
                <a:cs typeface="Calibri"/>
              </a:rPr>
              <a:t>Registro → Acceso → Búsqueda → Detalle → Carrito</a:t>
            </a:r>
          </a:p>
        </p:txBody>
      </p:sp>
      <p:sp>
        <p:nvSpPr>
          <p:cNvPr id="6" name="">
            <a:extLst xmlns:a="http://schemas.openxmlformats.org/drawingml/2006/main">
              <a:ext uri="{FF2B5EF4-FFF2-40B4-BE49-F238E27FC236}">
                <a16:creationId xmlns:a16="http://schemas.microsoft.com/office/drawing/2014/main" id="{C584973B-5CB5-4C74-8D87-F03FB80E4471}"/>
              </a:ext>
            </a:extLst>
          </p:cNvPr>
          <p:cNvSpPr>
            <a:spLocks xmlns:a="http://schemas.openxmlformats.org/drawingml/2006/main" noGrp="1"/>
          </p:cNvSpPr>
          <p:nvPr/>
        </p:nvSpPr>
        <p:spPr>
          <a:xfrm xmlns:a="http://schemas.openxmlformats.org/drawingml/2006/main">
            <a:off x="457200" y="3067050"/>
            <a:ext cx="822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Calibri"/>
                <a:ea typeface="Calibri"/>
                <a:cs typeface="Calibri"/>
              </a:defRPr>
            </a:defPPr>
          </a:lstStyle>
          <a:p xmlns:a="http://schemas.openxmlformats.org/drawingml/2006/main">
            <a:pPr>
              <a:defRPr sz="2550" b="1">
                <a:solidFill>
                  <a:srgbClr val="FFFFFF"/>
                </a:solidFill>
                <a:latin typeface="Calibri"/>
                <a:ea typeface="Calibri"/>
                <a:cs typeface="Calibri"/>
              </a:defRPr>
            </a:pPr>
            <a:r>
              <a:rPr sz="2550" b="1">
                <a:solidFill>
                  <a:srgbClr val="FFFFFF"/>
                </a:solidFill>
                <a:latin typeface="Calibri"/>
                <a:ea typeface="Calibri"/>
                <a:cs typeface="Calibri"/>
              </a:rPr>
              <a:t>El comercio mantiene su oferta</a:t>
            </a:r>
          </a:p>
        </p:txBody>
      </p:sp>
      <p:sp>
        <p:nvSpPr>
          <p:cNvPr id="7" name="">
            <a:extLst xmlns:a="http://schemas.openxmlformats.org/drawingml/2006/main">
              <a:ext uri="{FF2B5EF4-FFF2-40B4-BE49-F238E27FC236}">
                <a16:creationId xmlns:a16="http://schemas.microsoft.com/office/drawing/2014/main" id="{99E9C189-E298-4A1E-88B4-0AEA559549B3}"/>
              </a:ext>
            </a:extLst>
          </p:cNvPr>
          <p:cNvSpPr>
            <a:spLocks xmlns:a="http://schemas.openxmlformats.org/drawingml/2006/main" noGrp="1"/>
          </p:cNvSpPr>
          <p:nvPr/>
        </p:nvSpPr>
        <p:spPr>
          <a:xfrm xmlns:a="http://schemas.openxmlformats.org/drawingml/2006/main">
            <a:off x="457200" y="3724275"/>
            <a:ext cx="8229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DBE9FF"/>
                </a:solidFill>
                <a:latin typeface="Calibri"/>
                <a:ea typeface="Calibri"/>
                <a:cs typeface="Calibri"/>
              </a:defRPr>
            </a:defPPr>
          </a:lstStyle>
          <a:p xmlns:a="http://schemas.openxmlformats.org/drawingml/2006/main">
            <a:pPr>
              <a:defRPr sz="2025" b="0">
                <a:solidFill>
                  <a:srgbClr val="DBE9FF"/>
                </a:solidFill>
                <a:latin typeface="Calibri"/>
                <a:ea typeface="Calibri"/>
                <a:cs typeface="Calibri"/>
              </a:defRPr>
            </a:pPr>
            <a:r>
              <a:rPr sz="2025" b="0">
                <a:solidFill>
                  <a:srgbClr val="DBE9FF"/>
                </a:solidFill>
                <a:latin typeface="Calibri"/>
                <a:ea typeface="Calibri"/>
                <a:cs typeface="Calibri"/>
              </a:rPr>
              <a:t>Crear → Editar → Comprobar en catálogo → Eliminar</a:t>
            </a:r>
          </a:p>
        </p:txBody>
      </p:sp>
    </p:spTree>
    <p:extLst>
      <p:ext uri="{BB962C8B-B14F-4D97-AF65-F5344CB8AC3E}">
        <p14:creationId xmlns:p14="http://schemas.microsoft.com/office/powerpoint/2010/main" val="133370557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2026-10-13T20:17:26.8450000Z</dcterms:created>
  <dcterms:modified xsi:type="dcterms:W3CDTF">2026-10-13T20:17:26.8450000Z</dcterms:modified>
</coreProperties>
</file>